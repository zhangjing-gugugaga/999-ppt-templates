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52" r:id="rId3"/>
    <p:sldId id="258" r:id="rId5"/>
    <p:sldId id="290" r:id="rId6"/>
    <p:sldId id="291" r:id="rId7"/>
    <p:sldId id="321" r:id="rId8"/>
    <p:sldId id="322" r:id="rId9"/>
    <p:sldId id="323" r:id="rId10"/>
    <p:sldId id="350" r:id="rId11"/>
    <p:sldId id="325" r:id="rId12"/>
    <p:sldId id="326" r:id="rId13"/>
    <p:sldId id="327" r:id="rId14"/>
    <p:sldId id="328" r:id="rId15"/>
    <p:sldId id="329" r:id="rId16"/>
    <p:sldId id="330" r:id="rId17"/>
    <p:sldId id="331" r:id="rId18"/>
    <p:sldId id="332" r:id="rId19"/>
    <p:sldId id="333" r:id="rId20"/>
    <p:sldId id="334" r:id="rId21"/>
    <p:sldId id="335" r:id="rId22"/>
    <p:sldId id="336" r:id="rId23"/>
    <p:sldId id="337" r:id="rId24"/>
    <p:sldId id="338" r:id="rId25"/>
    <p:sldId id="339" r:id="rId26"/>
    <p:sldId id="340" r:id="rId27"/>
    <p:sldId id="341" r:id="rId28"/>
    <p:sldId id="342" r:id="rId29"/>
    <p:sldId id="343" r:id="rId30"/>
    <p:sldId id="344" r:id="rId31"/>
    <p:sldId id="351" r:id="rId32"/>
    <p:sldId id="346" r:id="rId33"/>
    <p:sldId id="347" r:id="rId34"/>
    <p:sldId id="354" r:id="rId35"/>
    <p:sldId id="348" r:id="rId36"/>
    <p:sldId id="353" r:id="rId37"/>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547" y="-5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CA5E54-0BA4-44B9-ABAF-76465EA16FE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C01454-E06B-46A6-9EDC-9A20FE11AEA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C01454-E06B-46A6-9EDC-9A20FE11AEA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C01454-E06B-46A6-9EDC-9A20FE11AEA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C01454-E06B-46A6-9EDC-9A20FE11AEA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C01454-E06B-46A6-9EDC-9A20FE11AEA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C01454-E06B-46A6-9EDC-9A20FE11AEA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C01454-E06B-46A6-9EDC-9A20FE11AEA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C01454-E06B-46A6-9EDC-9A20FE11AEA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7.png"/><Relationship Id="rId4" Type="http://schemas.openxmlformats.org/officeDocument/2006/relationships/image" Target="../media/image6.png"/><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1530803"/>
            <a:ext cx="1954650" cy="3364898"/>
          </a:xfrm>
          <a:prstGeom prst="rect">
            <a:avLst/>
          </a:prstGeom>
          <a:effectLst>
            <a:outerShdw blurRad="63500" sx="102000" sy="102000" algn="ctr" rotWithShape="0">
              <a:prstClr val="black">
                <a:alpha val="40000"/>
              </a:prstClr>
            </a:outerShdw>
          </a:effectLst>
        </p:spPr>
      </p:pic>
      <p:pic>
        <p:nvPicPr>
          <p:cNvPr id="6" name="PA_图片 23"/>
          <p:cNvPicPr>
            <a:picLocks noChangeAspect="1"/>
          </p:cNvPicPr>
          <p:nvPr userDrawn="1">
            <p:custDataLst>
              <p:tags r:id="rId3"/>
            </p:custDataLst>
          </p:nvPr>
        </p:nvPicPr>
        <p:blipFill>
          <a:blip r:embed="rId4" cstate="screen"/>
          <a:stretch>
            <a:fillRect/>
          </a:stretch>
        </p:blipFill>
        <p:spPr>
          <a:xfrm>
            <a:off x="-2914" y="3697230"/>
            <a:ext cx="9146914" cy="1446271"/>
          </a:xfrm>
          <a:prstGeom prst="rect">
            <a:avLst/>
          </a:prstGeom>
        </p:spPr>
      </p:pic>
      <p:pic>
        <p:nvPicPr>
          <p:cNvPr id="7" name="图片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0" y="3722914"/>
            <a:ext cx="4124595" cy="14205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1"/>
                                          </p:val>
                                        </p:tav>
                                        <p:tav tm="100000">
                                          <p:val>
                                            <p:strVal val="#ppt_y"/>
                                          </p:val>
                                        </p:tav>
                                      </p:tavLst>
                                    </p:anim>
                                  </p:childTnLst>
                                </p:cTn>
                              </p:par>
                              <p:par>
                                <p:cTn id="15" presetID="22" presetClass="entr" presetSubtype="2"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2_标题和内容">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326280" y="687362"/>
            <a:ext cx="8532000" cy="27000"/>
          </a:xfrm>
          <a:prstGeom prst="rect">
            <a:avLst/>
          </a:prstGeom>
          <a:pattFill prst="dkUpDiag">
            <a:fgClr>
              <a:srgbClr val="FF0000"/>
            </a:fgClr>
            <a:bgClr>
              <a:srgbClr val="C00000"/>
            </a:bgClr>
          </a:pattFill>
          <a:ln w="19050" cap="flat" cmpd="sng" algn="ctr">
            <a:noFill/>
            <a:prstDash val="solid"/>
          </a:ln>
          <a:effectLst/>
        </p:spPr>
        <p:txBody>
          <a:bodyPr rot="0" spcFirstLastPara="0" vertOverflow="overflow" horzOverflow="overflow" vert="horz" wrap="square" lIns="91438" tIns="45719" rIns="91438" bIns="45719"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Calibri" panose="020F0502020204030204"/>
              <a:ea typeface="Noto Sans S Chinese Light" panose="020B0300000000000000" pitchFamily="34" charset="-122"/>
              <a:cs typeface="+mn-cs"/>
            </a:endParaRPr>
          </a:p>
        </p:txBody>
      </p:sp>
      <p:pic>
        <p:nvPicPr>
          <p:cNvPr id="13" name="Picture 2" descr="E:\0000000我图PPT\00001PNG素材\01党委政府\天安门抽象.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9000" contrast="24000"/>
                    </a14:imgEffect>
                  </a14:imgLayer>
                </a14:imgProps>
              </a:ext>
              <a:ext uri="{28A0092B-C50C-407E-A947-70E740481C1C}">
                <a14:useLocalDpi xmlns:a14="http://schemas.microsoft.com/office/drawing/2010/main" val="0"/>
              </a:ext>
            </a:extLst>
          </a:blip>
          <a:srcRect/>
          <a:stretch>
            <a:fillRect/>
          </a:stretch>
        </p:blipFill>
        <p:spPr bwMode="auto">
          <a:xfrm>
            <a:off x="7424692" y="158226"/>
            <a:ext cx="1327241" cy="556136"/>
          </a:xfrm>
          <a:prstGeom prst="rect">
            <a:avLst/>
          </a:prstGeom>
          <a:noFill/>
          <a:extLst>
            <a:ext uri="{909E8E84-426E-40DD-AFC4-6F175D3DCCD1}">
              <a14:hiddenFill xmlns:a14="http://schemas.microsoft.com/office/drawing/2010/main">
                <a:solidFill>
                  <a:srgbClr val="FFFFFF"/>
                </a:solidFill>
              </a14:hiddenFill>
            </a:ext>
          </a:extLst>
        </p:spPr>
      </p:pic>
      <p:pic>
        <p:nvPicPr>
          <p:cNvPr id="14" name="图片 4"/>
          <p:cNvPicPr>
            <a:picLocks noChangeAspect="1"/>
          </p:cNvPicPr>
          <p:nvPr userDrawn="1"/>
        </p:nvPicPr>
        <p:blipFill>
          <a:blip r:embed="rId4" cstate="print"/>
          <a:srcRect b="24419"/>
          <a:stretch>
            <a:fillRect/>
          </a:stretch>
        </p:blipFill>
        <p:spPr bwMode="auto">
          <a:xfrm>
            <a:off x="-142908" y="4643452"/>
            <a:ext cx="9429816" cy="500048"/>
          </a:xfrm>
          <a:prstGeom prst="rect">
            <a:avLst/>
          </a:prstGeom>
          <a:noFill/>
          <a:ln w="9525">
            <a:noFill/>
            <a:miter lim="800000"/>
            <a:headEnd/>
            <a:tailEnd/>
          </a:ln>
        </p:spPr>
      </p:pic>
      <p:pic>
        <p:nvPicPr>
          <p:cNvPr id="7" name="图片 6"/>
          <p:cNvPicPr>
            <a:picLocks noChangeAspect="1"/>
          </p:cNvPicPr>
          <p:nvPr userDrawn="1"/>
        </p:nvPicPr>
        <p:blipFill rotWithShape="1">
          <a:blip r:embed="rId5" cstate="screen"/>
          <a:srcRect/>
          <a:stretch>
            <a:fillRect/>
          </a:stretch>
        </p:blipFill>
        <p:spPr>
          <a:xfrm>
            <a:off x="1" y="1"/>
            <a:ext cx="1214413" cy="682198"/>
          </a:xfrm>
          <a:prstGeom prst="rect">
            <a:avLst/>
          </a:prstGeom>
          <a:effectLst>
            <a:outerShdw blurRad="63500" sx="102000" sy="102000" algn="ctr" rotWithShape="0">
              <a:prstClr val="black">
                <a:alpha val="40000"/>
              </a:prstClr>
            </a:outerShdw>
          </a:effectLst>
        </p:spPr>
      </p:pic>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inVertical)">
                                      <p:cBhvr>
                                        <p:cTn id="11" dur="500"/>
                                        <p:tgtEl>
                                          <p:spTgt spid="13"/>
                                        </p:tgtEl>
                                      </p:cBhvr>
                                    </p:animEffect>
                                  </p:childTnLst>
                                </p:cTn>
                              </p:par>
                              <p:par>
                                <p:cTn id="12" presetID="14" presetClass="entr" presetSubtype="1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3.xml"/><Relationship Id="rId7" Type="http://schemas.openxmlformats.org/officeDocument/2006/relationships/image" Target="../media/image10.jpeg"/><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8.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33.xml"/><Relationship Id="rId8" Type="http://schemas.openxmlformats.org/officeDocument/2006/relationships/slideLayout" Target="../slideLayouts/slideLayout3.xml"/><Relationship Id="rId7" Type="http://schemas.openxmlformats.org/officeDocument/2006/relationships/image" Target="../media/image10.jpeg"/><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tags" Target="../tags/tag3.xml"/><Relationship Id="rId2" Type="http://schemas.openxmlformats.org/officeDocument/2006/relationships/image" Target="../media/image8.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H="1">
            <a:off x="0" y="1530803"/>
            <a:ext cx="1954650" cy="3364898"/>
          </a:xfrm>
          <a:prstGeom prst="rect">
            <a:avLst/>
          </a:prstGeom>
          <a:effectLst>
            <a:outerShdw blurRad="63500" sx="102000" sy="102000" algn="ctr" rotWithShape="0">
              <a:prstClr val="black">
                <a:alpha val="40000"/>
              </a:prstClr>
            </a:outerShdw>
          </a:effectLst>
        </p:spPr>
      </p:pic>
      <p:pic>
        <p:nvPicPr>
          <p:cNvPr id="6" name="图片 5"/>
          <p:cNvPicPr>
            <a:picLocks noChangeAspect="1"/>
          </p:cNvPicPr>
          <p:nvPr/>
        </p:nvPicPr>
        <p:blipFill rotWithShape="1">
          <a:blip r:embed="rId2" cstate="screen"/>
          <a:srcRect/>
          <a:stretch>
            <a:fillRect/>
          </a:stretch>
        </p:blipFill>
        <p:spPr>
          <a:xfrm flipH="1">
            <a:off x="5413177" y="1"/>
            <a:ext cx="3730823" cy="1836965"/>
          </a:xfrm>
          <a:prstGeom prst="rect">
            <a:avLst/>
          </a:prstGeom>
          <a:effectLst>
            <a:outerShdw blurRad="63500" sx="102000" sy="102000" algn="ctr" rotWithShape="0">
              <a:prstClr val="black">
                <a:alpha val="40000"/>
              </a:prstClr>
            </a:outerShdw>
          </a:effectLst>
        </p:spPr>
      </p:pic>
      <p:pic>
        <p:nvPicPr>
          <p:cNvPr id="5" name="PA_图片 23"/>
          <p:cNvPicPr>
            <a:picLocks noChangeAspect="1"/>
          </p:cNvPicPr>
          <p:nvPr>
            <p:custDataLst>
              <p:tags r:id="rId3"/>
            </p:custDataLst>
          </p:nvPr>
        </p:nvPicPr>
        <p:blipFill>
          <a:blip r:embed="rId4" cstate="screen"/>
          <a:stretch>
            <a:fillRect/>
          </a:stretch>
        </p:blipFill>
        <p:spPr>
          <a:xfrm>
            <a:off x="-2914" y="3697230"/>
            <a:ext cx="9146914" cy="1446271"/>
          </a:xfrm>
          <a:prstGeom prst="rect">
            <a:avLst/>
          </a:prstGeom>
        </p:spPr>
      </p:pic>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722914"/>
            <a:ext cx="4124595" cy="1420586"/>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945" y="267465"/>
            <a:ext cx="2637826" cy="1298341"/>
          </a:xfrm>
          <a:prstGeom prst="rect">
            <a:avLst/>
          </a:prstGeom>
        </p:spPr>
      </p:pic>
      <p:sp>
        <p:nvSpPr>
          <p:cNvPr id="18" name="矩形 17"/>
          <p:cNvSpPr/>
          <p:nvPr/>
        </p:nvSpPr>
        <p:spPr>
          <a:xfrm>
            <a:off x="1012401" y="1571618"/>
            <a:ext cx="7703003" cy="807913"/>
          </a:xfrm>
          <a:prstGeom prst="rect">
            <a:avLst/>
          </a:prstGeom>
          <a:noFill/>
        </p:spPr>
        <p:txBody>
          <a:bodyPr wrap="square" lIns="68580" tIns="34290" rIns="68580" bIns="34290" rtlCol="0">
            <a:spAutoFit/>
          </a:bodyPr>
          <a:lstStyle/>
          <a:p>
            <a:pPr algn="ctr">
              <a:defRPr/>
            </a:pPr>
            <a:r>
              <a:rPr lang="zh-CN" altLang="en-US" sz="4800" b="1" dirty="0" smtClean="0">
                <a:ln w="15875">
                  <a:noFill/>
                </a:ln>
                <a:blipFill dpi="0" rotWithShape="1">
                  <a:blip r:embed="rId7"/>
                  <a:srcRect/>
                  <a:tile tx="0" ty="44450" sx="100000" sy="100000" flip="none" algn="tl"/>
                </a:blipFill>
                <a:latin typeface="思源黑体" pitchFamily="34" charset="-122"/>
                <a:ea typeface="思源黑体" pitchFamily="34" charset="-122"/>
                <a:cs typeface="+mn-ea"/>
                <a:sym typeface="微软雅黑" panose="020B0503020204020204" pitchFamily="34" charset="-122"/>
              </a:rPr>
              <a:t>学党史感党恩跟党走</a:t>
            </a:r>
            <a:endParaRPr lang="zh-CN" altLang="en-US" sz="4800" b="1" dirty="0" smtClean="0">
              <a:ln w="15875">
                <a:noFill/>
              </a:ln>
              <a:blipFill dpi="0" rotWithShape="1">
                <a:blip r:embed="rId7"/>
                <a:srcRect/>
                <a:tile tx="0" ty="44450" sx="100000" sy="100000" flip="none" algn="tl"/>
              </a:blipFill>
              <a:latin typeface="思源黑体" pitchFamily="34" charset="-122"/>
              <a:ea typeface="思源黑体" pitchFamily="34" charset="-122"/>
              <a:cs typeface="+mn-ea"/>
              <a:sym typeface="微软雅黑" panose="020B0503020204020204" pitchFamily="34" charset="-122"/>
            </a:endParaRPr>
          </a:p>
        </p:txBody>
      </p:sp>
      <p:sp>
        <p:nvSpPr>
          <p:cNvPr id="19" name="矩形: 对角圆角 1"/>
          <p:cNvSpPr/>
          <p:nvPr/>
        </p:nvSpPr>
        <p:spPr>
          <a:xfrm>
            <a:off x="3066422" y="3457564"/>
            <a:ext cx="3744587" cy="372172"/>
          </a:xfrm>
          <a:prstGeom prst="round2DiagRect">
            <a:avLst/>
          </a:prstGeom>
          <a:solidFill>
            <a:srgbClr val="C00000"/>
          </a:solidFill>
          <a:ln>
            <a:solidFill>
              <a:srgbClr val="D2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altLang="zh-CN" sz="1500" b="1" dirty="0">
                <a:latin typeface="思源黑体" pitchFamily="34" charset="-122"/>
                <a:ea typeface="思源黑体" pitchFamily="34" charset="-122"/>
              </a:rPr>
              <a:t> </a:t>
            </a:r>
            <a:r>
              <a:rPr lang="zh-CN" altLang="en-US" sz="1500" b="1" dirty="0">
                <a:latin typeface="思源黑体" pitchFamily="34" charset="-122"/>
                <a:ea typeface="思源黑体" pitchFamily="34" charset="-122"/>
              </a:rPr>
              <a:t>请输入您的组织</a:t>
            </a:r>
            <a:r>
              <a:rPr lang="en-US" altLang="zh-CN" sz="1500" b="1" dirty="0">
                <a:latin typeface="思源黑体" pitchFamily="34" charset="-122"/>
                <a:ea typeface="思源黑体" pitchFamily="34" charset="-122"/>
              </a:rPr>
              <a:t>/</a:t>
            </a:r>
            <a:r>
              <a:rPr lang="zh-CN" altLang="en-US" sz="1500" b="1" dirty="0">
                <a:latin typeface="思源黑体" pitchFamily="34" charset="-122"/>
                <a:ea typeface="思源黑体" pitchFamily="34" charset="-122"/>
              </a:rPr>
              <a:t>单位名称</a:t>
            </a:r>
            <a:endParaRPr lang="zh-CN" altLang="en-US" sz="1500" b="1" dirty="0">
              <a:latin typeface="思源黑体" pitchFamily="34" charset="-122"/>
              <a:ea typeface="思源黑体" pitchFamily="34" charset="-122"/>
            </a:endParaRPr>
          </a:p>
        </p:txBody>
      </p:sp>
      <p:sp>
        <p:nvSpPr>
          <p:cNvPr id="10" name="学党史感党恩跟党走"/>
          <p:cNvSpPr txBox="1">
            <a:spLocks noChangeArrowheads="1"/>
          </p:cNvSpPr>
          <p:nvPr/>
        </p:nvSpPr>
        <p:spPr bwMode="auto">
          <a:xfrm>
            <a:off x="1814537" y="2786064"/>
            <a:ext cx="6257925"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buSzPct val="80000"/>
              <a:defRPr/>
            </a:pPr>
            <a:r>
              <a:rPr lang="zh-CN" altLang="en-US" dirty="0" smtClean="0">
                <a:solidFill>
                  <a:schemeClr val="tx1"/>
                </a:solidFill>
                <a:latin typeface="思源黑体" pitchFamily="34" charset="-122"/>
                <a:ea typeface="思源黑体" pitchFamily="34" charset="-122"/>
                <a:sym typeface="微软雅黑" panose="020B0503020204020204" pitchFamily="34" charset="-122"/>
              </a:rPr>
              <a:t>热烈庆祝中国共产党建党</a:t>
            </a:r>
            <a:r>
              <a:rPr lang="en-US" altLang="zh-CN" dirty="0" smtClean="0">
                <a:solidFill>
                  <a:schemeClr val="tx1"/>
                </a:solidFill>
                <a:latin typeface="思源黑体" pitchFamily="34" charset="-122"/>
                <a:ea typeface="思源黑体" pitchFamily="34" charset="-122"/>
                <a:sym typeface="微软雅黑" panose="020B0503020204020204" pitchFamily="34" charset="-122"/>
              </a:rPr>
              <a:t>100</a:t>
            </a:r>
            <a:r>
              <a:rPr lang="zh-CN" altLang="en-US" dirty="0" smtClean="0">
                <a:solidFill>
                  <a:schemeClr val="tx1"/>
                </a:solidFill>
                <a:latin typeface="思源黑体" pitchFamily="34" charset="-122"/>
                <a:ea typeface="思源黑体" pitchFamily="34" charset="-122"/>
                <a:sym typeface="微软雅黑" panose="020B0503020204020204" pitchFamily="34" charset="-122"/>
              </a:rPr>
              <a:t>周年党员学习</a:t>
            </a:r>
            <a:r>
              <a:rPr lang="en-US" altLang="zh-CN" dirty="0" smtClean="0">
                <a:solidFill>
                  <a:schemeClr val="tx1"/>
                </a:solidFill>
                <a:latin typeface="思源黑体" pitchFamily="34" charset="-122"/>
                <a:ea typeface="思源黑体" pitchFamily="34" charset="-122"/>
                <a:sym typeface="微软雅黑" panose="020B0503020204020204" pitchFamily="34" charset="-122"/>
              </a:rPr>
              <a:t>PPT</a:t>
            </a:r>
            <a:endParaRPr lang="zh-CN" altLang="en-US" dirty="0">
              <a:solidFill>
                <a:schemeClr val="tx1"/>
              </a:solidFill>
              <a:latin typeface="思源黑体" pitchFamily="34" charset="-122"/>
              <a:ea typeface="思源黑体"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800" advClick="0" advTm="0">
        <p:circle/>
      </p:transition>
    </mc:Choice>
    <mc:Fallback>
      <p:transition spd="slow" advClick="0" advTm="0">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1"/>
                                          </p:val>
                                        </p:tav>
                                        <p:tav tm="100000">
                                          <p:val>
                                            <p:strVal val="#ppt_y"/>
                                          </p:val>
                                        </p:tav>
                                      </p:tavLst>
                                    </p:anim>
                                  </p:childTnLst>
                                </p:cTn>
                              </p:par>
                              <p:par>
                                <p:cTn id="15" presetID="22" presetClass="entr" presetSubtype="2"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par>
                                <p:cTn id="18" presetID="14" presetClass="entr" presetSubtype="1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randombar(horizontal)">
                                      <p:cBhvr>
                                        <p:cTn id="20" dur="500"/>
                                        <p:tgtEl>
                                          <p:spTgt spid="6"/>
                                        </p:tgtEl>
                                      </p:cBhvr>
                                    </p:animEffect>
                                  </p:childTnLst>
                                </p:cTn>
                              </p:par>
                            </p:childTnLst>
                          </p:cTn>
                        </p:par>
                        <p:par>
                          <p:cTn id="21" fill="hold">
                            <p:stCondLst>
                              <p:cond delay="500"/>
                            </p:stCondLst>
                            <p:childTnLst>
                              <p:par>
                                <p:cTn id="22" presetID="18" presetClass="entr" presetSubtype="3"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strips(upRight)">
                                      <p:cBhvr>
                                        <p:cTn id="24" dur="2000"/>
                                        <p:tgtEl>
                                          <p:spTgt spid="17"/>
                                        </p:tgtEl>
                                      </p:cBhvr>
                                    </p:animEffect>
                                  </p:childTnLst>
                                </p:cTn>
                              </p:par>
                            </p:childTnLst>
                          </p:cTn>
                        </p:par>
                        <p:par>
                          <p:cTn id="25" fill="hold">
                            <p:stCondLst>
                              <p:cond delay="2500"/>
                            </p:stCondLst>
                            <p:childTnLst>
                              <p:par>
                                <p:cTn id="26" presetID="37" presetClass="entr" presetSubtype="0"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900" decel="100000" fill="hold"/>
                                        <p:tgtEl>
                                          <p:spTgt spid="18"/>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学党史感党恩跟党走"/>
          <p:cNvSpPr/>
          <p:nvPr/>
        </p:nvSpPr>
        <p:spPr>
          <a:xfrm>
            <a:off x="1955036" y="734592"/>
            <a:ext cx="6831806" cy="2980166"/>
          </a:xfrm>
          <a:prstGeom prst="roundRect">
            <a:avLst/>
          </a:prstGeom>
          <a:solidFill>
            <a:schemeClr val="bg1"/>
          </a:solidFill>
          <a:ln>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kumimoji="1" lang="zh-CN" altLang="en-US" noProof="1">
              <a:latin typeface="思源黑体" pitchFamily="34" charset="-122"/>
              <a:ea typeface="思源黑体" pitchFamily="34" charset="-122"/>
              <a:sym typeface="微软雅黑" panose="020B0503020204020204" pitchFamily="34" charset="-122"/>
            </a:endParaRPr>
          </a:p>
        </p:txBody>
      </p:sp>
      <p:sp>
        <p:nvSpPr>
          <p:cNvPr id="3" name="学党史感党恩跟党走"/>
          <p:cNvSpPr txBox="1"/>
          <p:nvPr/>
        </p:nvSpPr>
        <p:spPr>
          <a:xfrm>
            <a:off x="785786" y="1285866"/>
            <a:ext cx="813154" cy="1331134"/>
          </a:xfrm>
          <a:prstGeom prst="rect">
            <a:avLst/>
          </a:prstGeom>
          <a:noFill/>
        </p:spPr>
        <p:txBody>
          <a:bodyPr wrap="square" lIns="68580" tIns="34290" rIns="68580" bIns="34290">
            <a:spAutoFit/>
          </a:bodyPr>
          <a:lstStyle/>
          <a:p>
            <a:pPr fontAlgn="auto"/>
            <a:r>
              <a:rPr lang="zh-CN" altLang="en-US" sz="4100" b="1" spc="300" noProof="1" smtClean="0">
                <a:solidFill>
                  <a:srgbClr val="C00000"/>
                </a:solidFill>
                <a:latin typeface="思源黑体" pitchFamily="34" charset="-122"/>
                <a:ea typeface="思源黑体" pitchFamily="34" charset="-122"/>
                <a:sym typeface="微软雅黑" panose="020B0503020204020204" pitchFamily="34" charset="-122"/>
              </a:rPr>
              <a:t>前</a:t>
            </a:r>
            <a:endParaRPr lang="en-US" altLang="zh-CN" sz="4100" b="1" spc="300" noProof="1" smtClean="0">
              <a:solidFill>
                <a:srgbClr val="C00000"/>
              </a:solidFill>
              <a:latin typeface="思源黑体" pitchFamily="34" charset="-122"/>
              <a:ea typeface="思源黑体" pitchFamily="34" charset="-122"/>
              <a:sym typeface="微软雅黑" panose="020B0503020204020204" pitchFamily="34" charset="-122"/>
            </a:endParaRPr>
          </a:p>
          <a:p>
            <a:pPr fontAlgn="auto"/>
            <a:r>
              <a:rPr lang="zh-CN" altLang="en-US" sz="4100" b="1" spc="300" noProof="1" smtClean="0">
                <a:solidFill>
                  <a:srgbClr val="C00000"/>
                </a:solidFill>
                <a:latin typeface="思源黑体" pitchFamily="34" charset="-122"/>
                <a:ea typeface="思源黑体" pitchFamily="34" charset="-122"/>
                <a:sym typeface="微软雅黑" panose="020B0503020204020204" pitchFamily="34" charset="-122"/>
              </a:rPr>
              <a:t>言</a:t>
            </a:r>
            <a:endParaRPr lang="zh-CN" altLang="en-US" sz="4100" b="1" noProof="1">
              <a:solidFill>
                <a:srgbClr val="C00000"/>
              </a:solidFill>
              <a:latin typeface="思源黑体" pitchFamily="34" charset="-122"/>
              <a:ea typeface="思源黑体" pitchFamily="34" charset="-122"/>
              <a:sym typeface="微软雅黑" panose="020B0503020204020204" pitchFamily="34" charset="-122"/>
            </a:endParaRPr>
          </a:p>
        </p:txBody>
      </p:sp>
      <p:sp>
        <p:nvSpPr>
          <p:cNvPr id="5" name="学党史感党恩跟党走"/>
          <p:cNvSpPr>
            <a:spLocks noChangeArrowheads="1"/>
          </p:cNvSpPr>
          <p:nvPr/>
        </p:nvSpPr>
        <p:spPr bwMode="auto">
          <a:xfrm>
            <a:off x="2285984" y="1000114"/>
            <a:ext cx="6334171" cy="2331407"/>
          </a:xfrm>
          <a:prstGeom prst="rect">
            <a:avLst/>
          </a:prstGeom>
          <a:noFill/>
          <a:ln w="9525">
            <a:noFill/>
            <a:miter lim="800000"/>
          </a:ln>
        </p:spPr>
        <p:txBody>
          <a:bodyPr wrap="square" lIns="68580" tIns="34290" rIns="68580" bIns="34290">
            <a:spAutoFit/>
          </a:bodyPr>
          <a:lstStyle/>
          <a:p>
            <a:pPr indent="257175" defTabSz="405130">
              <a:lnSpc>
                <a:spcPct val="150000"/>
              </a:lnSpc>
              <a:defRPr/>
            </a:pPr>
            <a:r>
              <a:rPr lang="zh-CN" altLang="en-US" sz="1400" dirty="0" smtClean="0">
                <a:latin typeface="思源黑体" pitchFamily="34" charset="-122"/>
                <a:ea typeface="思源黑体" pitchFamily="34" charset="-122"/>
              </a:rPr>
              <a:t>中国共产党，创建于</a:t>
            </a:r>
            <a:r>
              <a:rPr lang="en-US" altLang="zh-CN" sz="1400" dirty="0" smtClean="0">
                <a:latin typeface="思源黑体" pitchFamily="34" charset="-122"/>
                <a:ea typeface="思源黑体" pitchFamily="34" charset="-122"/>
              </a:rPr>
              <a:t>1921</a:t>
            </a:r>
            <a:r>
              <a:rPr lang="zh-CN" altLang="en-US" sz="1400" dirty="0" smtClean="0">
                <a:latin typeface="思源黑体" pitchFamily="34" charset="-122"/>
                <a:ea typeface="思源黑体" pitchFamily="34" charset="-122"/>
              </a:rPr>
              <a:t>年</a:t>
            </a:r>
            <a:r>
              <a:rPr lang="en-US" altLang="zh-CN" sz="1400" dirty="0" smtClean="0">
                <a:latin typeface="思源黑体" pitchFamily="34" charset="-122"/>
                <a:ea typeface="思源黑体" pitchFamily="34" charset="-122"/>
              </a:rPr>
              <a:t>7</a:t>
            </a:r>
            <a:r>
              <a:rPr lang="zh-CN" altLang="en-US" sz="1400" dirty="0" smtClean="0">
                <a:latin typeface="思源黑体" pitchFamily="34" charset="-122"/>
                <a:ea typeface="思源黑体" pitchFamily="34" charset="-122"/>
              </a:rPr>
              <a:t>月</a:t>
            </a:r>
            <a:r>
              <a:rPr lang="en-US" altLang="zh-CN" sz="1400" dirty="0" smtClean="0">
                <a:latin typeface="思源黑体" pitchFamily="34" charset="-122"/>
                <a:ea typeface="思源黑体" pitchFamily="34" charset="-122"/>
              </a:rPr>
              <a:t>23</a:t>
            </a:r>
            <a:r>
              <a:rPr lang="zh-CN" altLang="en-US" sz="1400" dirty="0" smtClean="0">
                <a:latin typeface="思源黑体" pitchFamily="34" charset="-122"/>
                <a:ea typeface="思源黑体" pitchFamily="34" charset="-122"/>
              </a:rPr>
              <a:t>日 。中国共产党是中国工人阶级的先锋队，同时是中国人民和中华民族的先锋队，是中国特色社会主义事业的领导核心，代表中国先进生产力的发展要求，代表中国先进文化的前进方向，代表中国最广大人民的根本利益。党的最高理想和最终目标是实现共产主义。中国共产党以马克思列宁主义、毛泽东思想、邓小平理论、“三个代表”重要思想、科学发展观、习近平新时代中国特色社会主义思想作为自己的行动指南。中国共产党领导是中国特色社会主义最本质的特征。 </a:t>
            </a:r>
            <a:endParaRPr lang="zh-CN" altLang="zh-CN" sz="1400" dirty="0">
              <a:latin typeface="思源黑体" pitchFamily="34" charset="-122"/>
              <a:ea typeface="思源黑体" pitchFamily="34" charset="-122"/>
            </a:endParaRPr>
          </a:p>
        </p:txBody>
      </p:sp>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11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学党史感党恩跟党走"/>
          <p:cNvSpPr txBox="1">
            <a:spLocks noChangeArrowheads="1"/>
          </p:cNvSpPr>
          <p:nvPr/>
        </p:nvSpPr>
        <p:spPr bwMode="auto">
          <a:xfrm>
            <a:off x="1000100" y="1000114"/>
            <a:ext cx="714380" cy="1731243"/>
          </a:xfrm>
          <a:prstGeom prst="rect">
            <a:avLst/>
          </a:prstGeom>
          <a:noFill/>
          <a:ln w="9525">
            <a:noFill/>
            <a:miter lim="800000"/>
          </a:ln>
        </p:spPr>
        <p:txBody>
          <a:bodyPr wrap="square" lIns="68580" tIns="34290" rIns="68580" bIns="34290">
            <a:spAutoFit/>
          </a:bodyPr>
          <a:lstStyle/>
          <a:p>
            <a:r>
              <a:rPr lang="zh-CN" altLang="en-US" sz="5400" b="1" dirty="0" smtClean="0">
                <a:solidFill>
                  <a:srgbClr val="C00000"/>
                </a:solidFill>
                <a:latin typeface="思源黑体" pitchFamily="34" charset="-122"/>
                <a:ea typeface="思源黑体" pitchFamily="34" charset="-122"/>
                <a:sym typeface="微软雅黑" panose="020B0503020204020204" pitchFamily="34" charset="-122"/>
              </a:rPr>
              <a:t>目</a:t>
            </a:r>
            <a:endParaRPr lang="en-US" altLang="zh-CN" sz="5400" b="1" dirty="0" smtClean="0">
              <a:solidFill>
                <a:srgbClr val="C00000"/>
              </a:solidFill>
              <a:latin typeface="思源黑体" pitchFamily="34" charset="-122"/>
              <a:ea typeface="思源黑体" pitchFamily="34" charset="-122"/>
              <a:sym typeface="微软雅黑" panose="020B0503020204020204" pitchFamily="34" charset="-122"/>
            </a:endParaRPr>
          </a:p>
          <a:p>
            <a:r>
              <a:rPr lang="zh-CN" altLang="en-US" sz="5400" b="1" dirty="0" smtClean="0">
                <a:solidFill>
                  <a:srgbClr val="C00000"/>
                </a:solidFill>
                <a:latin typeface="思源黑体" pitchFamily="34" charset="-122"/>
                <a:ea typeface="思源黑体" pitchFamily="34" charset="-122"/>
                <a:sym typeface="微软雅黑" panose="020B0503020204020204" pitchFamily="34" charset="-122"/>
              </a:rPr>
              <a:t>录</a:t>
            </a:r>
            <a:endParaRPr lang="zh-CN" altLang="en-US" sz="5400" b="1" dirty="0">
              <a:solidFill>
                <a:srgbClr val="C00000"/>
              </a:solidFill>
              <a:latin typeface="思源黑体" pitchFamily="34" charset="-122"/>
              <a:ea typeface="思源黑体" pitchFamily="34" charset="-122"/>
              <a:sym typeface="微软雅黑" panose="020B0503020204020204" pitchFamily="34" charset="-122"/>
            </a:endParaRPr>
          </a:p>
        </p:txBody>
      </p:sp>
      <p:grpSp>
        <p:nvGrpSpPr>
          <p:cNvPr id="8" name="学党史感党恩跟党走"/>
          <p:cNvGrpSpPr/>
          <p:nvPr/>
        </p:nvGrpSpPr>
        <p:grpSpPr bwMode="auto">
          <a:xfrm>
            <a:off x="2394374" y="1142990"/>
            <a:ext cx="894160" cy="523220"/>
            <a:chOff x="2215144" y="927951"/>
            <a:chExt cx="1244730" cy="960628"/>
          </a:xfrm>
        </p:grpSpPr>
        <p:sp>
          <p:nvSpPr>
            <p:cNvPr id="9" name="学党史感党恩跟党走"/>
            <p:cNvSpPr/>
            <p:nvPr/>
          </p:nvSpPr>
          <p:spPr>
            <a:xfrm>
              <a:off x="2215144" y="982600"/>
              <a:ext cx="1120422" cy="843788"/>
            </a:xfrm>
            <a:prstGeom prst="parallelogram">
              <a:avLst>
                <a:gd name="adj" fmla="val 4820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400" b="1" noProof="1">
                <a:latin typeface="思源黑体" pitchFamily="34" charset="-122"/>
                <a:ea typeface="思源黑体" pitchFamily="34" charset="-122"/>
                <a:sym typeface="微软雅黑" panose="020B0503020204020204" pitchFamily="34" charset="-122"/>
              </a:endParaRPr>
            </a:p>
          </p:txBody>
        </p:sp>
        <p:sp>
          <p:nvSpPr>
            <p:cNvPr id="10" name="学党史感党恩跟党走"/>
            <p:cNvSpPr txBox="1"/>
            <p:nvPr/>
          </p:nvSpPr>
          <p:spPr>
            <a:xfrm>
              <a:off x="2392489" y="927951"/>
              <a:ext cx="1067385" cy="960628"/>
            </a:xfrm>
            <a:prstGeom prst="rect">
              <a:avLst/>
            </a:prstGeom>
            <a:noFill/>
          </p:spPr>
          <p:txBody>
            <a:bodyPr>
              <a:spAutoFit/>
            </a:bodyPr>
            <a:lstStyle/>
            <a:p>
              <a:pPr fontAlgn="auto"/>
              <a:r>
                <a:rPr lang="en-US" altLang="zh-CN" sz="2800" b="1" noProof="1">
                  <a:solidFill>
                    <a:schemeClr val="bg1"/>
                  </a:solidFill>
                  <a:latin typeface="思源黑体" pitchFamily="34" charset="-122"/>
                  <a:ea typeface="思源黑体" pitchFamily="34" charset="-122"/>
                  <a:sym typeface="微软雅黑" panose="020B0503020204020204" pitchFamily="34" charset="-122"/>
                </a:rPr>
                <a:t>01</a:t>
              </a:r>
              <a:endParaRPr lang="zh-CN" altLang="en-US" sz="2800" b="1" noProof="1">
                <a:solidFill>
                  <a:schemeClr val="bg1"/>
                </a:solidFill>
                <a:latin typeface="思源黑体" pitchFamily="34" charset="-122"/>
                <a:ea typeface="思源黑体" pitchFamily="34" charset="-122"/>
                <a:sym typeface="微软雅黑" panose="020B0503020204020204" pitchFamily="34" charset="-122"/>
              </a:endParaRPr>
            </a:p>
          </p:txBody>
        </p:sp>
      </p:grpSp>
      <p:grpSp>
        <p:nvGrpSpPr>
          <p:cNvPr id="11" name="学党史感党恩跟党走"/>
          <p:cNvGrpSpPr/>
          <p:nvPr/>
        </p:nvGrpSpPr>
        <p:grpSpPr bwMode="auto">
          <a:xfrm>
            <a:off x="3073030" y="1156089"/>
            <a:ext cx="5356622" cy="459582"/>
            <a:chOff x="4315149" y="953426"/>
            <a:chExt cx="5356649" cy="540057"/>
          </a:xfrm>
        </p:grpSpPr>
        <p:sp>
          <p:nvSpPr>
            <p:cNvPr id="12" name="学党史感党恩跟党走"/>
            <p:cNvSpPr/>
            <p:nvPr/>
          </p:nvSpPr>
          <p:spPr>
            <a:xfrm>
              <a:off x="4315149" y="953426"/>
              <a:ext cx="5356649" cy="540057"/>
            </a:xfrm>
            <a:prstGeom prst="parallelogram">
              <a:avLst>
                <a:gd name="adj" fmla="val 48207"/>
              </a:avLst>
            </a:prstGeom>
            <a:solidFill>
              <a:schemeClr val="bg1"/>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endParaRPr lang="zh-CN" altLang="en-US" sz="1600" b="1" noProof="1">
                <a:solidFill>
                  <a:srgbClr val="C00000"/>
                </a:solidFill>
                <a:latin typeface="思源黑体" pitchFamily="34" charset="-122"/>
                <a:ea typeface="思源黑体" pitchFamily="34" charset="-122"/>
                <a:sym typeface="微软雅黑" panose="020B0503020204020204" pitchFamily="34" charset="-122"/>
              </a:endParaRPr>
            </a:p>
          </p:txBody>
        </p:sp>
        <p:sp>
          <p:nvSpPr>
            <p:cNvPr id="13" name="学党史感党恩跟党走"/>
            <p:cNvSpPr>
              <a:spLocks noChangeArrowheads="1"/>
            </p:cNvSpPr>
            <p:nvPr/>
          </p:nvSpPr>
          <p:spPr bwMode="auto">
            <a:xfrm>
              <a:off x="4599674" y="1007712"/>
              <a:ext cx="4857808" cy="470171"/>
            </a:xfrm>
            <a:prstGeom prst="rect">
              <a:avLst/>
            </a:prstGeom>
            <a:noFill/>
            <a:ln w="15875">
              <a:noFill/>
              <a:miter lim="800000"/>
            </a:ln>
          </p:spPr>
          <p:txBody>
            <a:bodyPr wrap="square">
              <a:spAutoFit/>
            </a:bodyPr>
            <a:lstStyle/>
            <a:p>
              <a:pPr algn="ctr" defTabSz="685800">
                <a:defRPr/>
              </a:pPr>
              <a:r>
                <a:rPr lang="zh-CN" altLang="en-US" sz="20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中国共产党简述</a:t>
              </a:r>
              <a:endParaRPr lang="zh-CN" altLang="en-US" sz="20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grpSp>
        <p:nvGrpSpPr>
          <p:cNvPr id="14" name="学党史感党恩跟党走"/>
          <p:cNvGrpSpPr/>
          <p:nvPr/>
        </p:nvGrpSpPr>
        <p:grpSpPr bwMode="auto">
          <a:xfrm>
            <a:off x="2394374" y="2048530"/>
            <a:ext cx="894160" cy="523220"/>
            <a:chOff x="2215144" y="927951"/>
            <a:chExt cx="1244730" cy="960628"/>
          </a:xfrm>
        </p:grpSpPr>
        <p:sp>
          <p:nvSpPr>
            <p:cNvPr id="15" name="学党史感党恩跟党走"/>
            <p:cNvSpPr/>
            <p:nvPr/>
          </p:nvSpPr>
          <p:spPr>
            <a:xfrm>
              <a:off x="2215144" y="982601"/>
              <a:ext cx="1120422" cy="843787"/>
            </a:xfrm>
            <a:prstGeom prst="parallelogram">
              <a:avLst>
                <a:gd name="adj" fmla="val 4820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400" b="1" noProof="1">
                <a:latin typeface="思源黑体" pitchFamily="34" charset="-122"/>
                <a:ea typeface="思源黑体" pitchFamily="34" charset="-122"/>
                <a:sym typeface="微软雅黑" panose="020B0503020204020204" pitchFamily="34" charset="-122"/>
              </a:endParaRPr>
            </a:p>
          </p:txBody>
        </p:sp>
        <p:sp>
          <p:nvSpPr>
            <p:cNvPr id="16" name="学党史感党恩跟党走"/>
            <p:cNvSpPr txBox="1"/>
            <p:nvPr/>
          </p:nvSpPr>
          <p:spPr>
            <a:xfrm>
              <a:off x="2392489" y="927951"/>
              <a:ext cx="1067385" cy="960628"/>
            </a:xfrm>
            <a:prstGeom prst="rect">
              <a:avLst/>
            </a:prstGeom>
            <a:noFill/>
          </p:spPr>
          <p:txBody>
            <a:bodyPr>
              <a:spAutoFit/>
            </a:bodyPr>
            <a:lstStyle/>
            <a:p>
              <a:pPr fontAlgn="auto"/>
              <a:r>
                <a:rPr lang="en-US" altLang="zh-CN" sz="2800" b="1" noProof="1">
                  <a:solidFill>
                    <a:schemeClr val="bg1"/>
                  </a:solidFill>
                  <a:latin typeface="思源黑体" pitchFamily="34" charset="-122"/>
                  <a:ea typeface="思源黑体" pitchFamily="34" charset="-122"/>
                  <a:sym typeface="微软雅黑" panose="020B0503020204020204" pitchFamily="34" charset="-122"/>
                </a:rPr>
                <a:t>02</a:t>
              </a:r>
              <a:endParaRPr lang="zh-CN" altLang="en-US" sz="2800" b="1" noProof="1">
                <a:solidFill>
                  <a:schemeClr val="bg1"/>
                </a:solidFill>
                <a:latin typeface="思源黑体" pitchFamily="34" charset="-122"/>
                <a:ea typeface="思源黑体" pitchFamily="34" charset="-122"/>
                <a:sym typeface="微软雅黑" panose="020B0503020204020204" pitchFamily="34" charset="-122"/>
              </a:endParaRPr>
            </a:p>
          </p:txBody>
        </p:sp>
      </p:grpSp>
      <p:grpSp>
        <p:nvGrpSpPr>
          <p:cNvPr id="17" name="学党史感党恩跟党走"/>
          <p:cNvGrpSpPr/>
          <p:nvPr/>
        </p:nvGrpSpPr>
        <p:grpSpPr bwMode="auto">
          <a:xfrm>
            <a:off x="3073030" y="2061627"/>
            <a:ext cx="5356622" cy="470456"/>
            <a:chOff x="4315149" y="953426"/>
            <a:chExt cx="5232764" cy="552836"/>
          </a:xfrm>
        </p:grpSpPr>
        <p:sp>
          <p:nvSpPr>
            <p:cNvPr id="18" name="学党史感党恩跟党走"/>
            <p:cNvSpPr/>
            <p:nvPr/>
          </p:nvSpPr>
          <p:spPr>
            <a:xfrm>
              <a:off x="4315149" y="953426"/>
              <a:ext cx="5232764" cy="540057"/>
            </a:xfrm>
            <a:prstGeom prst="parallelogram">
              <a:avLst>
                <a:gd name="adj" fmla="val 48207"/>
              </a:avLst>
            </a:prstGeom>
            <a:solidFill>
              <a:schemeClr val="bg1"/>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endParaRPr lang="zh-CN" altLang="en-US" sz="1600" b="1" noProof="1">
                <a:solidFill>
                  <a:srgbClr val="C00000"/>
                </a:solidFill>
                <a:latin typeface="思源黑体" pitchFamily="34" charset="-122"/>
                <a:ea typeface="思源黑体" pitchFamily="34" charset="-122"/>
                <a:sym typeface="微软雅黑" panose="020B0503020204020204" pitchFamily="34" charset="-122"/>
              </a:endParaRPr>
            </a:p>
          </p:txBody>
        </p:sp>
        <p:sp>
          <p:nvSpPr>
            <p:cNvPr id="19" name="学党史感党恩跟党走"/>
            <p:cNvSpPr>
              <a:spLocks noChangeArrowheads="1"/>
            </p:cNvSpPr>
            <p:nvPr/>
          </p:nvSpPr>
          <p:spPr bwMode="auto">
            <a:xfrm>
              <a:off x="4523308" y="1036090"/>
              <a:ext cx="4815247" cy="470172"/>
            </a:xfrm>
            <a:prstGeom prst="rect">
              <a:avLst/>
            </a:prstGeom>
            <a:noFill/>
            <a:ln w="15875">
              <a:noFill/>
              <a:miter lim="800000"/>
            </a:ln>
          </p:spPr>
          <p:txBody>
            <a:bodyPr wrap="square">
              <a:spAutoFit/>
            </a:bodyPr>
            <a:lstStyle/>
            <a:p>
              <a:pPr algn="ctr" defTabSz="685800">
                <a:defRPr/>
              </a:pPr>
              <a:r>
                <a:rPr lang="zh-CN" altLang="en-US" sz="20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0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grpSp>
        <p:nvGrpSpPr>
          <p:cNvPr id="20" name="学党史感党恩跟党走"/>
          <p:cNvGrpSpPr/>
          <p:nvPr/>
        </p:nvGrpSpPr>
        <p:grpSpPr bwMode="auto">
          <a:xfrm>
            <a:off x="2394374" y="2905786"/>
            <a:ext cx="894160" cy="523220"/>
            <a:chOff x="2215144" y="927951"/>
            <a:chExt cx="1244730" cy="958340"/>
          </a:xfrm>
        </p:grpSpPr>
        <p:sp>
          <p:nvSpPr>
            <p:cNvPr id="21" name="学党史感党恩跟党走"/>
            <p:cNvSpPr/>
            <p:nvPr/>
          </p:nvSpPr>
          <p:spPr>
            <a:xfrm>
              <a:off x="2215144" y="982471"/>
              <a:ext cx="1120422" cy="843959"/>
            </a:xfrm>
            <a:prstGeom prst="parallelogram">
              <a:avLst>
                <a:gd name="adj" fmla="val 4820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400" b="1" noProof="1">
                <a:latin typeface="思源黑体" pitchFamily="34" charset="-122"/>
                <a:ea typeface="思源黑体" pitchFamily="34" charset="-122"/>
                <a:sym typeface="微软雅黑" panose="020B0503020204020204" pitchFamily="34" charset="-122"/>
              </a:endParaRPr>
            </a:p>
          </p:txBody>
        </p:sp>
        <p:sp>
          <p:nvSpPr>
            <p:cNvPr id="22" name="学党史感党恩跟党走"/>
            <p:cNvSpPr txBox="1"/>
            <p:nvPr/>
          </p:nvSpPr>
          <p:spPr>
            <a:xfrm>
              <a:off x="2392489" y="927951"/>
              <a:ext cx="1067385" cy="958340"/>
            </a:xfrm>
            <a:prstGeom prst="rect">
              <a:avLst/>
            </a:prstGeom>
            <a:noFill/>
          </p:spPr>
          <p:txBody>
            <a:bodyPr>
              <a:spAutoFit/>
            </a:bodyPr>
            <a:lstStyle/>
            <a:p>
              <a:pPr fontAlgn="auto"/>
              <a:r>
                <a:rPr lang="en-US" altLang="zh-CN" sz="2800" b="1" noProof="1">
                  <a:solidFill>
                    <a:schemeClr val="bg1"/>
                  </a:solidFill>
                  <a:latin typeface="思源黑体" pitchFamily="34" charset="-122"/>
                  <a:ea typeface="思源黑体" pitchFamily="34" charset="-122"/>
                  <a:sym typeface="微软雅黑" panose="020B0503020204020204" pitchFamily="34" charset="-122"/>
                </a:rPr>
                <a:t>03</a:t>
              </a:r>
              <a:endParaRPr lang="zh-CN" altLang="en-US" sz="2800" b="1" noProof="1">
                <a:solidFill>
                  <a:schemeClr val="bg1"/>
                </a:solidFill>
                <a:latin typeface="思源黑体" pitchFamily="34" charset="-122"/>
                <a:ea typeface="思源黑体" pitchFamily="34" charset="-122"/>
                <a:sym typeface="微软雅黑" panose="020B0503020204020204" pitchFamily="34" charset="-122"/>
              </a:endParaRPr>
            </a:p>
          </p:txBody>
        </p:sp>
      </p:grpSp>
      <p:grpSp>
        <p:nvGrpSpPr>
          <p:cNvPr id="23" name="学党史感党恩跟党走"/>
          <p:cNvGrpSpPr/>
          <p:nvPr/>
        </p:nvGrpSpPr>
        <p:grpSpPr bwMode="auto">
          <a:xfrm>
            <a:off x="3073030" y="2918884"/>
            <a:ext cx="5356622" cy="470456"/>
            <a:chOff x="4315149" y="953426"/>
            <a:chExt cx="5004164" cy="552836"/>
          </a:xfrm>
        </p:grpSpPr>
        <p:sp>
          <p:nvSpPr>
            <p:cNvPr id="24" name="学党史感党恩跟党走"/>
            <p:cNvSpPr/>
            <p:nvPr/>
          </p:nvSpPr>
          <p:spPr>
            <a:xfrm>
              <a:off x="4315149" y="953426"/>
              <a:ext cx="5004164" cy="540057"/>
            </a:xfrm>
            <a:prstGeom prst="parallelogram">
              <a:avLst>
                <a:gd name="adj" fmla="val 48207"/>
              </a:avLst>
            </a:prstGeom>
            <a:solidFill>
              <a:schemeClr val="bg1"/>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endParaRPr lang="zh-CN" altLang="en-US" sz="1600" b="1" noProof="1">
                <a:solidFill>
                  <a:srgbClr val="C00000"/>
                </a:solidFill>
                <a:latin typeface="思源黑体" pitchFamily="34" charset="-122"/>
                <a:ea typeface="思源黑体" pitchFamily="34" charset="-122"/>
                <a:sym typeface="微软雅黑" panose="020B0503020204020204" pitchFamily="34" charset="-122"/>
              </a:endParaRPr>
            </a:p>
          </p:txBody>
        </p:sp>
        <p:sp>
          <p:nvSpPr>
            <p:cNvPr id="25" name="学党史感党恩跟党走"/>
            <p:cNvSpPr>
              <a:spLocks noChangeArrowheads="1"/>
            </p:cNvSpPr>
            <p:nvPr/>
          </p:nvSpPr>
          <p:spPr bwMode="auto">
            <a:xfrm>
              <a:off x="4601286" y="1036090"/>
              <a:ext cx="4517815" cy="470172"/>
            </a:xfrm>
            <a:prstGeom prst="rect">
              <a:avLst/>
            </a:prstGeom>
            <a:noFill/>
            <a:ln w="15875">
              <a:noFill/>
              <a:miter lim="800000"/>
            </a:ln>
          </p:spPr>
          <p:txBody>
            <a:bodyPr wrap="square">
              <a:spAutoFit/>
            </a:bodyPr>
            <a:lstStyle/>
            <a:p>
              <a:pPr algn="ctr" defTabSz="685800">
                <a:defRPr/>
              </a:pPr>
              <a:r>
                <a:rPr lang="zh-CN" altLang="en-US" sz="20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只有中国共产党才能领导中国</a:t>
              </a:r>
              <a:endParaRPr lang="zh-CN" altLang="en-US" sz="20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0-#ppt_w/2"/>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ppt_x</p:attrName>
                                        </p:attrNameLst>
                                      </p:cBhvr>
                                      <p:tavLst>
                                        <p:tav tm="0">
                                          <p:val>
                                            <p:strVal val="1+#ppt_w/2"/>
                                          </p:val>
                                        </p:tav>
                                        <p:tav tm="100000">
                                          <p:val>
                                            <p:strVal val="#ppt_x"/>
                                          </p:val>
                                        </p:tav>
                                      </p:tavLst>
                                    </p:anim>
                                    <p:anim calcmode="lin" valueType="num">
                                      <p:cBhvr>
                                        <p:cTn id="12" dur="500" fill="hold"/>
                                        <p:tgtEl>
                                          <p:spTgt spid="11"/>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500" fill="hold"/>
                                        <p:tgtEl>
                                          <p:spTgt spid="14"/>
                                        </p:tgtEl>
                                        <p:attrNameLst>
                                          <p:attrName>ppt_x</p:attrName>
                                        </p:attrNameLst>
                                      </p:cBhvr>
                                      <p:tavLst>
                                        <p:tav tm="0">
                                          <p:val>
                                            <p:strVal val="0-#ppt_w/2"/>
                                          </p:val>
                                        </p:tav>
                                        <p:tav tm="100000">
                                          <p:val>
                                            <p:strVal val="#ppt_x"/>
                                          </p:val>
                                        </p:tav>
                                      </p:tavLst>
                                    </p:anim>
                                    <p:anim calcmode="lin" valueType="num">
                                      <p:cBhvr>
                                        <p:cTn id="17" dur="500" fill="hold"/>
                                        <p:tgtEl>
                                          <p:spTgt spid="14"/>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ppt_x</p:attrName>
                                        </p:attrNameLst>
                                      </p:cBhvr>
                                      <p:tavLst>
                                        <p:tav tm="0">
                                          <p:val>
                                            <p:strVal val="1+#ppt_w/2"/>
                                          </p:val>
                                        </p:tav>
                                        <p:tav tm="100000">
                                          <p:val>
                                            <p:strVal val="#ppt_x"/>
                                          </p:val>
                                        </p:tav>
                                      </p:tavLst>
                                    </p:anim>
                                    <p:anim calcmode="lin" valueType="num">
                                      <p:cBhvr>
                                        <p:cTn id="21" dur="500" fill="hold"/>
                                        <p:tgtEl>
                                          <p:spTgt spid="17"/>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2" presetClass="entr" presetSubtype="8"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ppt_x</p:attrName>
                                        </p:attrNameLst>
                                      </p:cBhvr>
                                      <p:tavLst>
                                        <p:tav tm="0">
                                          <p:val>
                                            <p:strVal val="0-#ppt_w/2"/>
                                          </p:val>
                                        </p:tav>
                                        <p:tav tm="100000">
                                          <p:val>
                                            <p:strVal val="#ppt_x"/>
                                          </p:val>
                                        </p:tav>
                                      </p:tavLst>
                                    </p:anim>
                                    <p:anim calcmode="lin" valueType="num">
                                      <p:cBhvr>
                                        <p:cTn id="26" dur="500" fill="hold"/>
                                        <p:tgtEl>
                                          <p:spTgt spid="20"/>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ppt_x</p:attrName>
                                        </p:attrNameLst>
                                      </p:cBhvr>
                                      <p:tavLst>
                                        <p:tav tm="0">
                                          <p:val>
                                            <p:strVal val="1+#ppt_w/2"/>
                                          </p:val>
                                        </p:tav>
                                        <p:tav tm="100000">
                                          <p:val>
                                            <p:strVal val="#ppt_x"/>
                                          </p:val>
                                        </p:tav>
                                      </p:tavLst>
                                    </p:anim>
                                    <p:anim calcmode="lin" valueType="num">
                                      <p:cBhvr>
                                        <p:cTn id="30"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学党史感党恩跟党走"/>
          <p:cNvSpPr/>
          <p:nvPr/>
        </p:nvSpPr>
        <p:spPr>
          <a:xfrm>
            <a:off x="1500166" y="2496923"/>
            <a:ext cx="6072230" cy="830997"/>
          </a:xfrm>
          <a:prstGeom prst="rect">
            <a:avLst/>
          </a:prstGeom>
        </p:spPr>
        <p:txBody>
          <a:bodyPr wrap="square">
            <a:spAutoFit/>
          </a:bodyPr>
          <a:lstStyle/>
          <a:p>
            <a:pPr algn="ctr" defTabSz="685800">
              <a:defRPr/>
            </a:pPr>
            <a:r>
              <a:rPr lang="zh-CN" altLang="en-US" sz="48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中国共产党简述</a:t>
            </a:r>
            <a:endParaRPr lang="zh-CN" altLang="en-US" sz="48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nvGrpSpPr>
          <p:cNvPr id="7" name="学党史感党恩跟党走"/>
          <p:cNvGrpSpPr/>
          <p:nvPr/>
        </p:nvGrpSpPr>
        <p:grpSpPr bwMode="auto">
          <a:xfrm>
            <a:off x="2928926" y="1428744"/>
            <a:ext cx="3117618" cy="571503"/>
            <a:chOff x="2215144" y="796793"/>
            <a:chExt cx="1120422" cy="1049275"/>
          </a:xfrm>
        </p:grpSpPr>
        <p:sp>
          <p:nvSpPr>
            <p:cNvPr id="9" name="学党史感党恩跟党走"/>
            <p:cNvSpPr/>
            <p:nvPr/>
          </p:nvSpPr>
          <p:spPr>
            <a:xfrm>
              <a:off x="2215144" y="796793"/>
              <a:ext cx="1120422" cy="1029595"/>
            </a:xfrm>
            <a:prstGeom prst="parallelogram">
              <a:avLst>
                <a:gd name="adj" fmla="val 4820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400" b="1" noProof="1">
                <a:latin typeface="思源黑体" pitchFamily="34" charset="-122"/>
                <a:ea typeface="思源黑体" pitchFamily="34" charset="-122"/>
                <a:sym typeface="微软雅黑" panose="020B0503020204020204" pitchFamily="34" charset="-122"/>
              </a:endParaRPr>
            </a:p>
          </p:txBody>
        </p:sp>
        <p:sp>
          <p:nvSpPr>
            <p:cNvPr id="10" name="学党史感党恩跟党走"/>
            <p:cNvSpPr txBox="1"/>
            <p:nvPr/>
          </p:nvSpPr>
          <p:spPr>
            <a:xfrm>
              <a:off x="2278885" y="885440"/>
              <a:ext cx="975599" cy="960628"/>
            </a:xfrm>
            <a:prstGeom prst="rect">
              <a:avLst/>
            </a:prstGeom>
            <a:noFill/>
          </p:spPr>
          <p:txBody>
            <a:bodyPr wrap="square">
              <a:spAutoFit/>
            </a:bodyPr>
            <a:lstStyle/>
            <a:p>
              <a:pPr algn="ctr" fontAlgn="auto"/>
              <a:r>
                <a:rPr lang="zh-CN" altLang="en-US" sz="2800" b="1" noProof="1" smtClean="0">
                  <a:solidFill>
                    <a:schemeClr val="bg1"/>
                  </a:solidFill>
                  <a:latin typeface="思源黑体" pitchFamily="34" charset="-122"/>
                  <a:ea typeface="思源黑体" pitchFamily="34" charset="-122"/>
                  <a:sym typeface="微软雅黑" panose="020B0503020204020204" pitchFamily="34" charset="-122"/>
                </a:rPr>
                <a:t>第一部分</a:t>
              </a:r>
              <a:endParaRPr lang="zh-CN" altLang="en-US" sz="2800" b="1" noProof="1">
                <a:solidFill>
                  <a:schemeClr val="bg1"/>
                </a:solidFill>
                <a:latin typeface="思源黑体" pitchFamily="34" charset="-122"/>
                <a:ea typeface="思源黑体" pitchFamily="34" charset="-122"/>
                <a:sym typeface="微软雅黑" panose="020B0503020204020204" pitchFamily="34" charset="-122"/>
              </a:endParaRPr>
            </a:p>
          </p:txBody>
        </p:sp>
      </p:grpSp>
      <p:pic>
        <p:nvPicPr>
          <p:cNvPr id="11" name="图片 10"/>
          <p:cNvPicPr>
            <a:picLocks noChangeAspect="1"/>
          </p:cNvPicPr>
          <p:nvPr/>
        </p:nvPicPr>
        <p:blipFill rotWithShape="1">
          <a:blip r:embed="rId1" cstate="screen"/>
          <a:srcRect/>
          <a:stretch>
            <a:fillRect/>
          </a:stretch>
        </p:blipFill>
        <p:spPr>
          <a:xfrm flipH="1">
            <a:off x="5413177" y="1"/>
            <a:ext cx="3730823" cy="1836965"/>
          </a:xfrm>
          <a:prstGeom prst="rect">
            <a:avLst/>
          </a:prstGeom>
          <a:effectLst>
            <a:outerShdw blurRad="63500" sx="102000" sy="102000" algn="ctr" rotWithShape="0">
              <a:prstClr val="black">
                <a:alpha val="40000"/>
              </a:prstClr>
            </a:outerShdw>
          </a:effectLst>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45" y="267465"/>
            <a:ext cx="2637826" cy="12983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advClick="0" advTm="0">
        <p14:doors dir="ver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6*min(max(#ppt_w*#ppt_h,.3),1)-7.4)/-.7*#ppt_w"/>
                                          </p:val>
                                        </p:tav>
                                        <p:tav tm="100000">
                                          <p:val>
                                            <p:strVal val="#ppt_w"/>
                                          </p:val>
                                        </p:tav>
                                      </p:tavLst>
                                    </p:anim>
                                    <p:anim calcmode="lin" valueType="num">
                                      <p:cBhvr>
                                        <p:cTn id="8" dur="1000" fill="hold"/>
                                        <p:tgtEl>
                                          <p:spTgt spid="4"/>
                                        </p:tgtEl>
                                        <p:attrNameLst>
                                          <p:attrName>ppt_h</p:attrName>
                                        </p:attrNameLst>
                                      </p:cBhvr>
                                      <p:tavLst>
                                        <p:tav tm="0">
                                          <p:val>
                                            <p:strVal val="(6*min(max(#ppt_w*#ppt_h,.3),1)-7.4)/-.7*#ppt_h"/>
                                          </p:val>
                                        </p:tav>
                                        <p:tav tm="100000">
                                          <p:val>
                                            <p:strVal val="#ppt_h"/>
                                          </p:val>
                                        </p:tav>
                                      </p:tavLst>
                                    </p:anim>
                                    <p:anim calcmode="lin" valueType="num">
                                      <p:cBhvr>
                                        <p:cTn id="9" dur="1000" fill="hold"/>
                                        <p:tgtEl>
                                          <p:spTgt spid="4"/>
                                        </p:tgtEl>
                                        <p:attrNameLst>
                                          <p:attrName>ppt_x</p:attrName>
                                        </p:attrNameLst>
                                      </p:cBhvr>
                                      <p:tavLst>
                                        <p:tav tm="0">
                                          <p:val>
                                            <p:fltVal val="0.5"/>
                                          </p:val>
                                        </p:tav>
                                        <p:tav tm="100000">
                                          <p:val>
                                            <p:strVal val="#ppt_x"/>
                                          </p:val>
                                        </p:tav>
                                      </p:tavLst>
                                    </p:anim>
                                    <p:anim calcmode="lin" valueType="num">
                                      <p:cBhvr>
                                        <p:cTn id="10" dur="1000" fill="hold"/>
                                        <p:tgtEl>
                                          <p:spTgt spid="4"/>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ppt_x</p:attrName>
                                        </p:attrNameLst>
                                      </p:cBhvr>
                                      <p:tavLst>
                                        <p:tav tm="0">
                                          <p:val>
                                            <p:strVal val="0-#ppt_w/2"/>
                                          </p:val>
                                        </p:tav>
                                        <p:tav tm="100000">
                                          <p:val>
                                            <p:strVal val="#ppt_x"/>
                                          </p:val>
                                        </p:tav>
                                      </p:tavLst>
                                    </p:anim>
                                    <p:anim calcmode="lin" valueType="num">
                                      <p:cBhvr>
                                        <p:cTn id="15" dur="500" fill="hold"/>
                                        <p:tgtEl>
                                          <p:spTgt spid="7"/>
                                        </p:tgtEl>
                                        <p:attrNameLst>
                                          <p:attrName>ppt_y</p:attrName>
                                        </p:attrNameLst>
                                      </p:cBhvr>
                                      <p:tavLst>
                                        <p:tav tm="0">
                                          <p:val>
                                            <p:strVal val="#ppt_y"/>
                                          </p:val>
                                        </p:tav>
                                        <p:tav tm="100000">
                                          <p:val>
                                            <p:strVal val="#ppt_y"/>
                                          </p:val>
                                        </p:tav>
                                      </p:tavLst>
                                    </p:anim>
                                  </p:childTnLst>
                                </p:cTn>
                              </p:par>
                              <p:par>
                                <p:cTn id="16" presetID="14" presetClass="entr" presetSubtype="1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randombar(horizontal)">
                                      <p:cBhvr>
                                        <p:cTn id="18" dur="500"/>
                                        <p:tgtEl>
                                          <p:spTgt spid="11"/>
                                        </p:tgtEl>
                                      </p:cBhvr>
                                    </p:animEffect>
                                  </p:childTnLst>
                                </p:cTn>
                              </p:par>
                            </p:childTnLst>
                          </p:cTn>
                        </p:par>
                        <p:par>
                          <p:cTn id="19" fill="hold">
                            <p:stCondLst>
                              <p:cond delay="1500"/>
                            </p:stCondLst>
                            <p:childTnLst>
                              <p:par>
                                <p:cTn id="20" presetID="18" presetClass="entr" presetSubtype="3"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strips(upRight)">
                                      <p:cBhvr>
                                        <p:cTn id="2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学党史感党恩跟党走"/>
          <p:cNvSpPr/>
          <p:nvPr/>
        </p:nvSpPr>
        <p:spPr>
          <a:xfrm>
            <a:off x="1044527" y="200025"/>
            <a:ext cx="3084560" cy="392414"/>
          </a:xfrm>
          <a:prstGeom prst="rect">
            <a:avLst/>
          </a:prstGeom>
        </p:spPr>
        <p:txBody>
          <a:bodyPr wrap="square" lIns="68579" tIns="34289" rIns="68579" bIns="34289">
            <a:spAutoFit/>
          </a:bodyPr>
          <a:lstStyle/>
          <a:p>
            <a:pP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
        <p:nvSpPr>
          <p:cNvPr id="11" name="学党史感党恩跟党走"/>
          <p:cNvSpPr/>
          <p:nvPr/>
        </p:nvSpPr>
        <p:spPr>
          <a:xfrm>
            <a:off x="1367030" y="1355365"/>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a:solidFill>
                  <a:schemeClr val="bg1"/>
                </a:solidFill>
                <a:latin typeface="思源黑体" pitchFamily="34" charset="-122"/>
                <a:ea typeface="思源黑体" pitchFamily="34" charset="-122"/>
              </a:rPr>
              <a:t>中国共产党名称由来</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2078501"/>
            <a:ext cx="6651892" cy="2331720"/>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7" y="2103115"/>
            <a:ext cx="6499274" cy="2463165"/>
          </a:xfrm>
          <a:prstGeom prst="rect">
            <a:avLst/>
          </a:prstGeom>
          <a:noFill/>
          <a:ln w="9525">
            <a:noFill/>
            <a:miter lim="800000"/>
          </a:ln>
        </p:spPr>
        <p:txBody>
          <a:bodyPr lIns="87918" tIns="43959" rIns="87918" bIns="43959"/>
          <a:lstStyle/>
          <a:p>
            <a:pPr algn="just">
              <a:lnSpc>
                <a:spcPct val="150000"/>
              </a:lnSpc>
            </a:pPr>
            <a:r>
              <a:rPr lang="en-US" altLang="zh-CN" sz="1200" dirty="0">
                <a:latin typeface="思源黑体" pitchFamily="34" charset="-122"/>
                <a:ea typeface="思源黑体" pitchFamily="34" charset="-122"/>
              </a:rPr>
              <a:t>1920</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8</a:t>
            </a:r>
            <a:r>
              <a:rPr lang="zh-CN" altLang="en-US" sz="1200" dirty="0">
                <a:latin typeface="思源黑体" pitchFamily="34" charset="-122"/>
                <a:ea typeface="思源黑体" pitchFamily="34" charset="-122"/>
              </a:rPr>
              <a:t>月，陈独秀在上海发起成立了中国共产党的第一个早期组织</a:t>
            </a:r>
            <a:r>
              <a:rPr lang="en-US" altLang="zh-CN" sz="1200" dirty="0">
                <a:latin typeface="思源黑体" pitchFamily="34" charset="-122"/>
                <a:ea typeface="思源黑体" pitchFamily="34" charset="-122"/>
              </a:rPr>
              <a:t>.1920</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9</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a:t>
            </a:r>
            <a:r>
              <a:rPr lang="zh-CN" altLang="en-US" sz="1200" dirty="0">
                <a:latin typeface="思源黑体" pitchFamily="34" charset="-122"/>
                <a:ea typeface="思源黑体" pitchFamily="34" charset="-122"/>
              </a:rPr>
              <a:t>日，陈独秀在</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新青年</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发表的</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对于时局之我见</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一文中，曾称“吾党”为“社会党”，后来才改称为“共产党”。最早提出“中国共产党”这一名称的是蔡和森，</a:t>
            </a:r>
            <a:r>
              <a:rPr lang="en-US" altLang="zh-CN" sz="1200" dirty="0">
                <a:latin typeface="思源黑体" pitchFamily="34" charset="-122"/>
                <a:ea typeface="思源黑体" pitchFamily="34" charset="-122"/>
              </a:rPr>
              <a:t>1920</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8</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13</a:t>
            </a:r>
            <a:r>
              <a:rPr lang="zh-CN" altLang="en-US" sz="1200" dirty="0">
                <a:latin typeface="思源黑体" pitchFamily="34" charset="-122"/>
                <a:ea typeface="思源黑体" pitchFamily="34" charset="-122"/>
              </a:rPr>
              <a:t>日和</a:t>
            </a:r>
            <a:r>
              <a:rPr lang="en-US" altLang="zh-CN" sz="1200" dirty="0">
                <a:latin typeface="思源黑体" pitchFamily="34" charset="-122"/>
                <a:ea typeface="思源黑体" pitchFamily="34" charset="-122"/>
              </a:rPr>
              <a:t>9</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16</a:t>
            </a:r>
            <a:r>
              <a:rPr lang="zh-CN" altLang="en-US" sz="1200" dirty="0">
                <a:latin typeface="思源黑体" pitchFamily="34" charset="-122"/>
                <a:ea typeface="思源黑体" pitchFamily="34" charset="-122"/>
              </a:rPr>
              <a:t>日，正在留法勤工俭学的他，在给毛泽东写的两封信中，详细地研讨了共产党问题。他提出：“先要组织党</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共产党，因为它是革命运动的发动者、宣传者、先锋队、作战部。”他在对西欧各国共产党特别是俄国共产党考察的基础上，提出了具体的建党步骤，其中包括“明目张胆正式成立一个中国共产党”。在此前后，陈独秀在上海，李大钊、张申府在北京也通过信函讨论了党的名称问题，决定采用“共产党”作为中国无产阶级政党的名称。</a:t>
            </a:r>
            <a:endParaRPr lang="zh-CN" altLang="en-US" sz="1200" dirty="0">
              <a:latin typeface="思源黑体" pitchFamily="34" charset="-122"/>
              <a:ea typeface="思源黑体" pitchFamily="34"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学党史感党恩跟党走"/>
          <p:cNvSpPr/>
          <p:nvPr/>
        </p:nvSpPr>
        <p:spPr>
          <a:xfrm>
            <a:off x="1044527" y="185738"/>
            <a:ext cx="3084560" cy="392414"/>
          </a:xfrm>
          <a:prstGeom prst="rect">
            <a:avLst/>
          </a:prstGeom>
        </p:spPr>
        <p:txBody>
          <a:bodyPr wrap="square" lIns="68579" tIns="34289" rIns="68579" bIns="34289">
            <a:spAutoFit/>
          </a:bodyPr>
          <a:lstStyle/>
          <a:p>
            <a:pP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
        <p:nvSpPr>
          <p:cNvPr id="11" name="学党史感党恩跟党走"/>
          <p:cNvSpPr/>
          <p:nvPr/>
        </p:nvSpPr>
        <p:spPr>
          <a:xfrm>
            <a:off x="1367030" y="1355365"/>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lnSpc>
                <a:spcPts val="1200"/>
              </a:lnSpc>
            </a:pPr>
            <a:r>
              <a:rPr lang="zh-CN" altLang="en-US" b="1" dirty="0" smtClean="0">
                <a:solidFill>
                  <a:schemeClr val="bg1"/>
                </a:solidFill>
                <a:latin typeface="思源黑体" pitchFamily="34" charset="-122"/>
                <a:ea typeface="思源黑体" pitchFamily="34" charset="-122"/>
              </a:rPr>
              <a:t>中国共产党诞生日由来</a:t>
            </a:r>
            <a:endParaRPr lang="zh-CN" altLang="en-US" b="1" dirty="0">
              <a:solidFill>
                <a:schemeClr val="bg1"/>
              </a:solidFill>
              <a:latin typeface="思源黑体" pitchFamily="34" charset="-122"/>
              <a:ea typeface="思源黑体" pitchFamily="34" charset="-122"/>
            </a:endParaRPr>
          </a:p>
        </p:txBody>
      </p:sp>
      <p:sp>
        <p:nvSpPr>
          <p:cNvPr id="20" name="学党史感党恩跟党走"/>
          <p:cNvSpPr/>
          <p:nvPr/>
        </p:nvSpPr>
        <p:spPr>
          <a:xfrm>
            <a:off x="1392702" y="2078501"/>
            <a:ext cx="6651892" cy="2650661"/>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7" y="2103115"/>
            <a:ext cx="6499274" cy="2463165"/>
          </a:xfrm>
          <a:prstGeom prst="rect">
            <a:avLst/>
          </a:prstGeom>
          <a:noFill/>
          <a:ln w="9525">
            <a:noFill/>
            <a:miter lim="800000"/>
          </a:ln>
        </p:spPr>
        <p:txBody>
          <a:bodyPr lIns="87918" tIns="43959" rIns="87918" bIns="43959"/>
          <a:lstStyle/>
          <a:p>
            <a:pPr algn="just">
              <a:lnSpc>
                <a:spcPct val="120000"/>
              </a:lnSpc>
            </a:pPr>
            <a:r>
              <a:rPr lang="zh-CN" altLang="en-US" sz="1200" dirty="0" smtClean="0">
                <a:latin typeface="思源黑体" pitchFamily="34" charset="-122"/>
                <a:ea typeface="思源黑体" pitchFamily="34" charset="-122"/>
              </a:rPr>
              <a:t>抗日战争时期，然而由于党的一大距抗战时期已相当遥远，参加一大的代表们又没有作召开时间的记录，所以无法确定一大召开的确切日期，而当时的战争状态又不可能进行仔细的考证，所以经中共中央决定，将党的纪念日定为</a:t>
            </a:r>
            <a:r>
              <a:rPr lang="en-US" altLang="zh-CN" sz="1200" dirty="0" smtClean="0">
                <a:latin typeface="思源黑体" pitchFamily="34" charset="-122"/>
                <a:ea typeface="思源黑体" pitchFamily="34" charset="-122"/>
              </a:rPr>
              <a:t>7</a:t>
            </a:r>
            <a:r>
              <a:rPr lang="zh-CN" altLang="en-US" sz="1200" dirty="0" smtClean="0">
                <a:latin typeface="思源黑体" pitchFamily="34" charset="-122"/>
                <a:ea typeface="思源黑体" pitchFamily="34" charset="-122"/>
              </a:rPr>
              <a:t>月</a:t>
            </a:r>
            <a:r>
              <a:rPr lang="en-US" altLang="zh-CN" sz="1200" dirty="0" smtClean="0">
                <a:latin typeface="思源黑体" pitchFamily="34" charset="-122"/>
                <a:ea typeface="思源黑体" pitchFamily="34" charset="-122"/>
              </a:rPr>
              <a:t>1</a:t>
            </a:r>
            <a:r>
              <a:rPr lang="zh-CN" altLang="en-US" sz="1200" dirty="0" smtClean="0">
                <a:latin typeface="思源黑体" pitchFamily="34" charset="-122"/>
                <a:ea typeface="思源黑体" pitchFamily="34" charset="-122"/>
              </a:rPr>
              <a:t>日，这种状况一直延续了几十年。</a:t>
            </a:r>
            <a:endParaRPr lang="en-US" altLang="zh-CN" sz="1200" dirty="0" smtClean="0">
              <a:latin typeface="思源黑体" pitchFamily="34" charset="-122"/>
              <a:ea typeface="思源黑体" pitchFamily="34" charset="-122"/>
            </a:endParaRPr>
          </a:p>
          <a:p>
            <a:pPr algn="just">
              <a:lnSpc>
                <a:spcPct val="150000"/>
              </a:lnSpc>
            </a:pPr>
            <a:r>
              <a:rPr lang="zh-CN" altLang="en-US" sz="1200" dirty="0" smtClean="0">
                <a:latin typeface="思源黑体" pitchFamily="34" charset="-122"/>
                <a:ea typeface="思源黑体" pitchFamily="34" charset="-122"/>
              </a:rPr>
              <a:t>“七一”作为党的诞生纪念日，最早见于中央文件是</a:t>
            </a:r>
            <a:r>
              <a:rPr lang="en-US" altLang="zh-CN" sz="1200" dirty="0" smtClean="0">
                <a:latin typeface="思源黑体" pitchFamily="34" charset="-122"/>
                <a:ea typeface="思源黑体" pitchFamily="34" charset="-122"/>
              </a:rPr>
              <a:t>1941</a:t>
            </a:r>
            <a:r>
              <a:rPr lang="zh-CN" altLang="en-US" sz="1200" dirty="0" smtClean="0">
                <a:latin typeface="思源黑体" pitchFamily="34" charset="-122"/>
                <a:ea typeface="思源黑体" pitchFamily="34" charset="-122"/>
              </a:rPr>
              <a:t>年</a:t>
            </a:r>
            <a:r>
              <a:rPr lang="en-US" altLang="zh-CN" sz="1200" dirty="0" smtClean="0">
                <a:latin typeface="思源黑体" pitchFamily="34" charset="-122"/>
                <a:ea typeface="思源黑体" pitchFamily="34" charset="-122"/>
              </a:rPr>
              <a:t>6</a:t>
            </a:r>
            <a:r>
              <a:rPr lang="zh-CN" altLang="en-US" sz="1200" dirty="0" smtClean="0">
                <a:latin typeface="思源黑体" pitchFamily="34" charset="-122"/>
                <a:ea typeface="思源黑体" pitchFamily="34" charset="-122"/>
              </a:rPr>
              <a:t>月。当时，中共中央发出</a:t>
            </a:r>
            <a:r>
              <a:rPr lang="en-US" altLang="zh-CN" sz="1200" dirty="0" smtClean="0">
                <a:latin typeface="思源黑体" pitchFamily="34" charset="-122"/>
                <a:ea typeface="思源黑体" pitchFamily="34" charset="-122"/>
              </a:rPr>
              <a:t>《</a:t>
            </a:r>
            <a:r>
              <a:rPr lang="zh-CN" altLang="en-US" sz="1200" dirty="0" smtClean="0">
                <a:latin typeface="思源黑体" pitchFamily="34" charset="-122"/>
                <a:ea typeface="思源黑体" pitchFamily="34" charset="-122"/>
              </a:rPr>
              <a:t>关于中国共产党诞生二十周年、抗日四周年纪念指示</a:t>
            </a:r>
            <a:r>
              <a:rPr lang="en-US" altLang="zh-CN" sz="1200" dirty="0" smtClean="0">
                <a:latin typeface="思源黑体" pitchFamily="34" charset="-122"/>
                <a:ea typeface="思源黑体" pitchFamily="34" charset="-122"/>
              </a:rPr>
              <a:t>》</a:t>
            </a:r>
            <a:r>
              <a:rPr lang="zh-CN" altLang="en-US" sz="1200" dirty="0" smtClean="0">
                <a:latin typeface="思源黑体" pitchFamily="34" charset="-122"/>
                <a:ea typeface="思源黑体" pitchFamily="34" charset="-122"/>
              </a:rPr>
              <a:t>。</a:t>
            </a:r>
            <a:r>
              <a:rPr lang="en-US" altLang="zh-CN" sz="1200" dirty="0" smtClean="0">
                <a:latin typeface="思源黑体" pitchFamily="34" charset="-122"/>
                <a:ea typeface="思源黑体" pitchFamily="34" charset="-122"/>
              </a:rPr>
              <a:t>《</a:t>
            </a:r>
            <a:r>
              <a:rPr lang="zh-CN" altLang="en-US" sz="1200" dirty="0" smtClean="0">
                <a:latin typeface="思源黑体" pitchFamily="34" charset="-122"/>
                <a:ea typeface="思源黑体" pitchFamily="34" charset="-122"/>
              </a:rPr>
              <a:t>指示</a:t>
            </a:r>
            <a:r>
              <a:rPr lang="en-US" altLang="zh-CN" sz="1200" dirty="0" smtClean="0">
                <a:latin typeface="思源黑体" pitchFamily="34" charset="-122"/>
                <a:ea typeface="思源黑体" pitchFamily="34" charset="-122"/>
              </a:rPr>
              <a:t>》</a:t>
            </a:r>
            <a:r>
              <a:rPr lang="zh-CN" altLang="en-US" sz="1200" dirty="0" smtClean="0">
                <a:latin typeface="思源黑体" pitchFamily="34" charset="-122"/>
                <a:ea typeface="思源黑体" pitchFamily="34" charset="-122"/>
              </a:rPr>
              <a:t>说：“今年七一是中共产生的二十周年，七七是中国抗日战争的四周年，各抗日根据地应分别召集会议，采取各种办法，举行纪念，并在各种刊物出特刊或特辑。”这是以中共中央名义作出的把“七一”作为党的诞生纪念日进行纪念的第一个文件。</a:t>
            </a:r>
            <a:endParaRPr lang="zh-CN" altLang="en-US" sz="1200" dirty="0" smtClean="0">
              <a:latin typeface="思源黑体" pitchFamily="34" charset="-122"/>
              <a:ea typeface="思源黑体" pitchFamily="34" charset="-122"/>
            </a:endParaRPr>
          </a:p>
          <a:p>
            <a:pPr algn="just">
              <a:lnSpc>
                <a:spcPct val="120000"/>
              </a:lnSpc>
            </a:pPr>
            <a:r>
              <a:rPr lang="zh-CN" altLang="en-US" sz="1200" dirty="0" smtClean="0">
                <a:latin typeface="思源黑体" pitchFamily="34" charset="-122"/>
                <a:ea typeface="思源黑体" pitchFamily="34" charset="-122"/>
              </a:rPr>
              <a:t>党的一大开幕日期到</a:t>
            </a:r>
            <a:r>
              <a:rPr lang="en-US" altLang="zh-CN" sz="1200" dirty="0" smtClean="0">
                <a:latin typeface="思源黑体" pitchFamily="34" charset="-122"/>
                <a:ea typeface="思源黑体" pitchFamily="34" charset="-122"/>
              </a:rPr>
              <a:t>20</a:t>
            </a:r>
            <a:r>
              <a:rPr lang="zh-CN" altLang="en-US" sz="1200" dirty="0" smtClean="0">
                <a:latin typeface="思源黑体" pitchFamily="34" charset="-122"/>
                <a:ea typeface="思源黑体" pitchFamily="34" charset="-122"/>
              </a:rPr>
              <a:t>世纪</a:t>
            </a:r>
            <a:r>
              <a:rPr lang="en-US" altLang="zh-CN" sz="1200" dirty="0" smtClean="0">
                <a:latin typeface="思源黑体" pitchFamily="34" charset="-122"/>
                <a:ea typeface="思源黑体" pitchFamily="34" charset="-122"/>
              </a:rPr>
              <a:t>70</a:t>
            </a:r>
            <a:r>
              <a:rPr lang="zh-CN" altLang="en-US" sz="1200" dirty="0" smtClean="0">
                <a:latin typeface="思源黑体" pitchFamily="34" charset="-122"/>
                <a:ea typeface="思源黑体" pitchFamily="34" charset="-122"/>
              </a:rPr>
              <a:t>年代末才由党史工作者考证清楚，根据新发现的史料和考证成果，确定一大的召开日期是</a:t>
            </a:r>
            <a:r>
              <a:rPr lang="en-US" altLang="zh-CN" sz="1200" dirty="0" smtClean="0">
                <a:latin typeface="思源黑体" pitchFamily="34" charset="-122"/>
                <a:ea typeface="思源黑体" pitchFamily="34" charset="-122"/>
              </a:rPr>
              <a:t>1921</a:t>
            </a:r>
            <a:r>
              <a:rPr lang="zh-CN" altLang="en-US" sz="1200" dirty="0" smtClean="0">
                <a:latin typeface="思源黑体" pitchFamily="34" charset="-122"/>
                <a:ea typeface="思源黑体" pitchFamily="34" charset="-122"/>
              </a:rPr>
              <a:t>年</a:t>
            </a:r>
            <a:r>
              <a:rPr lang="en-US" altLang="zh-CN" sz="1200" dirty="0" smtClean="0">
                <a:latin typeface="思源黑体" pitchFamily="34" charset="-122"/>
                <a:ea typeface="思源黑体" pitchFamily="34" charset="-122"/>
              </a:rPr>
              <a:t>7</a:t>
            </a:r>
            <a:r>
              <a:rPr lang="zh-CN" altLang="en-US" sz="1200" dirty="0" smtClean="0">
                <a:latin typeface="思源黑体" pitchFamily="34" charset="-122"/>
                <a:ea typeface="思源黑体" pitchFamily="34" charset="-122"/>
              </a:rPr>
              <a:t>月</a:t>
            </a:r>
            <a:r>
              <a:rPr lang="en-US" altLang="zh-CN" sz="1200" dirty="0" smtClean="0">
                <a:latin typeface="思源黑体" pitchFamily="34" charset="-122"/>
                <a:ea typeface="思源黑体" pitchFamily="34" charset="-122"/>
              </a:rPr>
              <a:t>23</a:t>
            </a:r>
            <a:r>
              <a:rPr lang="zh-CN" altLang="en-US" sz="1200" dirty="0" smtClean="0">
                <a:latin typeface="思源黑体" pitchFamily="34" charset="-122"/>
                <a:ea typeface="思源黑体" pitchFamily="34" charset="-122"/>
              </a:rPr>
              <a:t>日。</a:t>
            </a:r>
            <a:endParaRPr lang="en-US" altLang="zh-CN" sz="1200" dirty="0">
              <a:latin typeface="思源黑体" pitchFamily="34" charset="-122"/>
              <a:ea typeface="思源黑体" pitchFamily="34"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学党史感党恩跟党走"/>
          <p:cNvSpPr/>
          <p:nvPr/>
        </p:nvSpPr>
        <p:spPr>
          <a:xfrm>
            <a:off x="1044527" y="185738"/>
            <a:ext cx="3084560" cy="392414"/>
          </a:xfrm>
          <a:prstGeom prst="rect">
            <a:avLst/>
          </a:prstGeom>
        </p:spPr>
        <p:txBody>
          <a:bodyPr wrap="square" lIns="68579" tIns="34289" rIns="68579" bIns="34289">
            <a:spAutoFit/>
          </a:bodyPr>
          <a:lstStyle/>
          <a:p>
            <a:pP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
        <p:nvSpPr>
          <p:cNvPr id="11" name="学党史感党恩跟党走"/>
          <p:cNvSpPr/>
          <p:nvPr/>
        </p:nvSpPr>
        <p:spPr>
          <a:xfrm>
            <a:off x="1367030" y="1355365"/>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smtClean="0">
                <a:latin typeface="思源黑体" pitchFamily="34" charset="-122"/>
                <a:ea typeface="思源黑体" pitchFamily="34" charset="-122"/>
              </a:rPr>
              <a:t>党的历史发展分期</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2078501"/>
            <a:ext cx="6651892" cy="2331720"/>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571626" y="2131690"/>
            <a:ext cx="6394205" cy="2463165"/>
          </a:xfrm>
          <a:prstGeom prst="rect">
            <a:avLst/>
          </a:prstGeom>
          <a:noFill/>
          <a:ln w="9525">
            <a:noFill/>
            <a:miter lim="800000"/>
          </a:ln>
        </p:spPr>
        <p:txBody>
          <a:bodyPr lIns="87918" tIns="43959" rIns="87918" bIns="43959"/>
          <a:lstStyle/>
          <a:p>
            <a:pPr algn="just">
              <a:lnSpc>
                <a:spcPct val="150000"/>
              </a:lnSpc>
            </a:pPr>
            <a:r>
              <a:rPr lang="zh-CN" altLang="en-US" sz="1400" dirty="0" smtClean="0">
                <a:latin typeface="思源黑体" pitchFamily="34" charset="-122"/>
                <a:ea typeface="思源黑体" pitchFamily="34" charset="-122"/>
              </a:rPr>
              <a:t>一：新民主主义革命时期</a:t>
            </a:r>
            <a:endParaRPr lang="en-US" altLang="zh-CN" sz="1400" dirty="0" smtClean="0">
              <a:latin typeface="思源黑体" pitchFamily="34" charset="-122"/>
              <a:ea typeface="思源黑体" pitchFamily="34" charset="-122"/>
            </a:endParaRPr>
          </a:p>
          <a:p>
            <a:pPr algn="just">
              <a:lnSpc>
                <a:spcPct val="150000"/>
              </a:lnSpc>
            </a:pPr>
            <a:r>
              <a:rPr lang="en-US" altLang="zh-CN" sz="1400" dirty="0" smtClean="0">
                <a:latin typeface="思源黑体" pitchFamily="34" charset="-122"/>
                <a:ea typeface="思源黑体" pitchFamily="34" charset="-122"/>
              </a:rPr>
              <a:t>(1919</a:t>
            </a:r>
            <a:r>
              <a:rPr lang="zh-CN" altLang="en-US" sz="1400" dirty="0" smtClean="0">
                <a:latin typeface="思源黑体" pitchFamily="34" charset="-122"/>
                <a:ea typeface="思源黑体" pitchFamily="34" charset="-122"/>
              </a:rPr>
              <a:t>年五四运动</a:t>
            </a:r>
            <a:r>
              <a:rPr lang="en-US" altLang="zh-CN" sz="1400" dirty="0" smtClean="0">
                <a:latin typeface="思源黑体" pitchFamily="34" charset="-122"/>
                <a:ea typeface="思源黑体" pitchFamily="34" charset="-122"/>
              </a:rPr>
              <a:t>-1949</a:t>
            </a:r>
            <a:r>
              <a:rPr lang="zh-CN" altLang="en-US" sz="1400" dirty="0" smtClean="0">
                <a:latin typeface="思源黑体" pitchFamily="34" charset="-122"/>
                <a:ea typeface="思源黑体" pitchFamily="34" charset="-122"/>
              </a:rPr>
              <a:t>年</a:t>
            </a:r>
            <a:r>
              <a:rPr lang="en-US" altLang="zh-CN" sz="1400" dirty="0" smtClean="0">
                <a:latin typeface="思源黑体" pitchFamily="34" charset="-122"/>
                <a:ea typeface="思源黑体" pitchFamily="34" charset="-122"/>
              </a:rPr>
              <a:t>10</a:t>
            </a:r>
            <a:r>
              <a:rPr lang="zh-CN" altLang="en-US" sz="1400" dirty="0" smtClean="0">
                <a:latin typeface="思源黑体" pitchFamily="34" charset="-122"/>
                <a:ea typeface="思源黑体" pitchFamily="34" charset="-122"/>
              </a:rPr>
              <a:t>月中华人民共和国、中央人民政府成立</a:t>
            </a:r>
            <a:r>
              <a:rPr lang="en-US" altLang="zh-CN" sz="1400" dirty="0" smtClean="0">
                <a:latin typeface="思源黑体" pitchFamily="34" charset="-122"/>
                <a:ea typeface="思源黑体" pitchFamily="34" charset="-122"/>
              </a:rPr>
              <a:t>)</a:t>
            </a:r>
            <a:endParaRPr lang="en-US" altLang="zh-CN" sz="1400" dirty="0" smtClean="0">
              <a:latin typeface="思源黑体" pitchFamily="34" charset="-122"/>
              <a:ea typeface="思源黑体" pitchFamily="34" charset="-122"/>
            </a:endParaRPr>
          </a:p>
          <a:p>
            <a:pPr algn="just">
              <a:lnSpc>
                <a:spcPct val="150000"/>
              </a:lnSpc>
            </a:pPr>
            <a:r>
              <a:rPr lang="zh-CN" altLang="en-US" sz="1400" dirty="0" smtClean="0">
                <a:latin typeface="思源黑体" pitchFamily="34" charset="-122"/>
                <a:ea typeface="思源黑体" pitchFamily="34" charset="-122"/>
              </a:rPr>
              <a:t>第一次全国代表大会</a:t>
            </a:r>
            <a:r>
              <a:rPr lang="en-US" altLang="zh-CN" sz="1400" dirty="0" smtClean="0">
                <a:latin typeface="思源黑体" pitchFamily="34" charset="-122"/>
                <a:ea typeface="思源黑体" pitchFamily="34" charset="-122"/>
              </a:rPr>
              <a:t>-</a:t>
            </a:r>
            <a:r>
              <a:rPr lang="zh-CN" altLang="en-US" sz="1400" dirty="0" smtClean="0">
                <a:latin typeface="思源黑体" pitchFamily="34" charset="-122"/>
                <a:ea typeface="思源黑体" pitchFamily="34" charset="-122"/>
              </a:rPr>
              <a:t>第七次全国代表大会</a:t>
            </a:r>
            <a:endParaRPr lang="en-US" altLang="zh-CN" sz="1400" dirty="0" smtClean="0">
              <a:latin typeface="思源黑体" pitchFamily="34" charset="-122"/>
              <a:ea typeface="思源黑体" pitchFamily="34" charset="-122"/>
            </a:endParaRPr>
          </a:p>
          <a:p>
            <a:pPr algn="just">
              <a:lnSpc>
                <a:spcPct val="150000"/>
              </a:lnSpc>
            </a:pPr>
            <a:r>
              <a:rPr lang="zh-CN" altLang="en-US" sz="1400" dirty="0" smtClean="0">
                <a:latin typeface="思源黑体" pitchFamily="34" charset="-122"/>
                <a:ea typeface="思源黑体" pitchFamily="34" charset="-122"/>
              </a:rPr>
              <a:t>二：社会主义革命建设时期</a:t>
            </a:r>
            <a:r>
              <a:rPr lang="en-US" altLang="zh-CN" sz="1400" dirty="0" smtClean="0">
                <a:latin typeface="思源黑体" pitchFamily="34" charset="-122"/>
                <a:ea typeface="思源黑体" pitchFamily="34" charset="-122"/>
              </a:rPr>
              <a:t>(1949</a:t>
            </a:r>
            <a:r>
              <a:rPr lang="zh-CN" altLang="en-US" sz="1400" dirty="0" smtClean="0">
                <a:latin typeface="思源黑体" pitchFamily="34" charset="-122"/>
                <a:ea typeface="思源黑体" pitchFamily="34" charset="-122"/>
              </a:rPr>
              <a:t>年</a:t>
            </a:r>
            <a:r>
              <a:rPr lang="en-US" altLang="zh-CN" sz="1400" dirty="0" smtClean="0">
                <a:latin typeface="思源黑体" pitchFamily="34" charset="-122"/>
                <a:ea typeface="思源黑体" pitchFamily="34" charset="-122"/>
              </a:rPr>
              <a:t>10</a:t>
            </a:r>
            <a:r>
              <a:rPr lang="zh-CN" altLang="en-US" sz="1400" dirty="0" smtClean="0">
                <a:latin typeface="思源黑体" pitchFamily="34" charset="-122"/>
                <a:ea typeface="思源黑体" pitchFamily="34" charset="-122"/>
              </a:rPr>
              <a:t>月</a:t>
            </a:r>
            <a:r>
              <a:rPr lang="en-US" altLang="zh-CN" sz="1400" dirty="0" smtClean="0">
                <a:latin typeface="思源黑体" pitchFamily="34" charset="-122"/>
                <a:ea typeface="思源黑体" pitchFamily="34" charset="-122"/>
              </a:rPr>
              <a:t>-1976</a:t>
            </a:r>
            <a:r>
              <a:rPr lang="zh-CN" altLang="en-US" sz="1400" dirty="0" smtClean="0">
                <a:latin typeface="思源黑体" pitchFamily="34" charset="-122"/>
                <a:ea typeface="思源黑体" pitchFamily="34" charset="-122"/>
              </a:rPr>
              <a:t>年</a:t>
            </a:r>
            <a:r>
              <a:rPr lang="en-US" altLang="zh-CN" sz="1400" dirty="0" smtClean="0">
                <a:latin typeface="思源黑体" pitchFamily="34" charset="-122"/>
                <a:ea typeface="思源黑体" pitchFamily="34" charset="-122"/>
              </a:rPr>
              <a:t>10</a:t>
            </a:r>
            <a:r>
              <a:rPr lang="zh-CN" altLang="en-US" sz="1400" dirty="0" smtClean="0">
                <a:latin typeface="思源黑体" pitchFamily="34" charset="-122"/>
                <a:ea typeface="思源黑体" pitchFamily="34" charset="-122"/>
              </a:rPr>
              <a:t>月</a:t>
            </a:r>
            <a:r>
              <a:rPr lang="en-US" altLang="zh-CN" sz="1400" dirty="0" smtClean="0">
                <a:latin typeface="思源黑体" pitchFamily="34" charset="-122"/>
                <a:ea typeface="思源黑体" pitchFamily="34" charset="-122"/>
              </a:rPr>
              <a:t>)</a:t>
            </a:r>
            <a:endParaRPr lang="zh-CN" altLang="en-US" sz="1400" dirty="0" smtClean="0">
              <a:latin typeface="思源黑体" pitchFamily="34" charset="-122"/>
              <a:ea typeface="思源黑体" pitchFamily="34" charset="-122"/>
            </a:endParaRPr>
          </a:p>
          <a:p>
            <a:pPr algn="just">
              <a:lnSpc>
                <a:spcPct val="150000"/>
              </a:lnSpc>
            </a:pPr>
            <a:r>
              <a:rPr lang="zh-CN" altLang="en-US" sz="1400" dirty="0" smtClean="0">
                <a:latin typeface="思源黑体" pitchFamily="34" charset="-122"/>
                <a:ea typeface="思源黑体" pitchFamily="34" charset="-122"/>
              </a:rPr>
              <a:t>第七次全国代表大会</a:t>
            </a:r>
            <a:r>
              <a:rPr lang="en-US" altLang="zh-CN" sz="1400" dirty="0" smtClean="0">
                <a:latin typeface="思源黑体" pitchFamily="34" charset="-122"/>
                <a:ea typeface="思源黑体" pitchFamily="34" charset="-122"/>
              </a:rPr>
              <a:t>-</a:t>
            </a:r>
            <a:r>
              <a:rPr lang="zh-CN" altLang="en-US" sz="1400" dirty="0" smtClean="0">
                <a:latin typeface="思源黑体" pitchFamily="34" charset="-122"/>
                <a:ea typeface="思源黑体" pitchFamily="34" charset="-122"/>
              </a:rPr>
              <a:t>第十次全国代表大会</a:t>
            </a:r>
            <a:endParaRPr lang="zh-CN" altLang="en-US" sz="1400" dirty="0" smtClean="0">
              <a:latin typeface="思源黑体" pitchFamily="34" charset="-122"/>
              <a:ea typeface="思源黑体" pitchFamily="34" charset="-122"/>
            </a:endParaRPr>
          </a:p>
          <a:p>
            <a:pPr algn="just">
              <a:lnSpc>
                <a:spcPct val="150000"/>
              </a:lnSpc>
            </a:pPr>
            <a:r>
              <a:rPr lang="zh-CN" altLang="en-US" sz="1400" dirty="0" smtClean="0">
                <a:latin typeface="思源黑体" pitchFamily="34" charset="-122"/>
                <a:ea typeface="思源黑体" pitchFamily="34" charset="-122"/>
              </a:rPr>
              <a:t>三：改革和开放社会主义现代化建设时期</a:t>
            </a:r>
            <a:r>
              <a:rPr lang="en-US" altLang="zh-CN" sz="1050" dirty="0" smtClean="0">
                <a:latin typeface="思源黑体" pitchFamily="34" charset="-122"/>
                <a:ea typeface="思源黑体" pitchFamily="34" charset="-122"/>
              </a:rPr>
              <a:t>(1949</a:t>
            </a:r>
            <a:r>
              <a:rPr lang="zh-CN" altLang="en-US" sz="1050" dirty="0" smtClean="0">
                <a:latin typeface="思源黑体" pitchFamily="34" charset="-122"/>
                <a:ea typeface="思源黑体" pitchFamily="34" charset="-122"/>
              </a:rPr>
              <a:t>年</a:t>
            </a:r>
            <a:r>
              <a:rPr lang="en-US" altLang="zh-CN" sz="1050" dirty="0" smtClean="0">
                <a:latin typeface="思源黑体" pitchFamily="34" charset="-122"/>
                <a:ea typeface="思源黑体" pitchFamily="34" charset="-122"/>
              </a:rPr>
              <a:t>10</a:t>
            </a:r>
            <a:r>
              <a:rPr lang="zh-CN" altLang="en-US" sz="1050" dirty="0" smtClean="0">
                <a:latin typeface="思源黑体" pitchFamily="34" charset="-122"/>
                <a:ea typeface="思源黑体" pitchFamily="34" charset="-122"/>
              </a:rPr>
              <a:t>月</a:t>
            </a:r>
            <a:r>
              <a:rPr lang="en-US" altLang="zh-CN" sz="1050" dirty="0" smtClean="0">
                <a:latin typeface="思源黑体" pitchFamily="34" charset="-122"/>
                <a:ea typeface="思源黑体" pitchFamily="34" charset="-122"/>
              </a:rPr>
              <a:t>-</a:t>
            </a:r>
            <a:r>
              <a:rPr lang="zh-CN" altLang="en-US" sz="1050" dirty="0" smtClean="0">
                <a:latin typeface="思源黑体" pitchFamily="34" charset="-122"/>
                <a:ea typeface="思源黑体" pitchFamily="34" charset="-122"/>
              </a:rPr>
              <a:t>至今</a:t>
            </a:r>
            <a:r>
              <a:rPr lang="en-US" altLang="zh-CN" sz="1050" dirty="0" smtClean="0">
                <a:latin typeface="思源黑体" pitchFamily="34" charset="-122"/>
                <a:ea typeface="思源黑体" pitchFamily="34" charset="-122"/>
              </a:rPr>
              <a:t>)</a:t>
            </a:r>
            <a:endParaRPr lang="zh-CN" altLang="en-US" sz="1400" dirty="0" smtClean="0">
              <a:latin typeface="思源黑体" pitchFamily="34" charset="-122"/>
              <a:ea typeface="思源黑体" pitchFamily="34" charset="-122"/>
            </a:endParaRPr>
          </a:p>
          <a:p>
            <a:pPr algn="just">
              <a:lnSpc>
                <a:spcPct val="150000"/>
              </a:lnSpc>
            </a:pPr>
            <a:r>
              <a:rPr lang="zh-CN" altLang="en-US" sz="1400" dirty="0" smtClean="0">
                <a:latin typeface="思源黑体" pitchFamily="34" charset="-122"/>
                <a:ea typeface="思源黑体" pitchFamily="34" charset="-122"/>
              </a:rPr>
              <a:t>第十一次全国代表大会</a:t>
            </a:r>
            <a:r>
              <a:rPr lang="en-US" altLang="zh-CN" sz="1400" dirty="0" smtClean="0">
                <a:latin typeface="思源黑体" pitchFamily="34" charset="-122"/>
                <a:ea typeface="思源黑体" pitchFamily="34" charset="-122"/>
              </a:rPr>
              <a:t>-</a:t>
            </a:r>
            <a:r>
              <a:rPr lang="zh-CN" altLang="en-US" sz="1400" dirty="0" smtClean="0">
                <a:latin typeface="思源黑体" pitchFamily="34" charset="-122"/>
                <a:ea typeface="思源黑体" pitchFamily="34" charset="-122"/>
              </a:rPr>
              <a:t>第十九次全国代表大会</a:t>
            </a:r>
            <a:endParaRPr lang="zh-CN" altLang="en-US" sz="1400" dirty="0" smtClean="0">
              <a:latin typeface="思源黑体" pitchFamily="34" charset="-122"/>
              <a:ea typeface="思源黑体" pitchFamily="34"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学党史感党恩跟党走"/>
          <p:cNvSpPr/>
          <p:nvPr/>
        </p:nvSpPr>
        <p:spPr>
          <a:xfrm>
            <a:off x="1500166" y="2228677"/>
            <a:ext cx="6072230" cy="1200329"/>
          </a:xfrm>
          <a:prstGeom prst="rect">
            <a:avLst/>
          </a:prstGeom>
        </p:spPr>
        <p:txBody>
          <a:bodyPr wrap="square">
            <a:spAutoFit/>
          </a:bodyPr>
          <a:lstStyle/>
          <a:p>
            <a:pPr algn="ctr" defTabSz="685800">
              <a:defRPr/>
            </a:pPr>
            <a:r>
              <a:rPr lang="zh-CN" altLang="en-US" sz="36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a:t>
            </a:r>
            <a:endParaRPr lang="en-US" altLang="zh-CN" sz="36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a:p>
            <a:pPr algn="ctr" defTabSz="685800">
              <a:defRPr/>
            </a:pPr>
            <a:r>
              <a:rPr lang="zh-CN" altLang="en-US" sz="36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全国代表大会简述</a:t>
            </a:r>
            <a:endParaRPr lang="zh-CN" altLang="en-US" sz="36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nvGrpSpPr>
          <p:cNvPr id="7" name="学党史感党恩跟党走"/>
          <p:cNvGrpSpPr/>
          <p:nvPr/>
        </p:nvGrpSpPr>
        <p:grpSpPr bwMode="auto">
          <a:xfrm>
            <a:off x="2928926" y="1428744"/>
            <a:ext cx="3117618" cy="571503"/>
            <a:chOff x="2215144" y="796793"/>
            <a:chExt cx="1120422" cy="1049275"/>
          </a:xfrm>
        </p:grpSpPr>
        <p:sp>
          <p:nvSpPr>
            <p:cNvPr id="9" name="学党史感党恩跟党走"/>
            <p:cNvSpPr/>
            <p:nvPr/>
          </p:nvSpPr>
          <p:spPr>
            <a:xfrm>
              <a:off x="2215144" y="796793"/>
              <a:ext cx="1120422" cy="1029595"/>
            </a:xfrm>
            <a:prstGeom prst="parallelogram">
              <a:avLst>
                <a:gd name="adj" fmla="val 4820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400" b="1" noProof="1">
                <a:latin typeface="思源黑体" pitchFamily="34" charset="-122"/>
                <a:ea typeface="思源黑体" pitchFamily="34" charset="-122"/>
                <a:sym typeface="微软雅黑" panose="020B0503020204020204" pitchFamily="34" charset="-122"/>
              </a:endParaRPr>
            </a:p>
          </p:txBody>
        </p:sp>
        <p:sp>
          <p:nvSpPr>
            <p:cNvPr id="10" name="学党史感党恩跟党走"/>
            <p:cNvSpPr txBox="1"/>
            <p:nvPr/>
          </p:nvSpPr>
          <p:spPr>
            <a:xfrm>
              <a:off x="2278885" y="885440"/>
              <a:ext cx="975599" cy="960628"/>
            </a:xfrm>
            <a:prstGeom prst="rect">
              <a:avLst/>
            </a:prstGeom>
            <a:noFill/>
          </p:spPr>
          <p:txBody>
            <a:bodyPr wrap="square">
              <a:spAutoFit/>
            </a:bodyPr>
            <a:lstStyle/>
            <a:p>
              <a:pPr algn="ctr" fontAlgn="auto"/>
              <a:r>
                <a:rPr lang="zh-CN" altLang="en-US" sz="2800" b="1" noProof="1" smtClean="0">
                  <a:solidFill>
                    <a:schemeClr val="bg1"/>
                  </a:solidFill>
                  <a:latin typeface="思源黑体" pitchFamily="34" charset="-122"/>
                  <a:ea typeface="思源黑体" pitchFamily="34" charset="-122"/>
                  <a:sym typeface="微软雅黑" panose="020B0503020204020204" pitchFamily="34" charset="-122"/>
                </a:rPr>
                <a:t>第二部分</a:t>
              </a:r>
              <a:endParaRPr lang="zh-CN" altLang="en-US" sz="2800" b="1" noProof="1">
                <a:solidFill>
                  <a:schemeClr val="bg1"/>
                </a:solidFill>
                <a:latin typeface="思源黑体" pitchFamily="34" charset="-122"/>
                <a:ea typeface="思源黑体" pitchFamily="34" charset="-122"/>
                <a:sym typeface="微软雅黑" panose="020B0503020204020204" pitchFamily="34" charset="-122"/>
              </a:endParaRPr>
            </a:p>
          </p:txBody>
        </p:sp>
      </p:grpSp>
      <p:pic>
        <p:nvPicPr>
          <p:cNvPr id="11" name="图片 10"/>
          <p:cNvPicPr>
            <a:picLocks noChangeAspect="1"/>
          </p:cNvPicPr>
          <p:nvPr/>
        </p:nvPicPr>
        <p:blipFill rotWithShape="1">
          <a:blip r:embed="rId1" cstate="screen"/>
          <a:srcRect/>
          <a:stretch>
            <a:fillRect/>
          </a:stretch>
        </p:blipFill>
        <p:spPr>
          <a:xfrm flipH="1">
            <a:off x="5413177" y="1"/>
            <a:ext cx="3730823" cy="1836965"/>
          </a:xfrm>
          <a:prstGeom prst="rect">
            <a:avLst/>
          </a:prstGeom>
          <a:effectLst>
            <a:outerShdw blurRad="63500" sx="102000" sy="102000" algn="ctr" rotWithShape="0">
              <a:prstClr val="black">
                <a:alpha val="40000"/>
              </a:prstClr>
            </a:outerShdw>
          </a:effectLst>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45" y="267465"/>
            <a:ext cx="2637826" cy="12983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advClick="0" advTm="0">
        <p14:doors dir="ver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6*min(max(#ppt_w*#ppt_h,.3),1)-7.4)/-.7*#ppt_w"/>
                                          </p:val>
                                        </p:tav>
                                        <p:tav tm="100000">
                                          <p:val>
                                            <p:strVal val="#ppt_w"/>
                                          </p:val>
                                        </p:tav>
                                      </p:tavLst>
                                    </p:anim>
                                    <p:anim calcmode="lin" valueType="num">
                                      <p:cBhvr>
                                        <p:cTn id="8" dur="1000" fill="hold"/>
                                        <p:tgtEl>
                                          <p:spTgt spid="4"/>
                                        </p:tgtEl>
                                        <p:attrNameLst>
                                          <p:attrName>ppt_h</p:attrName>
                                        </p:attrNameLst>
                                      </p:cBhvr>
                                      <p:tavLst>
                                        <p:tav tm="0">
                                          <p:val>
                                            <p:strVal val="(6*min(max(#ppt_w*#ppt_h,.3),1)-7.4)/-.7*#ppt_h"/>
                                          </p:val>
                                        </p:tav>
                                        <p:tav tm="100000">
                                          <p:val>
                                            <p:strVal val="#ppt_h"/>
                                          </p:val>
                                        </p:tav>
                                      </p:tavLst>
                                    </p:anim>
                                    <p:anim calcmode="lin" valueType="num">
                                      <p:cBhvr>
                                        <p:cTn id="9" dur="1000" fill="hold"/>
                                        <p:tgtEl>
                                          <p:spTgt spid="4"/>
                                        </p:tgtEl>
                                        <p:attrNameLst>
                                          <p:attrName>ppt_x</p:attrName>
                                        </p:attrNameLst>
                                      </p:cBhvr>
                                      <p:tavLst>
                                        <p:tav tm="0">
                                          <p:val>
                                            <p:fltVal val="0.5"/>
                                          </p:val>
                                        </p:tav>
                                        <p:tav tm="100000">
                                          <p:val>
                                            <p:strVal val="#ppt_x"/>
                                          </p:val>
                                        </p:tav>
                                      </p:tavLst>
                                    </p:anim>
                                    <p:anim calcmode="lin" valueType="num">
                                      <p:cBhvr>
                                        <p:cTn id="10" dur="1000" fill="hold"/>
                                        <p:tgtEl>
                                          <p:spTgt spid="4"/>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ppt_x</p:attrName>
                                        </p:attrNameLst>
                                      </p:cBhvr>
                                      <p:tavLst>
                                        <p:tav tm="0">
                                          <p:val>
                                            <p:strVal val="0-#ppt_w/2"/>
                                          </p:val>
                                        </p:tav>
                                        <p:tav tm="100000">
                                          <p:val>
                                            <p:strVal val="#ppt_x"/>
                                          </p:val>
                                        </p:tav>
                                      </p:tavLst>
                                    </p:anim>
                                    <p:anim calcmode="lin" valueType="num">
                                      <p:cBhvr>
                                        <p:cTn id="15" dur="500" fill="hold"/>
                                        <p:tgtEl>
                                          <p:spTgt spid="7"/>
                                        </p:tgtEl>
                                        <p:attrNameLst>
                                          <p:attrName>ppt_y</p:attrName>
                                        </p:attrNameLst>
                                      </p:cBhvr>
                                      <p:tavLst>
                                        <p:tav tm="0">
                                          <p:val>
                                            <p:strVal val="#ppt_y"/>
                                          </p:val>
                                        </p:tav>
                                        <p:tav tm="100000">
                                          <p:val>
                                            <p:strVal val="#ppt_y"/>
                                          </p:val>
                                        </p:tav>
                                      </p:tavLst>
                                    </p:anim>
                                  </p:childTnLst>
                                </p:cTn>
                              </p:par>
                              <p:par>
                                <p:cTn id="16" presetID="14" presetClass="entr" presetSubtype="1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randombar(horizontal)">
                                      <p:cBhvr>
                                        <p:cTn id="18" dur="500"/>
                                        <p:tgtEl>
                                          <p:spTgt spid="11"/>
                                        </p:tgtEl>
                                      </p:cBhvr>
                                    </p:animEffect>
                                  </p:childTnLst>
                                </p:cTn>
                              </p:par>
                            </p:childTnLst>
                          </p:cTn>
                        </p:par>
                        <p:par>
                          <p:cTn id="19" fill="hold">
                            <p:stCondLst>
                              <p:cond delay="1500"/>
                            </p:stCondLst>
                            <p:childTnLst>
                              <p:par>
                                <p:cTn id="20" presetID="18" presetClass="entr" presetSubtype="3"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strips(upRight)">
                                      <p:cBhvr>
                                        <p:cTn id="2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
        <p:nvSpPr>
          <p:cNvPr id="11" name="学党史感党恩跟党走"/>
          <p:cNvSpPr/>
          <p:nvPr/>
        </p:nvSpPr>
        <p:spPr>
          <a:xfrm>
            <a:off x="1367030" y="1186549"/>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a:solidFill>
                  <a:schemeClr val="bg1"/>
                </a:solidFill>
                <a:latin typeface="思源黑体" pitchFamily="34" charset="-122"/>
                <a:ea typeface="思源黑体" pitchFamily="34" charset="-122"/>
              </a:rPr>
              <a:t>中国共产党第一次全国代表大会</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1835828"/>
            <a:ext cx="6651892" cy="2686818"/>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7" y="1931879"/>
            <a:ext cx="6499274" cy="2591984"/>
          </a:xfrm>
          <a:prstGeom prst="rect">
            <a:avLst/>
          </a:prstGeom>
          <a:noFill/>
          <a:ln w="9525">
            <a:noFill/>
            <a:miter lim="800000"/>
          </a:ln>
        </p:spPr>
        <p:txBody>
          <a:bodyPr lIns="87918" tIns="43959" rIns="87918" bIns="43959"/>
          <a:lstStyle/>
          <a:p>
            <a:pPr>
              <a:lnSpc>
                <a:spcPct val="150000"/>
              </a:lnSpc>
              <a:spcBef>
                <a:spcPct val="20000"/>
              </a:spcBef>
            </a:pPr>
            <a:r>
              <a:rPr lang="zh-CN" altLang="en-US" sz="1200" dirty="0">
                <a:latin typeface="宋体" panose="02010600030101010101" pitchFamily="2" charset="-122"/>
                <a:ea typeface="思源黑体" pitchFamily="34" charset="-122"/>
                <a:sym typeface="Arial" panose="020B0604020202020204" pitchFamily="34" charset="0"/>
              </a:rPr>
              <a:t>1921年7月23日，中国共产党第一次全国代表大会</a:t>
            </a:r>
            <a:r>
              <a:rPr lang="zh-CN" altLang="en-US" sz="1200" dirty="0">
                <a:ea typeface="思源黑体" pitchFamily="34" charset="-122"/>
              </a:rPr>
              <a:t>于1921年7月23日至31日在上海法租界贝勒路树德里3号召开，</a:t>
            </a:r>
            <a:r>
              <a:rPr lang="zh-CN" altLang="en-US" sz="1200" dirty="0">
                <a:latin typeface="宋体" panose="02010600030101010101" pitchFamily="2" charset="-122"/>
                <a:ea typeface="思源黑体" pitchFamily="34" charset="-122"/>
              </a:rPr>
              <a:t>最后一天的会议转移到浙江嘉兴南湖举行。大会确定党的名称为</a:t>
            </a:r>
            <a:r>
              <a:rPr lang="zh-CN" altLang="en-US" sz="1200" dirty="0">
                <a:ea typeface="思源黑体" pitchFamily="34" charset="-122"/>
              </a:rPr>
              <a:t>“</a:t>
            </a:r>
            <a:r>
              <a:rPr lang="zh-CN" altLang="en-US" sz="1200" dirty="0">
                <a:latin typeface="宋体" panose="02010600030101010101" pitchFamily="2" charset="-122"/>
                <a:ea typeface="思源黑体" pitchFamily="34" charset="-122"/>
              </a:rPr>
              <a:t>中国共产党</a:t>
            </a:r>
            <a:r>
              <a:rPr lang="zh-CN" altLang="en-US" sz="1200" dirty="0">
                <a:ea typeface="思源黑体" pitchFamily="34" charset="-122"/>
              </a:rPr>
              <a:t>”</a:t>
            </a:r>
            <a:r>
              <a:rPr lang="zh-CN" altLang="en-US" sz="1200" dirty="0">
                <a:latin typeface="宋体" panose="02010600030101010101" pitchFamily="2" charset="-122"/>
                <a:ea typeface="思源黑体" pitchFamily="34" charset="-122"/>
              </a:rPr>
              <a:t>。大会确定的党的纲领是</a:t>
            </a:r>
            <a:r>
              <a:rPr lang="zh-CN" altLang="en-US" sz="1200" dirty="0">
                <a:ea typeface="思源黑体" pitchFamily="34" charset="-122"/>
              </a:rPr>
              <a:t>“</a:t>
            </a:r>
            <a:r>
              <a:rPr lang="zh-CN" altLang="en-US" sz="1200" dirty="0">
                <a:latin typeface="宋体" panose="02010600030101010101" pitchFamily="2" charset="-122"/>
                <a:ea typeface="思源黑体" pitchFamily="34" charset="-122"/>
              </a:rPr>
              <a:t>革命军队必须与无产阶级一起推翻资本家阶级的政权</a:t>
            </a:r>
            <a:r>
              <a:rPr lang="zh-CN" altLang="en-US" sz="1200" dirty="0">
                <a:ea typeface="思源黑体" pitchFamily="34" charset="-122"/>
              </a:rPr>
              <a:t>”</a:t>
            </a:r>
            <a:r>
              <a:rPr lang="zh-CN" altLang="en-US" sz="1200" dirty="0">
                <a:latin typeface="宋体" panose="02010600030101010101" pitchFamily="2" charset="-122"/>
                <a:ea typeface="思源黑体" pitchFamily="34" charset="-122"/>
              </a:rPr>
              <a:t>，</a:t>
            </a:r>
            <a:r>
              <a:rPr lang="zh-CN" altLang="en-US" sz="1200" dirty="0">
                <a:ea typeface="思源黑体" pitchFamily="34" charset="-122"/>
              </a:rPr>
              <a:t>“</a:t>
            </a:r>
            <a:r>
              <a:rPr lang="zh-CN" altLang="en-US" sz="1200" dirty="0">
                <a:latin typeface="宋体" panose="02010600030101010101" pitchFamily="2" charset="-122"/>
                <a:ea typeface="思源黑体" pitchFamily="34" charset="-122"/>
              </a:rPr>
              <a:t>承认无产阶级专政，直到阶级斗争结束</a:t>
            </a:r>
            <a:r>
              <a:rPr lang="zh-CN" altLang="en-US" sz="1200" dirty="0">
                <a:ea typeface="思源黑体" pitchFamily="34" charset="-122"/>
              </a:rPr>
              <a:t>”</a:t>
            </a:r>
            <a:r>
              <a:rPr lang="zh-CN" altLang="en-US" sz="1200" dirty="0">
                <a:latin typeface="宋体" panose="02010600030101010101" pitchFamily="2" charset="-122"/>
                <a:ea typeface="思源黑体" pitchFamily="34" charset="-122"/>
              </a:rPr>
              <a:t>，</a:t>
            </a:r>
            <a:r>
              <a:rPr lang="zh-CN" altLang="en-US" sz="1200" dirty="0">
                <a:ea typeface="思源黑体" pitchFamily="34" charset="-122"/>
              </a:rPr>
              <a:t>“</a:t>
            </a:r>
            <a:r>
              <a:rPr lang="zh-CN" altLang="en-US" sz="1200" dirty="0">
                <a:latin typeface="宋体" panose="02010600030101010101" pitchFamily="2" charset="-122"/>
                <a:ea typeface="思源黑体" pitchFamily="34" charset="-122"/>
              </a:rPr>
              <a:t>消灭资本家私有制</a:t>
            </a:r>
            <a:r>
              <a:rPr lang="zh-CN" altLang="en-US" sz="1200" dirty="0">
                <a:ea typeface="思源黑体" pitchFamily="34" charset="-122"/>
              </a:rPr>
              <a:t>”</a:t>
            </a:r>
            <a:r>
              <a:rPr lang="zh-CN" altLang="en-US" sz="1200" dirty="0">
                <a:latin typeface="宋体" panose="02010600030101010101" pitchFamily="2" charset="-122"/>
                <a:ea typeface="思源黑体" pitchFamily="34" charset="-122"/>
              </a:rPr>
              <a:t>，以及联合第三国际。中国共产党的成立，适应了近代以来社会进步和革命发展的客观要求，是开天辟地的大事变。</a:t>
            </a:r>
            <a:r>
              <a:rPr lang="zh-CN" altLang="en-US" sz="1200" dirty="0">
                <a:latin typeface="微软雅黑" panose="020B0503020204020204" pitchFamily="34" charset="-122"/>
                <a:ea typeface="思源黑体" pitchFamily="34" charset="-122"/>
              </a:rPr>
              <a:t>出席者有：上海的李汉俊、李达；北京的张国焘、刘仁静；长沙的毛泽东、何叔衡；武汉的董必武、陈潭秋；济南的王尽美、邓恩铭；广州的陈公博；留日学者；周佛海以及陈独秀委派的包惠僧。代表全国</a:t>
            </a:r>
            <a:r>
              <a:rPr lang="en-US" altLang="zh-CN" sz="1200" dirty="0">
                <a:latin typeface="微软雅黑" panose="020B0503020204020204" pitchFamily="34" charset="-122"/>
                <a:ea typeface="思源黑体" pitchFamily="34" charset="-122"/>
              </a:rPr>
              <a:t>50</a:t>
            </a:r>
            <a:r>
              <a:rPr lang="zh-CN" altLang="en-US" sz="1200" dirty="0">
                <a:latin typeface="微软雅黑" panose="020B0503020204020204" pitchFamily="34" charset="-122"/>
                <a:ea typeface="思源黑体" pitchFamily="34" charset="-122"/>
              </a:rPr>
              <a:t>多名党员。陈独秀和李大钊因公务在身未出席会议，而在代表们心目中他们仍是党的主要创始人和领袖。</a:t>
            </a:r>
            <a:endParaRPr lang="zh-CN" altLang="en-US" sz="1200" dirty="0">
              <a:latin typeface="微软雅黑" panose="020B0503020204020204" pitchFamily="34" charset="-122"/>
              <a:ea typeface="思源黑体" pitchFamily="34"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学党史感党恩跟党走"/>
          <p:cNvSpPr/>
          <p:nvPr/>
        </p:nvSpPr>
        <p:spPr>
          <a:xfrm>
            <a:off x="1367030" y="1186549"/>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a:solidFill>
                  <a:schemeClr val="bg1"/>
                </a:solidFill>
                <a:latin typeface="思源黑体" pitchFamily="34" charset="-122"/>
                <a:ea typeface="思源黑体" pitchFamily="34" charset="-122"/>
              </a:rPr>
              <a:t>中国共产党第二次全国代表大会</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1835828"/>
            <a:ext cx="6651892" cy="2686818"/>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lnSpc>
                <a:spcPct val="150000"/>
              </a:lnSpc>
            </a:pP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95133" y="1917592"/>
            <a:ext cx="4315265" cy="2591984"/>
          </a:xfrm>
          <a:prstGeom prst="rect">
            <a:avLst/>
          </a:prstGeom>
          <a:noFill/>
          <a:ln w="9525">
            <a:noFill/>
            <a:miter lim="800000"/>
          </a:ln>
        </p:spPr>
        <p:txBody>
          <a:bodyPr lIns="87918" tIns="43959" rIns="87918" bIns="43959"/>
          <a:lstStyle/>
          <a:p>
            <a:pPr>
              <a:lnSpc>
                <a:spcPct val="150000"/>
              </a:lnSpc>
            </a:pPr>
            <a:r>
              <a:rPr lang="zh-CN" altLang="en-US" sz="1200" dirty="0">
                <a:latin typeface="思源黑体" pitchFamily="34" charset="-122"/>
                <a:ea typeface="思源黑体" pitchFamily="34" charset="-122"/>
              </a:rPr>
              <a:t>1922年7月16日至23日，中国共产党在上海南成路辅里625号召开了第二次全国代表大会</a:t>
            </a:r>
            <a:endParaRPr lang="zh-CN" altLang="en-US" sz="1200" dirty="0">
              <a:latin typeface="思源黑体" pitchFamily="34" charset="-122"/>
              <a:ea typeface="思源黑体" pitchFamily="34" charset="-122"/>
            </a:endParaRPr>
          </a:p>
          <a:p>
            <a:pPr algn="just" eaLnBrk="0" hangingPunct="0">
              <a:lnSpc>
                <a:spcPct val="150000"/>
              </a:lnSpc>
            </a:pPr>
            <a:r>
              <a:rPr lang="zh-CN" altLang="en-US" sz="1200" dirty="0">
                <a:latin typeface="思源黑体" pitchFamily="34" charset="-122"/>
                <a:ea typeface="思源黑体" pitchFamily="34" charset="-122"/>
              </a:rPr>
              <a:t>中心议题：进一步讨论和确定党在民主革命阶段的纲领。大会规定了党的最高纲领是实现共产主义；最低纲领是打倒军阀，推翻国际帝国主义的压迫，统一中国为真正的民主共和国，大会还指出了工人阶级、农民阶级、小资产阶级和民族资产阶级是民主革命的动力。历史意义：党就在中国近代革命史上第一次明确的提出了彻底反帝反封建的民主革命纲领，为中国各族人民的革命斗争指明了方向。</a:t>
            </a:r>
            <a:endParaRPr lang="zh-CN" altLang="en-US" sz="1200" dirty="0">
              <a:latin typeface="思源黑体" pitchFamily="34" charset="-122"/>
              <a:ea typeface="思源黑体" pitchFamily="34" charset="-122"/>
            </a:endParaRPr>
          </a:p>
        </p:txBody>
      </p:sp>
      <p:pic>
        <p:nvPicPr>
          <p:cNvPr id="6" name="学党史感党恩跟党走"/>
          <p:cNvPicPr>
            <a:picLocks noChangeAspect="1" noChangeArrowheads="1"/>
          </p:cNvPicPr>
          <p:nvPr/>
        </p:nvPicPr>
        <p:blipFill>
          <a:blip r:embed="rId1"/>
          <a:srcRect/>
          <a:stretch>
            <a:fillRect/>
          </a:stretch>
        </p:blipFill>
        <p:spPr bwMode="auto">
          <a:xfrm>
            <a:off x="5828128" y="2005306"/>
            <a:ext cx="2142229" cy="2510424"/>
          </a:xfrm>
          <a:prstGeom prst="rect">
            <a:avLst/>
          </a:prstGeom>
          <a:noFill/>
          <a:ln w="9525">
            <a:noFill/>
            <a:miter lim="800000"/>
            <a:headEnd/>
            <a:tailEnd/>
          </a:ln>
        </p:spPr>
      </p:pic>
      <p:sp>
        <p:nvSpPr>
          <p:cNvPr id="7"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par>
                                <p:cTn id="19" presetID="42" presetClass="entr" presetSubtype="0" fill="hold" nodeType="withEffect">
                                  <p:stCondLst>
                                    <p:cond delay="18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学党史感党恩跟党走"/>
          <p:cNvSpPr/>
          <p:nvPr/>
        </p:nvSpPr>
        <p:spPr>
          <a:xfrm>
            <a:off x="1367030" y="1186549"/>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a:solidFill>
                  <a:schemeClr val="bg1"/>
                </a:solidFill>
                <a:latin typeface="思源黑体" pitchFamily="34" charset="-122"/>
                <a:ea typeface="思源黑体" pitchFamily="34" charset="-122"/>
              </a:rPr>
              <a:t>中国共产党第三次全国代表大会</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1835828"/>
            <a:ext cx="6651892" cy="2686818"/>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7" y="1995844"/>
            <a:ext cx="6499274" cy="2591984"/>
          </a:xfrm>
          <a:prstGeom prst="rect">
            <a:avLst/>
          </a:prstGeom>
          <a:noFill/>
          <a:ln w="9525">
            <a:noFill/>
            <a:miter lim="800000"/>
          </a:ln>
        </p:spPr>
        <p:txBody>
          <a:bodyPr lIns="87918" tIns="43959" rIns="87918" bIns="43959"/>
          <a:lstStyle/>
          <a:p>
            <a:pPr>
              <a:lnSpc>
                <a:spcPct val="200000"/>
              </a:lnSpc>
            </a:pPr>
            <a:r>
              <a:rPr lang="zh-CN" altLang="en-US" sz="1200" dirty="0">
                <a:ea typeface="思源黑体" pitchFamily="34" charset="-122"/>
              </a:rPr>
              <a:t>1923年6月12日至20日，中国共产党在广州召开第三次全国代表大会。</a:t>
            </a:r>
            <a:endParaRPr lang="en-US" altLang="zh-CN" sz="1200" dirty="0">
              <a:ea typeface="思源黑体" pitchFamily="34" charset="-122"/>
            </a:endParaRPr>
          </a:p>
          <a:p>
            <a:pPr>
              <a:lnSpc>
                <a:spcPct val="200000"/>
              </a:lnSpc>
            </a:pPr>
            <a:r>
              <a:rPr lang="zh-CN" altLang="en-US" sz="1200" dirty="0">
                <a:ea typeface="思源黑体" pitchFamily="34" charset="-122"/>
              </a:rPr>
              <a:t>中心议题：大会的中心议题是国共合作的问题。</a:t>
            </a:r>
            <a:endParaRPr lang="zh-CN" altLang="en-US" sz="1200" dirty="0">
              <a:ea typeface="思源黑体" pitchFamily="34" charset="-122"/>
            </a:endParaRPr>
          </a:p>
          <a:p>
            <a:pPr>
              <a:lnSpc>
                <a:spcPct val="200000"/>
              </a:lnSpc>
            </a:pPr>
            <a:r>
              <a:rPr lang="zh-CN" altLang="en-US" sz="1200" dirty="0">
                <a:ea typeface="思源黑体" pitchFamily="34" charset="-122"/>
              </a:rPr>
              <a:t>历史意义：大会接受共产国际执委会关于在中国实行国共合作的决议，正确地分析了孙中山反对帝国主义和封建军阀的民主主义立场，以及把国民党改造为工人、农民、小资产阶级和资产阶级的民主革命联盟的可能性。党的“三大”关于实行国共合作的政策是正确的。它对于加速中国革命的步伐，促进反帝反封建的人民大革命的高潮，具有重大的意义。</a:t>
            </a:r>
            <a:endParaRPr lang="zh-CN" altLang="en-US" sz="1200" dirty="0">
              <a:ea typeface="思源黑体" pitchFamily="34" charset="-122"/>
            </a:endParaRPr>
          </a:p>
        </p:txBody>
      </p:sp>
      <p:sp>
        <p:nvSpPr>
          <p:cNvPr id="6"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学党史感党恩跟党走"/>
          <p:cNvSpPr/>
          <p:nvPr/>
        </p:nvSpPr>
        <p:spPr>
          <a:xfrm>
            <a:off x="1367030" y="1186549"/>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a:solidFill>
                  <a:schemeClr val="bg1"/>
                </a:solidFill>
                <a:latin typeface="思源黑体" pitchFamily="34" charset="-122"/>
                <a:ea typeface="思源黑体" pitchFamily="34" charset="-122"/>
              </a:rPr>
              <a:t>中国共产党第四次全国代表大会</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1835828"/>
            <a:ext cx="6651892" cy="2686818"/>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6" y="1881544"/>
            <a:ext cx="6499276" cy="2591984"/>
          </a:xfrm>
          <a:prstGeom prst="rect">
            <a:avLst/>
          </a:prstGeom>
          <a:noFill/>
          <a:ln w="9525">
            <a:noFill/>
            <a:miter lim="800000"/>
          </a:ln>
        </p:spPr>
        <p:txBody>
          <a:bodyPr lIns="87918" tIns="43959" rIns="87918" bIns="43959"/>
          <a:lstStyle/>
          <a:p>
            <a:pPr>
              <a:lnSpc>
                <a:spcPct val="200000"/>
              </a:lnSpc>
              <a:spcBef>
                <a:spcPct val="20000"/>
              </a:spcBef>
            </a:pPr>
            <a:r>
              <a:rPr lang="en-US" altLang="zh-CN" sz="1200" dirty="0">
                <a:latin typeface="微软雅黑" panose="020B0503020204020204" pitchFamily="34" charset="-122"/>
                <a:ea typeface="思源黑体" pitchFamily="34" charset="-122"/>
              </a:rPr>
              <a:t>1925</a:t>
            </a:r>
            <a:r>
              <a:rPr lang="zh-CN" altLang="en-US" sz="1200" dirty="0">
                <a:latin typeface="微软雅黑" panose="020B0503020204020204" pitchFamily="34" charset="-122"/>
                <a:ea typeface="思源黑体" pitchFamily="34" charset="-122"/>
              </a:rPr>
              <a:t>年</a:t>
            </a:r>
            <a:r>
              <a:rPr lang="en-US" altLang="zh-CN" sz="1200" dirty="0">
                <a:latin typeface="微软雅黑" panose="020B0503020204020204" pitchFamily="34" charset="-122"/>
                <a:ea typeface="思源黑体" pitchFamily="34" charset="-122"/>
              </a:rPr>
              <a:t>1</a:t>
            </a:r>
            <a:r>
              <a:rPr lang="zh-CN" altLang="en-US" sz="1200" dirty="0">
                <a:latin typeface="微软雅黑" panose="020B0503020204020204" pitchFamily="34" charset="-122"/>
                <a:ea typeface="思源黑体" pitchFamily="34" charset="-122"/>
              </a:rPr>
              <a:t>月</a:t>
            </a:r>
            <a:r>
              <a:rPr lang="en-US" altLang="zh-CN" sz="1200" dirty="0">
                <a:latin typeface="微软雅黑" panose="020B0503020204020204" pitchFamily="34" charset="-122"/>
                <a:ea typeface="思源黑体" pitchFamily="34" charset="-122"/>
              </a:rPr>
              <a:t>11</a:t>
            </a:r>
            <a:r>
              <a:rPr lang="zh-CN" altLang="en-US" sz="1200" dirty="0">
                <a:latin typeface="微软雅黑" panose="020B0503020204020204" pitchFamily="34" charset="-122"/>
                <a:ea typeface="思源黑体" pitchFamily="34" charset="-122"/>
              </a:rPr>
              <a:t>日至</a:t>
            </a:r>
            <a:r>
              <a:rPr lang="en-US" altLang="zh-CN" sz="1200" dirty="0">
                <a:latin typeface="微软雅黑" panose="020B0503020204020204" pitchFamily="34" charset="-122"/>
                <a:ea typeface="思源黑体" pitchFamily="34" charset="-122"/>
              </a:rPr>
              <a:t>22</a:t>
            </a:r>
            <a:r>
              <a:rPr lang="zh-CN" altLang="en-US" sz="1200" dirty="0">
                <a:latin typeface="微软雅黑" panose="020B0503020204020204" pitchFamily="34" charset="-122"/>
                <a:ea typeface="思源黑体" pitchFamily="34" charset="-122"/>
              </a:rPr>
              <a:t>日，中国共产党第四次全国代表大会在上海虹口的一栋石库门房里召开。出席大会的有陈独秀、蔡和森、瞿秋白、周恩来、彭述之、张太雷、陈潭秋、李维汉、李立三等</a:t>
            </a:r>
            <a:r>
              <a:rPr lang="en-US" altLang="zh-CN" sz="1200" dirty="0">
                <a:latin typeface="微软雅黑" panose="020B0503020204020204" pitchFamily="34" charset="-122"/>
                <a:ea typeface="思源黑体" pitchFamily="34" charset="-122"/>
              </a:rPr>
              <a:t>20</a:t>
            </a:r>
            <a:r>
              <a:rPr lang="zh-CN" altLang="en-US" sz="1200" dirty="0">
                <a:latin typeface="微软雅黑" panose="020B0503020204020204" pitchFamily="34" charset="-122"/>
                <a:ea typeface="思源黑体" pitchFamily="34" charset="-122"/>
              </a:rPr>
              <a:t>人，代表党员</a:t>
            </a:r>
            <a:r>
              <a:rPr lang="en-US" altLang="zh-CN" sz="1200" dirty="0">
                <a:latin typeface="微软雅黑" panose="020B0503020204020204" pitchFamily="34" charset="-122"/>
                <a:ea typeface="思源黑体" pitchFamily="34" charset="-122"/>
              </a:rPr>
              <a:t>994</a:t>
            </a:r>
            <a:r>
              <a:rPr lang="zh-CN" altLang="en-US" sz="1200" dirty="0">
                <a:latin typeface="微软雅黑" panose="020B0503020204020204" pitchFamily="34" charset="-122"/>
                <a:ea typeface="思源黑体" pitchFamily="34" charset="-122"/>
              </a:rPr>
              <a:t>人。共产国际代表维经斯基参加了大会。</a:t>
            </a:r>
            <a:endParaRPr lang="en-US" altLang="zh-CN" sz="1200" dirty="0">
              <a:latin typeface="微软雅黑" panose="020B0503020204020204" pitchFamily="34" charset="-122"/>
              <a:ea typeface="思源黑体" pitchFamily="34" charset="-122"/>
            </a:endParaRPr>
          </a:p>
          <a:p>
            <a:pPr>
              <a:lnSpc>
                <a:spcPct val="200000"/>
              </a:lnSpc>
              <a:spcBef>
                <a:spcPct val="20000"/>
              </a:spcBef>
            </a:pPr>
            <a:r>
              <a:rPr lang="zh-CN" altLang="en-US" sz="1200" dirty="0">
                <a:latin typeface="微软雅黑" panose="020B0503020204020204" pitchFamily="34" charset="-122"/>
                <a:ea typeface="思源黑体" pitchFamily="34" charset="-122"/>
              </a:rPr>
              <a:t>四大提出了无产阶级在民主革命中的领导权问题和工农联盟问题。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200" dirty="0">
              <a:latin typeface="微软雅黑" panose="020B0503020204020204" pitchFamily="34" charset="-122"/>
              <a:ea typeface="思源黑体" pitchFamily="34" charset="-122"/>
            </a:endParaRPr>
          </a:p>
        </p:txBody>
      </p:sp>
      <p:sp>
        <p:nvSpPr>
          <p:cNvPr id="6"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学党史感党恩跟党走"/>
          <p:cNvSpPr/>
          <p:nvPr/>
        </p:nvSpPr>
        <p:spPr>
          <a:xfrm>
            <a:off x="1367030" y="1186549"/>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a:solidFill>
                  <a:schemeClr val="bg1"/>
                </a:solidFill>
                <a:latin typeface="思源黑体" pitchFamily="34" charset="-122"/>
                <a:ea typeface="思源黑体" pitchFamily="34" charset="-122"/>
              </a:rPr>
              <a:t>中国共产党第五次全国代表大会</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1835828"/>
            <a:ext cx="6651892" cy="2686818"/>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6" y="1944850"/>
            <a:ext cx="6499276" cy="2591984"/>
          </a:xfrm>
          <a:prstGeom prst="rect">
            <a:avLst/>
          </a:prstGeom>
          <a:noFill/>
          <a:ln w="9525">
            <a:noFill/>
            <a:miter lim="800000"/>
          </a:ln>
        </p:spPr>
        <p:txBody>
          <a:bodyPr lIns="87918" tIns="43959" rIns="87918" bIns="43959"/>
          <a:lstStyle/>
          <a:p>
            <a:pPr>
              <a:lnSpc>
                <a:spcPct val="200000"/>
              </a:lnSpc>
              <a:spcBef>
                <a:spcPct val="20000"/>
              </a:spcBef>
            </a:pPr>
            <a:r>
              <a:rPr lang="en-US" altLang="zh-CN" sz="1200" dirty="0">
                <a:latin typeface="微软雅黑" panose="020B0503020204020204" pitchFamily="34" charset="-122"/>
                <a:ea typeface="思源黑体" pitchFamily="34" charset="-122"/>
              </a:rPr>
              <a:t>1927</a:t>
            </a:r>
            <a:r>
              <a:rPr lang="zh-CN" altLang="en-US" sz="1200" dirty="0">
                <a:latin typeface="微软雅黑" panose="020B0503020204020204" pitchFamily="34" charset="-122"/>
                <a:ea typeface="思源黑体" pitchFamily="34" charset="-122"/>
              </a:rPr>
              <a:t>年</a:t>
            </a:r>
            <a:r>
              <a:rPr lang="en-US" altLang="zh-CN" sz="1200" dirty="0">
                <a:latin typeface="微软雅黑" panose="020B0503020204020204" pitchFamily="34" charset="-122"/>
                <a:ea typeface="思源黑体" pitchFamily="34" charset="-122"/>
              </a:rPr>
              <a:t>4</a:t>
            </a:r>
            <a:r>
              <a:rPr lang="zh-CN" altLang="en-US" sz="1200" dirty="0">
                <a:latin typeface="微软雅黑" panose="020B0503020204020204" pitchFamily="34" charset="-122"/>
                <a:ea typeface="思源黑体" pitchFamily="34" charset="-122"/>
              </a:rPr>
              <a:t>月</a:t>
            </a:r>
            <a:r>
              <a:rPr lang="en-US" altLang="zh-CN" sz="1200" dirty="0">
                <a:latin typeface="微软雅黑" panose="020B0503020204020204" pitchFamily="34" charset="-122"/>
                <a:ea typeface="思源黑体" pitchFamily="34" charset="-122"/>
              </a:rPr>
              <a:t>27</a:t>
            </a:r>
            <a:r>
              <a:rPr lang="zh-CN" altLang="en-US" sz="1200" dirty="0">
                <a:latin typeface="微软雅黑" panose="020B0503020204020204" pitchFamily="34" charset="-122"/>
                <a:ea typeface="思源黑体" pitchFamily="34" charset="-122"/>
              </a:rPr>
              <a:t>日至</a:t>
            </a:r>
            <a:r>
              <a:rPr lang="en-US" altLang="zh-CN" sz="1200" dirty="0">
                <a:latin typeface="微软雅黑" panose="020B0503020204020204" pitchFamily="34" charset="-122"/>
                <a:ea typeface="思源黑体" pitchFamily="34" charset="-122"/>
              </a:rPr>
              <a:t>5</a:t>
            </a:r>
            <a:r>
              <a:rPr lang="zh-CN" altLang="en-US" sz="1200" dirty="0">
                <a:latin typeface="微软雅黑" panose="020B0503020204020204" pitchFamily="34" charset="-122"/>
                <a:ea typeface="思源黑体" pitchFamily="34" charset="-122"/>
              </a:rPr>
              <a:t>月</a:t>
            </a:r>
            <a:r>
              <a:rPr lang="en-US" altLang="zh-CN" sz="1200" dirty="0">
                <a:latin typeface="微软雅黑" panose="020B0503020204020204" pitchFamily="34" charset="-122"/>
                <a:ea typeface="思源黑体" pitchFamily="34" charset="-122"/>
              </a:rPr>
              <a:t>9</a:t>
            </a:r>
            <a:r>
              <a:rPr lang="zh-CN" altLang="en-US" sz="1200" dirty="0">
                <a:latin typeface="微软雅黑" panose="020B0503020204020204" pitchFamily="34" charset="-122"/>
                <a:ea typeface="思源黑体" pitchFamily="34" charset="-122"/>
              </a:rPr>
              <a:t>日，中国共产党第五次全国代表大会在武汉召开。这次代表大会是在大革命的紧急关头召开的。中共五大虽然批判了陈独秀的右倾错误，但对争夺革命领导权所迫切需要解决的重大问题，如改造武汉国民党、改造武汉国民政府、组织和扩大党对革命武装的领导等问题，均未作出切合实际的回答。大会对陈独秀右倾投降主义的实质和危害也缺乏深刻的认识。陈独秀虽然作了一些检查，但没有真正改正错误。因此，五大实际上并未解决挽救时局的问题。</a:t>
            </a:r>
            <a:endParaRPr lang="zh-CN" altLang="en-US" sz="1200" dirty="0">
              <a:latin typeface="微软雅黑" panose="020B0503020204020204" pitchFamily="34" charset="-122"/>
              <a:ea typeface="思源黑体" pitchFamily="34" charset="-122"/>
            </a:endParaRPr>
          </a:p>
        </p:txBody>
      </p:sp>
      <p:sp>
        <p:nvSpPr>
          <p:cNvPr id="6"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学党史感党恩跟党走"/>
          <p:cNvSpPr/>
          <p:nvPr/>
        </p:nvSpPr>
        <p:spPr>
          <a:xfrm>
            <a:off x="1367030" y="1186549"/>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a:solidFill>
                  <a:schemeClr val="bg1"/>
                </a:solidFill>
                <a:latin typeface="思源黑体" pitchFamily="34" charset="-122"/>
                <a:ea typeface="思源黑体" pitchFamily="34" charset="-122"/>
              </a:rPr>
              <a:t>中国共产党第六次全国代表大会</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1835828"/>
            <a:ext cx="6651892" cy="2686818"/>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lnSpc>
                <a:spcPct val="200000"/>
              </a:lnSpc>
            </a:pP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6" y="1881544"/>
            <a:ext cx="6499276" cy="2591984"/>
          </a:xfrm>
          <a:prstGeom prst="rect">
            <a:avLst/>
          </a:prstGeom>
          <a:noFill/>
          <a:ln w="9525">
            <a:noFill/>
            <a:miter lim="800000"/>
          </a:ln>
        </p:spPr>
        <p:txBody>
          <a:bodyPr lIns="87918" tIns="43959" rIns="87918" bIns="43959"/>
          <a:lstStyle/>
          <a:p>
            <a:pPr>
              <a:lnSpc>
                <a:spcPct val="200000"/>
              </a:lnSpc>
              <a:spcBef>
                <a:spcPct val="20000"/>
              </a:spcBef>
            </a:pPr>
            <a:r>
              <a:rPr lang="en-US" altLang="zh-CN" sz="1200" dirty="0">
                <a:latin typeface="微软雅黑" panose="020B0503020204020204" pitchFamily="34" charset="-122"/>
                <a:ea typeface="思源黑体" pitchFamily="34" charset="-122"/>
              </a:rPr>
              <a:t>1928</a:t>
            </a:r>
            <a:r>
              <a:rPr lang="zh-CN" altLang="en-US" sz="1200" dirty="0">
                <a:latin typeface="微软雅黑" panose="020B0503020204020204" pitchFamily="34" charset="-122"/>
                <a:ea typeface="思源黑体" pitchFamily="34" charset="-122"/>
              </a:rPr>
              <a:t>年</a:t>
            </a:r>
            <a:r>
              <a:rPr lang="en-US" altLang="zh-CN" sz="1200" dirty="0">
                <a:latin typeface="微软雅黑" panose="020B0503020204020204" pitchFamily="34" charset="-122"/>
                <a:ea typeface="思源黑体" pitchFamily="34" charset="-122"/>
              </a:rPr>
              <a:t>6</a:t>
            </a:r>
            <a:r>
              <a:rPr lang="zh-CN" altLang="en-US" sz="1200" dirty="0">
                <a:latin typeface="微软雅黑" panose="020B0503020204020204" pitchFamily="34" charset="-122"/>
                <a:ea typeface="思源黑体" pitchFamily="34" charset="-122"/>
              </a:rPr>
              <a:t>月</a:t>
            </a:r>
            <a:r>
              <a:rPr lang="en-US" altLang="zh-CN" sz="1200" dirty="0">
                <a:latin typeface="微软雅黑" panose="020B0503020204020204" pitchFamily="34" charset="-122"/>
                <a:ea typeface="思源黑体" pitchFamily="34" charset="-122"/>
              </a:rPr>
              <a:t>18</a:t>
            </a:r>
            <a:r>
              <a:rPr lang="zh-CN" altLang="en-US" sz="1200" dirty="0">
                <a:latin typeface="微软雅黑" panose="020B0503020204020204" pitchFamily="34" charset="-122"/>
                <a:ea typeface="思源黑体" pitchFamily="34" charset="-122"/>
              </a:rPr>
              <a:t>日至</a:t>
            </a:r>
            <a:r>
              <a:rPr lang="en-US" altLang="zh-CN" sz="1200" dirty="0">
                <a:latin typeface="微软雅黑" panose="020B0503020204020204" pitchFamily="34" charset="-122"/>
                <a:ea typeface="思源黑体" pitchFamily="34" charset="-122"/>
              </a:rPr>
              <a:t>7</a:t>
            </a:r>
            <a:r>
              <a:rPr lang="zh-CN" altLang="en-US" sz="1200" dirty="0">
                <a:latin typeface="微软雅黑" panose="020B0503020204020204" pitchFamily="34" charset="-122"/>
                <a:ea typeface="思源黑体" pitchFamily="34" charset="-122"/>
              </a:rPr>
              <a:t>月</a:t>
            </a:r>
            <a:r>
              <a:rPr lang="en-US" altLang="zh-CN" sz="1200" dirty="0">
                <a:latin typeface="微软雅黑" panose="020B0503020204020204" pitchFamily="34" charset="-122"/>
                <a:ea typeface="思源黑体" pitchFamily="34" charset="-122"/>
              </a:rPr>
              <a:t>11</a:t>
            </a:r>
            <a:r>
              <a:rPr lang="zh-CN" altLang="en-US" sz="1200" dirty="0">
                <a:latin typeface="微软雅黑" panose="020B0503020204020204" pitchFamily="34" charset="-122"/>
                <a:ea typeface="思源黑体" pitchFamily="34" charset="-122"/>
              </a:rPr>
              <a:t>日，在共产国际的帮助下，中国共产党第六次全国代表大会在莫斯科召开。六大会址：莫斯科近郊兹维尼果罗德镇塞列布若耶别墅。</a:t>
            </a:r>
            <a:endParaRPr lang="en-US" altLang="zh-CN" sz="1200" dirty="0">
              <a:latin typeface="微软雅黑" panose="020B0503020204020204" pitchFamily="34" charset="-122"/>
              <a:ea typeface="思源黑体" pitchFamily="34" charset="-122"/>
            </a:endParaRPr>
          </a:p>
          <a:p>
            <a:pPr>
              <a:lnSpc>
                <a:spcPct val="200000"/>
              </a:lnSpc>
              <a:spcBef>
                <a:spcPct val="20000"/>
              </a:spcBef>
            </a:pPr>
            <a:r>
              <a:rPr lang="zh-CN" altLang="en-US" sz="1200" dirty="0">
                <a:latin typeface="微软雅黑" panose="020B0503020204020204" pitchFamily="34" charset="-122"/>
                <a:ea typeface="思源黑体" pitchFamily="34" charset="-122"/>
              </a:rPr>
              <a:t>大会制定了反对帝国主义和封建主义、实行土地革命、建立工农民主专政的革命纲领，并批判了“左”、右两种错误倾向。中共六大制定的路线基本是正确的，对后来中国革命的发展起了积极的作用。但这次会议也存在着缺点，特别是对中国革命的长期性和农村革命根据地的重要意义认识不足，这对中国革命的发展起了消极的影响。</a:t>
            </a:r>
            <a:endParaRPr lang="zh-CN" altLang="en-US" sz="1200" dirty="0">
              <a:latin typeface="微软雅黑" panose="020B0503020204020204" pitchFamily="34" charset="-122"/>
              <a:ea typeface="思源黑体" pitchFamily="34" charset="-122"/>
            </a:endParaRPr>
          </a:p>
        </p:txBody>
      </p:sp>
      <p:sp>
        <p:nvSpPr>
          <p:cNvPr id="6"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学党史感党恩跟党走"/>
          <p:cNvSpPr/>
          <p:nvPr/>
        </p:nvSpPr>
        <p:spPr>
          <a:xfrm>
            <a:off x="1367030" y="1186549"/>
            <a:ext cx="6672658" cy="404813"/>
          </a:xfrm>
          <a:prstGeom prst="roundRect">
            <a:avLst>
              <a:gd name="adj" fmla="val 0"/>
            </a:avLst>
          </a:prstGeom>
          <a:gradFill>
            <a:gsLst>
              <a:gs pos="90000">
                <a:srgbClr val="C00000"/>
              </a:gs>
              <a:gs pos="30000">
                <a:srgbClr val="FF3300"/>
              </a:gs>
            </a:gsLst>
            <a:lin ang="54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1434" tIns="25718" rIns="51434" bIns="25718" anchor="ctr"/>
          <a:lstStyle/>
          <a:p>
            <a:pPr algn="ctr">
              <a:defRPr/>
            </a:pPr>
            <a:r>
              <a:rPr lang="zh-CN" altLang="en-US" b="1" noProof="1">
                <a:solidFill>
                  <a:schemeClr val="bg1"/>
                </a:solidFill>
                <a:latin typeface="思源黑体" pitchFamily="34" charset="-122"/>
                <a:ea typeface="思源黑体" pitchFamily="34" charset="-122"/>
              </a:rPr>
              <a:t>中国共产党第七次全国代表大会</a:t>
            </a:r>
            <a:endParaRPr lang="zh-CN" altLang="en-US" b="1" noProof="1">
              <a:solidFill>
                <a:schemeClr val="bg1"/>
              </a:solidFill>
              <a:latin typeface="思源黑体" pitchFamily="34" charset="-122"/>
              <a:ea typeface="思源黑体" pitchFamily="34" charset="-122"/>
            </a:endParaRPr>
          </a:p>
        </p:txBody>
      </p:sp>
      <p:sp>
        <p:nvSpPr>
          <p:cNvPr id="20" name="学党史感党恩跟党走"/>
          <p:cNvSpPr/>
          <p:nvPr/>
        </p:nvSpPr>
        <p:spPr>
          <a:xfrm>
            <a:off x="1392702" y="1835828"/>
            <a:ext cx="6651892" cy="2686818"/>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6" y="1987054"/>
            <a:ext cx="6499276" cy="2591984"/>
          </a:xfrm>
          <a:prstGeom prst="rect">
            <a:avLst/>
          </a:prstGeom>
          <a:noFill/>
          <a:ln w="9525">
            <a:noFill/>
            <a:miter lim="800000"/>
          </a:ln>
        </p:spPr>
        <p:txBody>
          <a:bodyPr lIns="87918" tIns="43959" rIns="87918" bIns="43959"/>
          <a:lstStyle/>
          <a:p>
            <a:pPr>
              <a:lnSpc>
                <a:spcPct val="150000"/>
              </a:lnSpc>
            </a:pPr>
            <a:r>
              <a:rPr lang="en-US" altLang="zh-CN" sz="1200" dirty="0">
                <a:latin typeface="微软雅黑" panose="020B0503020204020204" pitchFamily="34" charset="-122"/>
                <a:ea typeface="思源黑体" pitchFamily="34" charset="-122"/>
                <a:sym typeface="Arial" panose="020B0604020202020204" pitchFamily="34" charset="0"/>
              </a:rPr>
              <a:t>1945</a:t>
            </a:r>
            <a:r>
              <a:rPr lang="zh-CN" altLang="en-US" sz="1200" dirty="0">
                <a:latin typeface="微软雅黑" panose="020B0503020204020204" pitchFamily="34" charset="-122"/>
                <a:ea typeface="思源黑体" pitchFamily="34" charset="-122"/>
                <a:sym typeface="Arial" panose="020B0604020202020204" pitchFamily="34" charset="0"/>
              </a:rPr>
              <a:t>年</a:t>
            </a:r>
            <a:r>
              <a:rPr lang="en-US" altLang="zh-CN" sz="1200" dirty="0">
                <a:latin typeface="微软雅黑" panose="020B0503020204020204" pitchFamily="34" charset="-122"/>
                <a:ea typeface="思源黑体" pitchFamily="34" charset="-122"/>
                <a:sym typeface="Arial" panose="020B0604020202020204" pitchFamily="34" charset="0"/>
              </a:rPr>
              <a:t>4</a:t>
            </a:r>
            <a:r>
              <a:rPr lang="zh-CN" altLang="en-US" sz="1200" dirty="0">
                <a:latin typeface="微软雅黑" panose="020B0503020204020204" pitchFamily="34" charset="-122"/>
                <a:ea typeface="思源黑体" pitchFamily="34" charset="-122"/>
                <a:sym typeface="Arial" panose="020B0604020202020204" pitchFamily="34" charset="0"/>
              </a:rPr>
              <a:t>月</a:t>
            </a:r>
            <a:r>
              <a:rPr lang="en-US" altLang="zh-CN" sz="1200" dirty="0">
                <a:latin typeface="微软雅黑" panose="020B0503020204020204" pitchFamily="34" charset="-122"/>
                <a:ea typeface="思源黑体" pitchFamily="34" charset="-122"/>
                <a:sym typeface="Arial" panose="020B0604020202020204" pitchFamily="34" charset="0"/>
              </a:rPr>
              <a:t>23</a:t>
            </a:r>
            <a:r>
              <a:rPr lang="zh-CN" altLang="en-US" sz="1200" dirty="0">
                <a:latin typeface="微软雅黑" panose="020B0503020204020204" pitchFamily="34" charset="-122"/>
                <a:ea typeface="思源黑体" pitchFamily="34" charset="-122"/>
                <a:sym typeface="Arial" panose="020B0604020202020204" pitchFamily="34" charset="0"/>
              </a:rPr>
              <a:t>日至</a:t>
            </a:r>
            <a:r>
              <a:rPr lang="en-US" altLang="zh-CN" sz="1200" dirty="0">
                <a:latin typeface="微软雅黑" panose="020B0503020204020204" pitchFamily="34" charset="-122"/>
                <a:ea typeface="思源黑体" pitchFamily="34" charset="-122"/>
                <a:sym typeface="Arial" panose="020B0604020202020204" pitchFamily="34" charset="0"/>
              </a:rPr>
              <a:t>6</a:t>
            </a:r>
            <a:r>
              <a:rPr lang="zh-CN" altLang="en-US" sz="1200" dirty="0">
                <a:latin typeface="微软雅黑" panose="020B0503020204020204" pitchFamily="34" charset="-122"/>
                <a:ea typeface="思源黑体" pitchFamily="34" charset="-122"/>
                <a:sym typeface="Arial" panose="020B0604020202020204" pitchFamily="34" charset="0"/>
              </a:rPr>
              <a:t>月</a:t>
            </a:r>
            <a:r>
              <a:rPr lang="en-US" altLang="zh-CN" sz="1200" dirty="0">
                <a:latin typeface="微软雅黑" panose="020B0503020204020204" pitchFamily="34" charset="-122"/>
                <a:ea typeface="思源黑体" pitchFamily="34" charset="-122"/>
                <a:sym typeface="Arial" panose="020B0604020202020204" pitchFamily="34" charset="0"/>
              </a:rPr>
              <a:t>11</a:t>
            </a:r>
            <a:r>
              <a:rPr lang="zh-CN" altLang="en-US" sz="1200" dirty="0">
                <a:latin typeface="微软雅黑" panose="020B0503020204020204" pitchFamily="34" charset="-122"/>
                <a:ea typeface="思源黑体" pitchFamily="34" charset="-122"/>
                <a:sym typeface="Arial" panose="020B0604020202020204" pitchFamily="34" charset="0"/>
              </a:rPr>
              <a:t>日，中国共产党第七次全国代表大会在延安杨家岭中央大礼堂召开，历时</a:t>
            </a:r>
            <a:r>
              <a:rPr lang="en-US" altLang="zh-CN" sz="1200" dirty="0">
                <a:latin typeface="微软雅黑" panose="020B0503020204020204" pitchFamily="34" charset="-122"/>
                <a:ea typeface="思源黑体" pitchFamily="34" charset="-122"/>
                <a:sym typeface="Arial" panose="020B0604020202020204" pitchFamily="34" charset="0"/>
              </a:rPr>
              <a:t>50</a:t>
            </a:r>
            <a:r>
              <a:rPr lang="zh-CN" altLang="en-US" sz="1200" dirty="0">
                <a:latin typeface="微软雅黑" panose="020B0503020204020204" pitchFamily="34" charset="-122"/>
                <a:ea typeface="思源黑体" pitchFamily="34" charset="-122"/>
                <a:sym typeface="Arial" panose="020B0604020202020204" pitchFamily="34" charset="0"/>
              </a:rPr>
              <a:t>天。出席大会的正式代表</a:t>
            </a:r>
            <a:r>
              <a:rPr lang="en-US" altLang="zh-CN" sz="1200" dirty="0">
                <a:latin typeface="微软雅黑" panose="020B0503020204020204" pitchFamily="34" charset="-122"/>
                <a:ea typeface="思源黑体" pitchFamily="34" charset="-122"/>
                <a:sym typeface="Arial" panose="020B0604020202020204" pitchFamily="34" charset="0"/>
              </a:rPr>
              <a:t>547</a:t>
            </a:r>
            <a:r>
              <a:rPr lang="zh-CN" altLang="en-US" sz="1200" dirty="0">
                <a:latin typeface="微软雅黑" panose="020B0503020204020204" pitchFamily="34" charset="-122"/>
                <a:ea typeface="思源黑体" pitchFamily="34" charset="-122"/>
                <a:sym typeface="Arial" panose="020B0604020202020204" pitchFamily="34" charset="0"/>
              </a:rPr>
              <a:t>名，候补代表</a:t>
            </a:r>
            <a:r>
              <a:rPr lang="en-US" altLang="zh-CN" sz="1200" dirty="0">
                <a:latin typeface="微软雅黑" panose="020B0503020204020204" pitchFamily="34" charset="-122"/>
                <a:ea typeface="思源黑体" pitchFamily="34" charset="-122"/>
                <a:sym typeface="Arial" panose="020B0604020202020204" pitchFamily="34" charset="0"/>
              </a:rPr>
              <a:t>208</a:t>
            </a:r>
            <a:r>
              <a:rPr lang="zh-CN" altLang="en-US" sz="1200" dirty="0">
                <a:latin typeface="微软雅黑" panose="020B0503020204020204" pitchFamily="34" charset="-122"/>
                <a:ea typeface="思源黑体" pitchFamily="34" charset="-122"/>
                <a:sym typeface="Arial" panose="020B0604020202020204" pitchFamily="34" charset="0"/>
              </a:rPr>
              <a:t>名，共计</a:t>
            </a:r>
            <a:r>
              <a:rPr lang="en-US" altLang="zh-CN" sz="1200" dirty="0">
                <a:latin typeface="微软雅黑" panose="020B0503020204020204" pitchFamily="34" charset="-122"/>
                <a:ea typeface="思源黑体" pitchFamily="34" charset="-122"/>
                <a:sym typeface="Arial" panose="020B0604020202020204" pitchFamily="34" charset="0"/>
              </a:rPr>
              <a:t>755</a:t>
            </a:r>
            <a:r>
              <a:rPr lang="zh-CN" altLang="en-US" sz="1200" dirty="0">
                <a:latin typeface="微软雅黑" panose="020B0503020204020204" pitchFamily="34" charset="-122"/>
                <a:ea typeface="思源黑体" pitchFamily="34" charset="-122"/>
                <a:sym typeface="Arial" panose="020B0604020202020204" pitchFamily="34" charset="0"/>
              </a:rPr>
              <a:t>名，代表全国</a:t>
            </a:r>
            <a:r>
              <a:rPr lang="en-US" altLang="zh-CN" sz="1200" dirty="0">
                <a:latin typeface="微软雅黑" panose="020B0503020204020204" pitchFamily="34" charset="-122"/>
                <a:ea typeface="思源黑体" pitchFamily="34" charset="-122"/>
                <a:sym typeface="Arial" panose="020B0604020202020204" pitchFamily="34" charset="0"/>
              </a:rPr>
              <a:t>121</a:t>
            </a:r>
            <a:r>
              <a:rPr lang="zh-CN" altLang="en-US" sz="1200" dirty="0">
                <a:latin typeface="微软雅黑" panose="020B0503020204020204" pitchFamily="34" charset="-122"/>
                <a:ea typeface="思源黑体" pitchFamily="34" charset="-122"/>
                <a:sym typeface="Arial" panose="020B0604020202020204" pitchFamily="34" charset="0"/>
              </a:rPr>
              <a:t>万党员。</a:t>
            </a:r>
            <a:endParaRPr lang="en-US" altLang="zh-CN" sz="1200" dirty="0">
              <a:latin typeface="微软雅黑" panose="020B0503020204020204" pitchFamily="34" charset="-122"/>
              <a:ea typeface="思源黑体" pitchFamily="34" charset="-122"/>
              <a:sym typeface="Arial" panose="020B0604020202020204" pitchFamily="34" charset="0"/>
            </a:endParaRPr>
          </a:p>
          <a:p>
            <a:pPr>
              <a:lnSpc>
                <a:spcPct val="150000"/>
              </a:lnSpc>
            </a:pPr>
            <a:r>
              <a:rPr lang="zh-CN" altLang="en-US" sz="1200" dirty="0">
                <a:latin typeface="微软雅黑" panose="020B0503020204020204" pitchFamily="34" charset="-122"/>
                <a:ea typeface="思源黑体" pitchFamily="34" charset="-122"/>
              </a:rPr>
              <a:t>七大确立了毛泽东思想为全党的指导思想，这是七大做出的历史性贡献。大会把党在长期奋斗中形成的优良传统和作风概括为三大作风。即理论联系实际，密切联系群众，批评与自我批评。</a:t>
            </a:r>
            <a:endParaRPr lang="en-US" altLang="zh-CN" sz="1200" dirty="0">
              <a:latin typeface="微软雅黑" panose="020B0503020204020204" pitchFamily="34" charset="-122"/>
              <a:ea typeface="思源黑体" pitchFamily="34" charset="-122"/>
            </a:endParaRPr>
          </a:p>
          <a:p>
            <a:pPr>
              <a:lnSpc>
                <a:spcPct val="150000"/>
              </a:lnSpc>
            </a:pPr>
            <a:r>
              <a:rPr lang="zh-CN" altLang="en-US" sz="1200" dirty="0">
                <a:latin typeface="微软雅黑" panose="020B0503020204020204" pitchFamily="34" charset="-122"/>
                <a:ea typeface="思源黑体" pitchFamily="34" charset="-122"/>
              </a:rPr>
              <a:t>七大确立了毛泽东思想为全党的指导思想，这是七大做出的历史性贡献。大会把党在长期奋斗中形成的优良传统和作风概括为三大作风。即理论联系实际，密切联系群众，批评与自我批评。七大以后，我党团结和带领全国各阶层人民，经历了艰苦的解放战争，实现了中华民族的独立，建立了新中国，实现了新民生主义革命的胜利。</a:t>
            </a:r>
            <a:endParaRPr lang="zh-CN" altLang="en-US" sz="1200" dirty="0">
              <a:latin typeface="微软雅黑" panose="020B0503020204020204" pitchFamily="34" charset="-122"/>
              <a:ea typeface="思源黑体" pitchFamily="34" charset="-122"/>
            </a:endParaRPr>
          </a:p>
        </p:txBody>
      </p:sp>
      <p:sp>
        <p:nvSpPr>
          <p:cNvPr id="6"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2250"/>
                            </p:stCondLst>
                            <p:childTnLst>
                              <p:par>
                                <p:cTn id="11" presetID="21" presetClass="entr" presetSubtype="1"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heel(1)">
                                      <p:cBhvr>
                                        <p:cTn id="13" dur="2000"/>
                                        <p:tgtEl>
                                          <p:spTgt spid="20"/>
                                        </p:tgtEl>
                                      </p:cBhvr>
                                    </p:animEffect>
                                  </p:childTnLst>
                                </p:cTn>
                              </p:par>
                            </p:childTnLst>
                          </p:cTn>
                        </p:par>
                        <p:par>
                          <p:cTn id="14" fill="hold">
                            <p:stCondLst>
                              <p:cond delay="4250"/>
                            </p:stCondLst>
                            <p:childTnLst>
                              <p:par>
                                <p:cTn id="15" presetID="1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000"/>
                                        <p:tgtEl>
                                          <p:spTgt spid="21"/>
                                        </p:tgtEl>
                                        <p:attrNameLst>
                                          <p:attrName>ppt_y</p:attrName>
                                        </p:attrNameLst>
                                      </p:cBhvr>
                                      <p:tavLst>
                                        <p:tav tm="0">
                                          <p:val>
                                            <p:strVal val="#ppt_y+#ppt_h*1.125000"/>
                                          </p:val>
                                        </p:tav>
                                        <p:tav tm="100000">
                                          <p:val>
                                            <p:strVal val="#ppt_y"/>
                                          </p:val>
                                        </p:tav>
                                      </p:tavLst>
                                    </p:anim>
                                    <p:animEffect transition="in" filter="wipe(up)">
                                      <p:cBhvr>
                                        <p:cTn id="18"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animBg="1"/>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392702" y="1835828"/>
            <a:ext cx="665189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lnSpc>
                <a:spcPct val="200000"/>
              </a:lnSpc>
            </a:pP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6" y="1849891"/>
            <a:ext cx="6499276" cy="2591984"/>
          </a:xfrm>
          <a:prstGeom prst="rect">
            <a:avLst/>
          </a:prstGeom>
          <a:noFill/>
          <a:ln w="9525">
            <a:noFill/>
            <a:miter lim="800000"/>
          </a:ln>
        </p:spPr>
        <p:txBody>
          <a:bodyPr lIns="87918" tIns="43959" rIns="87918" bIns="43959"/>
          <a:lstStyle/>
          <a:p>
            <a:pPr>
              <a:lnSpc>
                <a:spcPct val="200000"/>
              </a:lnSpc>
            </a:pPr>
            <a:r>
              <a:rPr lang="en-US" altLang="zh-CN" sz="1200" dirty="0">
                <a:latin typeface="思源黑体" pitchFamily="34" charset="-122"/>
                <a:ea typeface="思源黑体" pitchFamily="34" charset="-122"/>
                <a:sym typeface="Arial" panose="020B0604020202020204" pitchFamily="34" charset="0"/>
              </a:rPr>
              <a:t>1956</a:t>
            </a:r>
            <a:r>
              <a:rPr lang="zh-CN" altLang="en-US" sz="1200" dirty="0">
                <a:latin typeface="思源黑体" pitchFamily="34" charset="-122"/>
                <a:ea typeface="思源黑体" pitchFamily="34" charset="-122"/>
                <a:sym typeface="Arial" panose="020B0604020202020204" pitchFamily="34" charset="0"/>
              </a:rPr>
              <a:t>年</a:t>
            </a:r>
            <a:r>
              <a:rPr lang="en-US" altLang="zh-CN" sz="1200" dirty="0">
                <a:latin typeface="思源黑体" pitchFamily="34" charset="-122"/>
                <a:ea typeface="思源黑体" pitchFamily="34" charset="-122"/>
                <a:sym typeface="Arial" panose="020B0604020202020204" pitchFamily="34" charset="0"/>
              </a:rPr>
              <a:t>9</a:t>
            </a:r>
            <a:r>
              <a:rPr lang="zh-CN" altLang="en-US" sz="1200" dirty="0">
                <a:latin typeface="思源黑体" pitchFamily="34" charset="-122"/>
                <a:ea typeface="思源黑体" pitchFamily="34" charset="-122"/>
                <a:sym typeface="Arial" panose="020B0604020202020204" pitchFamily="34" charset="0"/>
              </a:rPr>
              <a:t>月</a:t>
            </a:r>
            <a:r>
              <a:rPr lang="en-US" altLang="zh-CN" sz="1200" dirty="0">
                <a:latin typeface="思源黑体" pitchFamily="34" charset="-122"/>
                <a:ea typeface="思源黑体" pitchFamily="34" charset="-122"/>
                <a:sym typeface="Arial" panose="020B0604020202020204" pitchFamily="34" charset="0"/>
              </a:rPr>
              <a:t>15</a:t>
            </a:r>
            <a:r>
              <a:rPr lang="zh-CN" altLang="en-US" sz="1200" dirty="0">
                <a:latin typeface="思源黑体" pitchFamily="34" charset="-122"/>
                <a:ea typeface="思源黑体" pitchFamily="34" charset="-122"/>
                <a:sym typeface="Arial" panose="020B0604020202020204" pitchFamily="34" charset="0"/>
              </a:rPr>
              <a:t>日～</a:t>
            </a:r>
            <a:r>
              <a:rPr lang="en-US" altLang="zh-CN" sz="1200" dirty="0">
                <a:latin typeface="思源黑体" pitchFamily="34" charset="-122"/>
                <a:ea typeface="思源黑体" pitchFamily="34" charset="-122"/>
                <a:sym typeface="Arial" panose="020B0604020202020204" pitchFamily="34" charset="0"/>
              </a:rPr>
              <a:t>27</a:t>
            </a:r>
            <a:r>
              <a:rPr lang="zh-CN" altLang="en-US" sz="1200" dirty="0">
                <a:latin typeface="思源黑体" pitchFamily="34" charset="-122"/>
                <a:ea typeface="思源黑体" pitchFamily="34" charset="-122"/>
                <a:sym typeface="Arial" panose="020B0604020202020204" pitchFamily="34" charset="0"/>
              </a:rPr>
              <a:t>日在北京举行。</a:t>
            </a:r>
            <a:endParaRPr lang="en-US" altLang="zh-CN" sz="1200" dirty="0">
              <a:latin typeface="思源黑体" pitchFamily="34" charset="-122"/>
              <a:ea typeface="思源黑体" pitchFamily="34" charset="-122"/>
              <a:sym typeface="Arial" panose="020B0604020202020204" pitchFamily="34" charset="0"/>
            </a:endParaRPr>
          </a:p>
          <a:p>
            <a:pPr>
              <a:lnSpc>
                <a:spcPct val="200000"/>
              </a:lnSpc>
            </a:pPr>
            <a:r>
              <a:rPr lang="zh-CN" altLang="en-US" sz="1200" dirty="0">
                <a:latin typeface="思源黑体" pitchFamily="34" charset="-122"/>
                <a:ea typeface="思源黑体" pitchFamily="34" charset="-122"/>
                <a:sym typeface="Arial" panose="020B0604020202020204" pitchFamily="34" charset="0"/>
              </a:rPr>
              <a:t>八大正确分析了国内外形势和国内主要矛盾的变化，指出：由于社会主义改造已经取的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a:t>
            </a:r>
            <a:endParaRPr lang="zh-CN" altLang="en-US" sz="1200" dirty="0">
              <a:latin typeface="思源黑体" pitchFamily="34" charset="-122"/>
              <a:ea typeface="思源黑体" pitchFamily="34" charset="-122"/>
              <a:sym typeface="Arial" panose="020B0604020202020204" pitchFamily="34" charset="0"/>
            </a:endParaRPr>
          </a:p>
        </p:txBody>
      </p:sp>
      <p:grpSp>
        <p:nvGrpSpPr>
          <p:cNvPr id="2" name="学党史感党恩跟党走"/>
          <p:cNvGrpSpPr/>
          <p:nvPr/>
        </p:nvGrpSpPr>
        <p:grpSpPr bwMode="auto">
          <a:xfrm>
            <a:off x="1384127" y="1272251"/>
            <a:ext cx="3638041" cy="395305"/>
            <a:chOff x="935023" y="2360754"/>
            <a:chExt cx="1734606" cy="585430"/>
          </a:xfrm>
        </p:grpSpPr>
        <p:sp>
          <p:nvSpPr>
            <p:cNvPr id="7" name="学党史感党恩跟党走"/>
            <p:cNvSpPr/>
            <p:nvPr/>
          </p:nvSpPr>
          <p:spPr>
            <a:xfrm>
              <a:off x="935023" y="2360754"/>
              <a:ext cx="1734606" cy="585430"/>
            </a:xfrm>
            <a:prstGeom prst="homePlate">
              <a:avLst/>
            </a:prstGeom>
            <a:gradFill>
              <a:gsLst>
                <a:gs pos="89000">
                  <a:srgbClr val="C00000"/>
                </a:gs>
                <a:gs pos="35000">
                  <a:srgbClr val="FF3300"/>
                </a:gs>
              </a:gsLst>
              <a:lin ang="5400000" scaled="1"/>
            </a:gradFill>
            <a:ln>
              <a:gradFill flip="none" rotWithShape="1">
                <a:gsLst>
                  <a:gs pos="0">
                    <a:srgbClr val="FFF200"/>
                  </a:gs>
                  <a:gs pos="45000">
                    <a:srgbClr val="FF7A00"/>
                  </a:gs>
                  <a:gs pos="70000">
                    <a:srgbClr val="FF0300"/>
                  </a:gs>
                  <a:gs pos="100000">
                    <a:srgbClr val="4D0808"/>
                  </a:gs>
                </a:gsLst>
                <a:lin ang="8100000" scaled="1"/>
                <a:tileRect/>
              </a:gra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solidFill>
                  <a:srgbClr val="FFFF99"/>
                </a:solidFill>
                <a:effectLst>
                  <a:outerShdw blurRad="38100" dist="38100" dir="2700000" algn="tl">
                    <a:srgbClr val="000000">
                      <a:alpha val="43137"/>
                    </a:srgbClr>
                  </a:outerShdw>
                </a:effectLst>
                <a:latin typeface="思源黑体" pitchFamily="34" charset="-122"/>
                <a:ea typeface="思源黑体" pitchFamily="34" charset="-122"/>
              </a:endParaRPr>
            </a:p>
          </p:txBody>
        </p:sp>
        <p:sp>
          <p:nvSpPr>
            <p:cNvPr id="8" name="学党史感党恩跟党走"/>
            <p:cNvSpPr txBox="1"/>
            <p:nvPr/>
          </p:nvSpPr>
          <p:spPr>
            <a:xfrm>
              <a:off x="954203" y="2375374"/>
              <a:ext cx="1639967" cy="546965"/>
            </a:xfrm>
            <a:prstGeom prst="rect">
              <a:avLst/>
            </a:prstGeom>
          </p:spPr>
          <p:txBody>
            <a:bodyPr wrap="square">
              <a:spAutoFit/>
            </a:bodyPr>
            <a:lstStyle>
              <a:defPPr>
                <a:defRPr lang="zh-CN"/>
              </a:defPPr>
              <a:lvl1pPr fontAlgn="base">
                <a:spcBef>
                  <a:spcPct val="0"/>
                </a:spcBef>
                <a:spcAft>
                  <a:spcPct val="0"/>
                </a:spcAft>
                <a:defRPr sz="3200" b="1" kern="0" cap="all">
                  <a:ln w="0">
                    <a:noFill/>
                  </a:ln>
                  <a:gradFill>
                    <a:gsLst>
                      <a:gs pos="0">
                        <a:srgbClr val="FF0000">
                          <a:tint val="75000"/>
                          <a:shade val="75000"/>
                          <a:satMod val="170000"/>
                        </a:srgbClr>
                      </a:gs>
                      <a:gs pos="49000">
                        <a:srgbClr val="FF0000">
                          <a:tint val="88000"/>
                          <a:shade val="65000"/>
                          <a:satMod val="172000"/>
                        </a:srgbClr>
                      </a:gs>
                      <a:gs pos="50000">
                        <a:srgbClr val="FF0000">
                          <a:shade val="65000"/>
                          <a:satMod val="130000"/>
                        </a:srgbClr>
                      </a:gs>
                      <a:gs pos="92000">
                        <a:srgbClr val="FF0000">
                          <a:shade val="50000"/>
                          <a:satMod val="120000"/>
                        </a:srgbClr>
                      </a:gs>
                      <a:gs pos="100000">
                        <a:srgbClr val="FF0000">
                          <a:shade val="48000"/>
                          <a:satMod val="120000"/>
                        </a:srgbClr>
                      </a:gs>
                    </a:gsLst>
                    <a:lin ang="5400000" scaled="0"/>
                  </a:gradFill>
                  <a:effectLst/>
                  <a:latin typeface="微软雅黑" panose="020B0503020204020204" pitchFamily="34" charset="-122"/>
                  <a:ea typeface="微软雅黑" panose="020B0503020204020204" pitchFamily="34"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pPr>
                <a:defRPr/>
              </a:pPr>
              <a:r>
                <a:rPr lang="zh-CN" altLang="en-US" sz="1800" noProof="1" smtClean="0">
                  <a:solidFill>
                    <a:schemeClr val="bg1"/>
                  </a:solidFill>
                  <a:latin typeface="思源黑体" pitchFamily="34" charset="-122"/>
                  <a:ea typeface="思源黑体" pitchFamily="34" charset="-122"/>
                </a:rPr>
                <a:t>中国共产党第八次全国代表大会</a:t>
              </a:r>
              <a:endParaRPr lang="zh-CN" altLang="en-US" sz="1800" noProof="1">
                <a:solidFill>
                  <a:schemeClr val="bg1"/>
                </a:solidFill>
                <a:latin typeface="思源黑体" pitchFamily="34" charset="-122"/>
                <a:ea typeface="思源黑体" pitchFamily="34" charset="-122"/>
              </a:endParaRPr>
            </a:p>
          </p:txBody>
        </p:sp>
      </p:grpSp>
      <p:sp>
        <p:nvSpPr>
          <p:cNvPr id="9"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学党史感党恩跟党走"/>
          <p:cNvGrpSpPr/>
          <p:nvPr/>
        </p:nvGrpSpPr>
        <p:grpSpPr bwMode="auto">
          <a:xfrm>
            <a:off x="1384127" y="1272251"/>
            <a:ext cx="3638041" cy="395305"/>
            <a:chOff x="935023" y="2360754"/>
            <a:chExt cx="1734606" cy="585430"/>
          </a:xfrm>
        </p:grpSpPr>
        <p:sp>
          <p:nvSpPr>
            <p:cNvPr id="7" name="学党史感党恩跟党走"/>
            <p:cNvSpPr/>
            <p:nvPr/>
          </p:nvSpPr>
          <p:spPr>
            <a:xfrm>
              <a:off x="935023" y="2360754"/>
              <a:ext cx="1734606" cy="585430"/>
            </a:xfrm>
            <a:prstGeom prst="homePlate">
              <a:avLst/>
            </a:prstGeom>
            <a:gradFill>
              <a:gsLst>
                <a:gs pos="89000">
                  <a:srgbClr val="C00000"/>
                </a:gs>
                <a:gs pos="35000">
                  <a:srgbClr val="FF3300"/>
                </a:gs>
              </a:gsLst>
              <a:lin ang="5400000" scaled="1"/>
            </a:gradFill>
            <a:ln>
              <a:gradFill flip="none" rotWithShape="1">
                <a:gsLst>
                  <a:gs pos="0">
                    <a:srgbClr val="FFF200"/>
                  </a:gs>
                  <a:gs pos="45000">
                    <a:srgbClr val="FF7A00"/>
                  </a:gs>
                  <a:gs pos="70000">
                    <a:srgbClr val="FF0300"/>
                  </a:gs>
                  <a:gs pos="100000">
                    <a:srgbClr val="4D0808"/>
                  </a:gs>
                </a:gsLst>
                <a:lin ang="8100000" scaled="1"/>
                <a:tileRect/>
              </a:gra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solidFill>
                  <a:srgbClr val="FFFF99"/>
                </a:solidFill>
                <a:effectLst>
                  <a:outerShdw blurRad="38100" dist="38100" dir="2700000" algn="tl">
                    <a:srgbClr val="000000">
                      <a:alpha val="43137"/>
                    </a:srgbClr>
                  </a:outerShdw>
                </a:effectLst>
                <a:latin typeface="思源黑体" pitchFamily="34" charset="-122"/>
                <a:ea typeface="思源黑体" pitchFamily="34" charset="-122"/>
              </a:endParaRPr>
            </a:p>
          </p:txBody>
        </p:sp>
        <p:sp>
          <p:nvSpPr>
            <p:cNvPr id="8" name="学党史感党恩跟党走"/>
            <p:cNvSpPr txBox="1"/>
            <p:nvPr/>
          </p:nvSpPr>
          <p:spPr>
            <a:xfrm>
              <a:off x="954203" y="2375374"/>
              <a:ext cx="1639967" cy="546965"/>
            </a:xfrm>
            <a:prstGeom prst="rect">
              <a:avLst/>
            </a:prstGeom>
          </p:spPr>
          <p:txBody>
            <a:bodyPr wrap="square">
              <a:spAutoFit/>
            </a:bodyPr>
            <a:lstStyle>
              <a:defPPr>
                <a:defRPr lang="zh-CN"/>
              </a:defPPr>
              <a:lvl1pPr fontAlgn="base">
                <a:spcBef>
                  <a:spcPct val="0"/>
                </a:spcBef>
                <a:spcAft>
                  <a:spcPct val="0"/>
                </a:spcAft>
                <a:defRPr sz="3200" b="1" kern="0" cap="all">
                  <a:ln w="0">
                    <a:noFill/>
                  </a:ln>
                  <a:gradFill>
                    <a:gsLst>
                      <a:gs pos="0">
                        <a:srgbClr val="FF0000">
                          <a:tint val="75000"/>
                          <a:shade val="75000"/>
                          <a:satMod val="170000"/>
                        </a:srgbClr>
                      </a:gs>
                      <a:gs pos="49000">
                        <a:srgbClr val="FF0000">
                          <a:tint val="88000"/>
                          <a:shade val="65000"/>
                          <a:satMod val="172000"/>
                        </a:srgbClr>
                      </a:gs>
                      <a:gs pos="50000">
                        <a:srgbClr val="FF0000">
                          <a:shade val="65000"/>
                          <a:satMod val="130000"/>
                        </a:srgbClr>
                      </a:gs>
                      <a:gs pos="92000">
                        <a:srgbClr val="FF0000">
                          <a:shade val="50000"/>
                          <a:satMod val="120000"/>
                        </a:srgbClr>
                      </a:gs>
                      <a:gs pos="100000">
                        <a:srgbClr val="FF0000">
                          <a:shade val="48000"/>
                          <a:satMod val="120000"/>
                        </a:srgbClr>
                      </a:gs>
                    </a:gsLst>
                    <a:lin ang="5400000" scaled="0"/>
                  </a:gradFill>
                  <a:effectLst/>
                  <a:latin typeface="微软雅黑" panose="020B0503020204020204" pitchFamily="34" charset="-122"/>
                  <a:ea typeface="微软雅黑" panose="020B0503020204020204" pitchFamily="34"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pPr>
                <a:defRPr/>
              </a:pPr>
              <a:r>
                <a:rPr lang="zh-CN" altLang="en-US" sz="1800" noProof="1" smtClean="0">
                  <a:solidFill>
                    <a:schemeClr val="bg1"/>
                  </a:solidFill>
                  <a:latin typeface="思源黑体" pitchFamily="34" charset="-122"/>
                  <a:ea typeface="思源黑体" pitchFamily="34" charset="-122"/>
                </a:rPr>
                <a:t>中国共产党第九次全国代表大会</a:t>
              </a:r>
              <a:endParaRPr lang="zh-CN" altLang="en-US" sz="1800" noProof="1">
                <a:solidFill>
                  <a:schemeClr val="bg1"/>
                </a:solidFill>
                <a:latin typeface="思源黑体" pitchFamily="34" charset="-122"/>
                <a:ea typeface="思源黑体" pitchFamily="34" charset="-122"/>
              </a:endParaRPr>
            </a:p>
          </p:txBody>
        </p:sp>
      </p:grpSp>
      <p:sp>
        <p:nvSpPr>
          <p:cNvPr id="20" name="学党史感党恩跟党走"/>
          <p:cNvSpPr/>
          <p:nvPr/>
        </p:nvSpPr>
        <p:spPr>
          <a:xfrm>
            <a:off x="1392702" y="1835828"/>
            <a:ext cx="665189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6" y="1976503"/>
            <a:ext cx="6499276" cy="2591984"/>
          </a:xfrm>
          <a:prstGeom prst="rect">
            <a:avLst/>
          </a:prstGeom>
          <a:noFill/>
          <a:ln w="9525">
            <a:noFill/>
            <a:miter lim="800000"/>
          </a:ln>
        </p:spPr>
        <p:txBody>
          <a:bodyPr lIns="87918" tIns="43959" rIns="87918" bIns="43959"/>
          <a:lstStyle/>
          <a:p>
            <a:pPr eaLnBrk="0" hangingPunct="0"/>
            <a:r>
              <a:rPr lang="en-US" altLang="zh-CN" sz="1200" dirty="0">
                <a:latin typeface="思源黑体" pitchFamily="34" charset="-122"/>
                <a:ea typeface="思源黑体" pitchFamily="34" charset="-122"/>
              </a:rPr>
              <a:t>1969</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4</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a:t>
            </a:r>
            <a:r>
              <a:rPr lang="zh-CN" altLang="en-US" sz="1200" dirty="0">
                <a:latin typeface="思源黑体" pitchFamily="34" charset="-122"/>
                <a:ea typeface="思源黑体" pitchFamily="34" charset="-122"/>
              </a:rPr>
              <a:t>～</a:t>
            </a:r>
            <a:r>
              <a:rPr lang="en-US" altLang="zh-CN" sz="1200" dirty="0">
                <a:latin typeface="思源黑体" pitchFamily="34" charset="-122"/>
                <a:ea typeface="思源黑体" pitchFamily="34" charset="-122"/>
              </a:rPr>
              <a:t>24</a:t>
            </a:r>
            <a:r>
              <a:rPr lang="zh-CN" altLang="en-US" sz="1200" dirty="0">
                <a:latin typeface="思源黑体" pitchFamily="34" charset="-122"/>
                <a:ea typeface="思源黑体" pitchFamily="34" charset="-122"/>
              </a:rPr>
              <a:t>日在北京举行。</a:t>
            </a:r>
            <a:endParaRPr lang="en-US" altLang="zh-CN" sz="1200" dirty="0">
              <a:latin typeface="思源黑体" pitchFamily="34" charset="-122"/>
              <a:ea typeface="思源黑体" pitchFamily="34" charset="-122"/>
            </a:endParaRPr>
          </a:p>
          <a:p>
            <a:pPr>
              <a:lnSpc>
                <a:spcPct val="150000"/>
              </a:lnSpc>
              <a:spcBef>
                <a:spcPct val="20000"/>
              </a:spcBef>
            </a:pPr>
            <a:r>
              <a:rPr lang="zh-CN" altLang="en-US" sz="1200" dirty="0">
                <a:latin typeface="思源黑体" pitchFamily="34" charset="-122"/>
                <a:ea typeface="思源黑体" pitchFamily="34" charset="-122"/>
              </a:rPr>
              <a:t>党的九大通过的党章对毛泽东思想的表述：“毛泽东思想是帝国主义走向全面崩溃，社会主义在全世界走向胜利的时代的马克思列宁主义。”</a:t>
            </a:r>
            <a:endParaRPr lang="en-US" altLang="zh-CN" sz="1200" dirty="0">
              <a:latin typeface="思源黑体" pitchFamily="34" charset="-122"/>
              <a:ea typeface="思源黑体" pitchFamily="34" charset="-122"/>
            </a:endParaRPr>
          </a:p>
          <a:p>
            <a:pPr>
              <a:lnSpc>
                <a:spcPct val="150000"/>
              </a:lnSpc>
              <a:spcBef>
                <a:spcPct val="20000"/>
              </a:spcBef>
            </a:pPr>
            <a:r>
              <a:rPr lang="zh-CN" altLang="en-US" sz="1200" dirty="0">
                <a:latin typeface="思源黑体" pitchFamily="34" charset="-122"/>
                <a:ea typeface="思源黑体" pitchFamily="34" charset="-122"/>
              </a:rPr>
              <a:t>在</a:t>
            </a:r>
            <a:r>
              <a:rPr lang="en-US" altLang="zh-CN" sz="1200" dirty="0">
                <a:latin typeface="思源黑体" pitchFamily="34" charset="-122"/>
                <a:ea typeface="思源黑体" pitchFamily="34" charset="-122"/>
              </a:rPr>
              <a:t>1974</a:t>
            </a:r>
            <a:r>
              <a:rPr lang="zh-CN" altLang="en-US" sz="1200" dirty="0">
                <a:latin typeface="思源黑体" pitchFamily="34" charset="-122"/>
                <a:ea typeface="思源黑体" pitchFamily="34" charset="-122"/>
              </a:rPr>
              <a:t>年底到</a:t>
            </a:r>
            <a:r>
              <a:rPr lang="en-US" altLang="zh-CN" sz="1200" dirty="0">
                <a:latin typeface="思源黑体" pitchFamily="34" charset="-122"/>
                <a:ea typeface="思源黑体" pitchFamily="34" charset="-122"/>
              </a:rPr>
              <a:t>1975</a:t>
            </a:r>
            <a:r>
              <a:rPr lang="zh-CN" altLang="en-US" sz="1200" dirty="0">
                <a:latin typeface="思源黑体" pitchFamily="34" charset="-122"/>
                <a:ea typeface="思源黑体" pitchFamily="34" charset="-122"/>
              </a:rPr>
              <a:t>年初召开的全国人大三届一次会议上，周恩来同志在政府工作报告中，第一次郑重地向全国人民提出四个现代化的任务。</a:t>
            </a:r>
            <a:endParaRPr lang="zh-CN" altLang="en-US" sz="1200" dirty="0">
              <a:latin typeface="思源黑体" pitchFamily="34" charset="-122"/>
              <a:ea typeface="思源黑体" pitchFamily="34" charset="-122"/>
            </a:endParaRPr>
          </a:p>
          <a:p>
            <a:pPr>
              <a:lnSpc>
                <a:spcPct val="150000"/>
              </a:lnSpc>
              <a:spcBef>
                <a:spcPct val="20000"/>
              </a:spcBef>
            </a:pPr>
            <a:r>
              <a:rPr lang="zh-CN" altLang="en-US" sz="1200" dirty="0">
                <a:latin typeface="思源黑体" pitchFamily="34" charset="-122"/>
                <a:ea typeface="思源黑体" pitchFamily="34" charset="-122"/>
              </a:rPr>
              <a:t>但是在</a:t>
            </a:r>
            <a:r>
              <a:rPr lang="en-US" altLang="zh-CN" sz="1200" dirty="0">
                <a:latin typeface="思源黑体" pitchFamily="34" charset="-122"/>
                <a:ea typeface="思源黑体" pitchFamily="34" charset="-122"/>
              </a:rPr>
              <a:t>1979</a:t>
            </a:r>
            <a:r>
              <a:rPr lang="zh-CN" altLang="en-US" sz="1200" dirty="0">
                <a:latin typeface="思源黑体" pitchFamily="34" charset="-122"/>
                <a:ea typeface="思源黑体" pitchFamily="34" charset="-122"/>
              </a:rPr>
              <a:t>年召开的九大坚持“无产阶级专政下继续革命的理论”，使</a:t>
            </a:r>
            <a:r>
              <a:rPr lang="en-US" altLang="zh-CN" sz="1200" dirty="0">
                <a:latin typeface="思源黑体" pitchFamily="34" charset="-122"/>
                <a:ea typeface="思源黑体" pitchFamily="34" charset="-122"/>
              </a:rPr>
              <a:t>1976</a:t>
            </a:r>
            <a:r>
              <a:rPr lang="zh-CN" altLang="en-US" sz="1200" dirty="0">
                <a:latin typeface="思源黑体" pitchFamily="34" charset="-122"/>
                <a:ea typeface="思源黑体" pitchFamily="34" charset="-122"/>
              </a:rPr>
              <a:t>年开始的文化大革命的理论和实践合法化，在思想上、政治上、组织上的指导方针都是错误的。严格的说，九大是我党思想上的退步。</a:t>
            </a:r>
            <a:endParaRPr lang="zh-CN" altLang="en-US" sz="1200" dirty="0">
              <a:latin typeface="思源黑体" pitchFamily="34" charset="-122"/>
              <a:ea typeface="思源黑体" pitchFamily="34" charset="-122"/>
            </a:endParaRPr>
          </a:p>
        </p:txBody>
      </p:sp>
      <p:sp>
        <p:nvSpPr>
          <p:cNvPr id="9"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学党史感党恩跟党走"/>
          <p:cNvGrpSpPr/>
          <p:nvPr/>
        </p:nvGrpSpPr>
        <p:grpSpPr bwMode="auto">
          <a:xfrm>
            <a:off x="1384127" y="1272251"/>
            <a:ext cx="3638041" cy="395305"/>
            <a:chOff x="935023" y="2360754"/>
            <a:chExt cx="1734606" cy="585430"/>
          </a:xfrm>
        </p:grpSpPr>
        <p:sp>
          <p:nvSpPr>
            <p:cNvPr id="7" name="学党史感党恩跟党走"/>
            <p:cNvSpPr/>
            <p:nvPr/>
          </p:nvSpPr>
          <p:spPr>
            <a:xfrm>
              <a:off x="935023" y="2360754"/>
              <a:ext cx="1734606" cy="585430"/>
            </a:xfrm>
            <a:prstGeom prst="homePlate">
              <a:avLst/>
            </a:prstGeom>
            <a:gradFill>
              <a:gsLst>
                <a:gs pos="89000">
                  <a:srgbClr val="C00000"/>
                </a:gs>
                <a:gs pos="35000">
                  <a:srgbClr val="FF3300"/>
                </a:gs>
              </a:gsLst>
              <a:lin ang="5400000" scaled="1"/>
            </a:gradFill>
            <a:ln>
              <a:gradFill flip="none" rotWithShape="1">
                <a:gsLst>
                  <a:gs pos="0">
                    <a:srgbClr val="FFF200"/>
                  </a:gs>
                  <a:gs pos="45000">
                    <a:srgbClr val="FF7A00"/>
                  </a:gs>
                  <a:gs pos="70000">
                    <a:srgbClr val="FF0300"/>
                  </a:gs>
                  <a:gs pos="100000">
                    <a:srgbClr val="4D0808"/>
                  </a:gs>
                </a:gsLst>
                <a:lin ang="8100000" scaled="1"/>
                <a:tileRect/>
              </a:gra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solidFill>
                  <a:srgbClr val="FFFF99"/>
                </a:solidFill>
                <a:effectLst>
                  <a:outerShdw blurRad="38100" dist="38100" dir="2700000" algn="tl">
                    <a:srgbClr val="000000">
                      <a:alpha val="43137"/>
                    </a:srgbClr>
                  </a:outerShdw>
                </a:effectLst>
                <a:latin typeface="思源黑体" pitchFamily="34" charset="-122"/>
                <a:ea typeface="思源黑体" pitchFamily="34" charset="-122"/>
              </a:endParaRPr>
            </a:p>
          </p:txBody>
        </p:sp>
        <p:sp>
          <p:nvSpPr>
            <p:cNvPr id="8" name="学党史感党恩跟党走"/>
            <p:cNvSpPr txBox="1"/>
            <p:nvPr/>
          </p:nvSpPr>
          <p:spPr>
            <a:xfrm>
              <a:off x="954203" y="2375374"/>
              <a:ext cx="1639967" cy="546965"/>
            </a:xfrm>
            <a:prstGeom prst="rect">
              <a:avLst/>
            </a:prstGeom>
          </p:spPr>
          <p:txBody>
            <a:bodyPr wrap="square">
              <a:spAutoFit/>
            </a:bodyPr>
            <a:lstStyle>
              <a:defPPr>
                <a:defRPr lang="zh-CN"/>
              </a:defPPr>
              <a:lvl1pPr fontAlgn="base">
                <a:spcBef>
                  <a:spcPct val="0"/>
                </a:spcBef>
                <a:spcAft>
                  <a:spcPct val="0"/>
                </a:spcAft>
                <a:defRPr sz="3200" b="1" kern="0" cap="all">
                  <a:ln w="0">
                    <a:noFill/>
                  </a:ln>
                  <a:gradFill>
                    <a:gsLst>
                      <a:gs pos="0">
                        <a:srgbClr val="FF0000">
                          <a:tint val="75000"/>
                          <a:shade val="75000"/>
                          <a:satMod val="170000"/>
                        </a:srgbClr>
                      </a:gs>
                      <a:gs pos="49000">
                        <a:srgbClr val="FF0000">
                          <a:tint val="88000"/>
                          <a:shade val="65000"/>
                          <a:satMod val="172000"/>
                        </a:srgbClr>
                      </a:gs>
                      <a:gs pos="50000">
                        <a:srgbClr val="FF0000">
                          <a:shade val="65000"/>
                          <a:satMod val="130000"/>
                        </a:srgbClr>
                      </a:gs>
                      <a:gs pos="92000">
                        <a:srgbClr val="FF0000">
                          <a:shade val="50000"/>
                          <a:satMod val="120000"/>
                        </a:srgbClr>
                      </a:gs>
                      <a:gs pos="100000">
                        <a:srgbClr val="FF0000">
                          <a:shade val="48000"/>
                          <a:satMod val="120000"/>
                        </a:srgbClr>
                      </a:gs>
                    </a:gsLst>
                    <a:lin ang="5400000" scaled="0"/>
                  </a:gradFill>
                  <a:effectLst/>
                  <a:latin typeface="微软雅黑" panose="020B0503020204020204" pitchFamily="34" charset="-122"/>
                  <a:ea typeface="微软雅黑" panose="020B0503020204020204" pitchFamily="34"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pPr>
                <a:defRPr/>
              </a:pPr>
              <a:r>
                <a:rPr lang="zh-CN" altLang="en-US" sz="1800" noProof="1" smtClean="0">
                  <a:solidFill>
                    <a:schemeClr val="bg1"/>
                  </a:solidFill>
                  <a:latin typeface="思源黑体" pitchFamily="34" charset="-122"/>
                  <a:ea typeface="思源黑体" pitchFamily="34" charset="-122"/>
                </a:rPr>
                <a:t>中国共产党第十次全国代表大会</a:t>
              </a:r>
              <a:endParaRPr lang="zh-CN" altLang="en-US" sz="1800" noProof="1">
                <a:solidFill>
                  <a:schemeClr val="bg1"/>
                </a:solidFill>
                <a:latin typeface="思源黑体" pitchFamily="34" charset="-122"/>
                <a:ea typeface="思源黑体" pitchFamily="34" charset="-122"/>
              </a:endParaRPr>
            </a:p>
          </p:txBody>
        </p:sp>
      </p:grpSp>
      <p:sp>
        <p:nvSpPr>
          <p:cNvPr id="20" name="学党史感党恩跟党走"/>
          <p:cNvSpPr/>
          <p:nvPr/>
        </p:nvSpPr>
        <p:spPr>
          <a:xfrm>
            <a:off x="1392702" y="1835828"/>
            <a:ext cx="665189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466556" y="1976503"/>
            <a:ext cx="6499276" cy="2591984"/>
          </a:xfrm>
          <a:prstGeom prst="rect">
            <a:avLst/>
          </a:prstGeom>
          <a:noFill/>
          <a:ln w="9525">
            <a:noFill/>
            <a:miter lim="800000"/>
          </a:ln>
        </p:spPr>
        <p:txBody>
          <a:bodyPr lIns="87918" tIns="43959" rIns="87918" bIns="43959"/>
          <a:lstStyle/>
          <a:p>
            <a:pPr>
              <a:lnSpc>
                <a:spcPct val="150000"/>
              </a:lnSpc>
            </a:pPr>
            <a:r>
              <a:rPr lang="en-US" altLang="zh-CN" sz="1200" dirty="0">
                <a:latin typeface="思源黑体" pitchFamily="34" charset="-122"/>
                <a:ea typeface="思源黑体" pitchFamily="34" charset="-122"/>
                <a:sym typeface="Arial" panose="020B0604020202020204" pitchFamily="34" charset="0"/>
              </a:rPr>
              <a:t>1973</a:t>
            </a:r>
            <a:r>
              <a:rPr lang="zh-CN" altLang="en-US" sz="1200" dirty="0">
                <a:latin typeface="思源黑体" pitchFamily="34" charset="-122"/>
                <a:ea typeface="思源黑体" pitchFamily="34" charset="-122"/>
                <a:sym typeface="Arial" panose="020B0604020202020204" pitchFamily="34" charset="0"/>
              </a:rPr>
              <a:t>年</a:t>
            </a:r>
            <a:r>
              <a:rPr lang="en-US" altLang="zh-CN" sz="1200" dirty="0">
                <a:latin typeface="思源黑体" pitchFamily="34" charset="-122"/>
                <a:ea typeface="思源黑体" pitchFamily="34" charset="-122"/>
                <a:sym typeface="Arial" panose="020B0604020202020204" pitchFamily="34" charset="0"/>
              </a:rPr>
              <a:t>8</a:t>
            </a:r>
            <a:r>
              <a:rPr lang="zh-CN" altLang="en-US" sz="1200" dirty="0">
                <a:latin typeface="思源黑体" pitchFamily="34" charset="-122"/>
                <a:ea typeface="思源黑体" pitchFamily="34" charset="-122"/>
                <a:sym typeface="Arial" panose="020B0604020202020204" pitchFamily="34" charset="0"/>
              </a:rPr>
              <a:t>月</a:t>
            </a:r>
            <a:r>
              <a:rPr lang="en-US" altLang="zh-CN" sz="1200" dirty="0">
                <a:latin typeface="思源黑体" pitchFamily="34" charset="-122"/>
                <a:ea typeface="思源黑体" pitchFamily="34" charset="-122"/>
                <a:sym typeface="Arial" panose="020B0604020202020204" pitchFamily="34" charset="0"/>
              </a:rPr>
              <a:t>24</a:t>
            </a:r>
            <a:r>
              <a:rPr lang="zh-CN" altLang="en-US" sz="1200" dirty="0">
                <a:latin typeface="思源黑体" pitchFamily="34" charset="-122"/>
                <a:ea typeface="思源黑体" pitchFamily="34" charset="-122"/>
                <a:sym typeface="Arial" panose="020B0604020202020204" pitchFamily="34" charset="0"/>
              </a:rPr>
              <a:t>～</a:t>
            </a:r>
            <a:r>
              <a:rPr lang="en-US" altLang="zh-CN" sz="1200" dirty="0">
                <a:latin typeface="思源黑体" pitchFamily="34" charset="-122"/>
                <a:ea typeface="思源黑体" pitchFamily="34" charset="-122"/>
                <a:sym typeface="Arial" panose="020B0604020202020204" pitchFamily="34" charset="0"/>
              </a:rPr>
              <a:t>28</a:t>
            </a:r>
            <a:r>
              <a:rPr lang="zh-CN" altLang="en-US" sz="1200" dirty="0">
                <a:latin typeface="思源黑体" pitchFamily="34" charset="-122"/>
                <a:ea typeface="思源黑体" pitchFamily="34" charset="-122"/>
                <a:sym typeface="Arial" panose="020B0604020202020204" pitchFamily="34" charset="0"/>
              </a:rPr>
              <a:t>日在北京举行。</a:t>
            </a:r>
            <a:endParaRPr lang="en-US" altLang="zh-CN" sz="1200" dirty="0">
              <a:latin typeface="思源黑体" pitchFamily="34" charset="-122"/>
              <a:ea typeface="思源黑体" pitchFamily="34" charset="-122"/>
              <a:sym typeface="Arial" panose="020B0604020202020204" pitchFamily="34" charset="0"/>
            </a:endParaRPr>
          </a:p>
          <a:p>
            <a:pPr eaLnBrk="0" hangingPunct="0">
              <a:lnSpc>
                <a:spcPct val="150000"/>
              </a:lnSpc>
            </a:pPr>
            <a:r>
              <a:rPr lang="zh-CN" altLang="en-US" sz="1200" dirty="0">
                <a:latin typeface="思源黑体" pitchFamily="34" charset="-122"/>
                <a:ea typeface="思源黑体" pitchFamily="34" charset="-122"/>
              </a:rPr>
              <a:t>这次大会是在粉碎林彪反革命集团以后，周恩来主持中央日常工作，全国各方面形势有了好转的情况下召开的。</a:t>
            </a:r>
            <a:endParaRPr lang="en-US" altLang="zh-CN" sz="1200" dirty="0">
              <a:latin typeface="思源黑体" pitchFamily="34" charset="-122"/>
              <a:ea typeface="思源黑体" pitchFamily="34" charset="-122"/>
            </a:endParaRPr>
          </a:p>
          <a:p>
            <a:pPr eaLnBrk="0" hangingPunct="0">
              <a:lnSpc>
                <a:spcPct val="150000"/>
              </a:lnSpc>
            </a:pPr>
            <a:r>
              <a:rPr lang="zh-CN" altLang="en-US" sz="1200" dirty="0">
                <a:latin typeface="思源黑体" pitchFamily="34" charset="-122"/>
                <a:ea typeface="思源黑体" pitchFamily="34" charset="-122"/>
              </a:rPr>
              <a:t>大会通过了政治报告、关于修改党章的报告和</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中国共产党章程</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十大党章保留了九大党章中关于党的性质、指导思想、基本纲领、基本路线等内容，在结构上作了些调整，条文部分改的不多。总纲中只取消了有关林彪的论述和林彪的论点。值的指出的是，十大党章在“左”倾错误方面的新发展，主要是充实所谓两条路线斗争经验的内容，把“批判修正主义列为加强党的思想建设的长期任务”；片面提出“反潮流”原则，要求党员要具有反潮流的精神等。</a:t>
            </a:r>
            <a:endParaRPr lang="zh-CN" altLang="en-US" sz="1200" dirty="0">
              <a:latin typeface="思源黑体" pitchFamily="34" charset="-122"/>
              <a:ea typeface="思源黑体" pitchFamily="34" charset="-122"/>
            </a:endParaRPr>
          </a:p>
        </p:txBody>
      </p:sp>
      <p:sp>
        <p:nvSpPr>
          <p:cNvPr id="9"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2314576"/>
            <a:ext cx="5917195" cy="1928813"/>
          </a:xfrm>
          <a:prstGeom prst="rect">
            <a:avLst/>
          </a:prstGeom>
          <a:noFill/>
          <a:ln w="9525">
            <a:noFill/>
            <a:miter lim="800000"/>
          </a:ln>
        </p:spPr>
        <p:txBody>
          <a:bodyPr lIns="87918" tIns="43959" rIns="87918" bIns="43959"/>
          <a:lstStyle/>
          <a:p>
            <a:pPr eaLnBrk="0" hangingPunct="0">
              <a:lnSpc>
                <a:spcPct val="150000"/>
              </a:lnSpc>
            </a:pPr>
            <a:r>
              <a:rPr lang="en-US" altLang="zh-CN" sz="1200" dirty="0">
                <a:latin typeface="思源黑体" pitchFamily="34" charset="-122"/>
                <a:ea typeface="思源黑体" pitchFamily="34" charset="-122"/>
              </a:rPr>
              <a:t>1977</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8</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12</a:t>
            </a:r>
            <a:r>
              <a:rPr lang="zh-CN" altLang="en-US" sz="1200" dirty="0">
                <a:latin typeface="思源黑体" pitchFamily="34" charset="-122"/>
                <a:ea typeface="思源黑体" pitchFamily="34" charset="-122"/>
              </a:rPr>
              <a:t>～</a:t>
            </a:r>
            <a:r>
              <a:rPr lang="en-US" altLang="zh-CN" sz="1200" dirty="0">
                <a:latin typeface="思源黑体" pitchFamily="34" charset="-122"/>
                <a:ea typeface="思源黑体" pitchFamily="34" charset="-122"/>
              </a:rPr>
              <a:t>18</a:t>
            </a:r>
            <a:r>
              <a:rPr lang="zh-CN" altLang="en-US" sz="1200" dirty="0">
                <a:latin typeface="思源黑体" pitchFamily="34" charset="-122"/>
                <a:ea typeface="思源黑体" pitchFamily="34" charset="-122"/>
              </a:rPr>
              <a:t>日中国共产党第十一次全国代表大会在北京举行。</a:t>
            </a:r>
            <a:endParaRPr lang="en-US" altLang="zh-CN" sz="1200" dirty="0">
              <a:latin typeface="思源黑体" pitchFamily="34" charset="-122"/>
              <a:ea typeface="思源黑体" pitchFamily="34" charset="-122"/>
            </a:endParaRPr>
          </a:p>
          <a:p>
            <a:pPr>
              <a:lnSpc>
                <a:spcPct val="150000"/>
              </a:lnSpc>
              <a:spcBef>
                <a:spcPct val="20000"/>
              </a:spcBef>
            </a:pPr>
            <a:r>
              <a:rPr lang="en-US" altLang="zh-CN" sz="1200" dirty="0">
                <a:latin typeface="思源黑体" pitchFamily="34" charset="-122"/>
                <a:ea typeface="思源黑体" pitchFamily="34" charset="-122"/>
              </a:rPr>
              <a:t>1976</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10</a:t>
            </a:r>
            <a:r>
              <a:rPr lang="zh-CN" altLang="en-US" sz="1200" dirty="0">
                <a:latin typeface="思源黑体" pitchFamily="34" charset="-122"/>
                <a:ea typeface="思源黑体" pitchFamily="34" charset="-122"/>
              </a:rPr>
              <a:t>月粉碎“四人帮”，标志“文化大革命”十年内乱结束。</a:t>
            </a:r>
            <a:endParaRPr lang="zh-CN" altLang="en-US" sz="1200" dirty="0">
              <a:latin typeface="思源黑体" pitchFamily="34" charset="-122"/>
              <a:ea typeface="思源黑体" pitchFamily="34" charset="-122"/>
            </a:endParaRPr>
          </a:p>
          <a:p>
            <a:pPr>
              <a:lnSpc>
                <a:spcPct val="150000"/>
              </a:lnSpc>
              <a:spcBef>
                <a:spcPct val="20000"/>
              </a:spcBef>
            </a:pPr>
            <a:r>
              <a:rPr lang="zh-CN" altLang="en-US" sz="1200" dirty="0">
                <a:latin typeface="思源黑体" pitchFamily="34" charset="-122"/>
                <a:ea typeface="思源黑体" pitchFamily="34" charset="-122"/>
              </a:rPr>
              <a:t>华国锋主持大会并代表中共中央作政治报告，叶剑英作</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关于修改党的章程的报告</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邓小平致闭幕词。大会总结了同“四人帮”的斗争，宣告“文化大革命”已经结束，重申在本世纪内把我国建设成为社会主义现代化强国是新时期中国共产党的根本任务。从十一大起，党的全国代表大会每五年开一次。</a:t>
            </a:r>
            <a:endParaRPr lang="zh-CN" altLang="en-US" sz="1200" dirty="0">
              <a:latin typeface="思源黑体" pitchFamily="34" charset="-122"/>
              <a:ea typeface="思源黑体" pitchFamily="34"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第十一次全国人民代表大会</a:t>
              </a:r>
              <a:endParaRPr lang="zh-CN" altLang="en-US" b="1" noProof="1">
                <a:solidFill>
                  <a:schemeClr val="bg1"/>
                </a:solidFill>
                <a:latin typeface="思源黑体" pitchFamily="34" charset="-122"/>
                <a:ea typeface="思源黑体" pitchFamily="34" charset="-122"/>
              </a:endParaRPr>
            </a:p>
          </p:txBody>
        </p:sp>
      </p:gr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976503"/>
            <a:ext cx="5917195" cy="2591984"/>
          </a:xfrm>
          <a:prstGeom prst="rect">
            <a:avLst/>
          </a:prstGeom>
          <a:noFill/>
          <a:ln w="9525">
            <a:noFill/>
            <a:miter lim="800000"/>
          </a:ln>
        </p:spPr>
        <p:txBody>
          <a:bodyPr lIns="87918" tIns="43959" rIns="87918" bIns="43959"/>
          <a:lstStyle/>
          <a:p>
            <a:pPr eaLnBrk="0" hangingPunct="0"/>
            <a:r>
              <a:rPr lang="zh-CN" altLang="en-US" sz="1200" dirty="0">
                <a:latin typeface="思源黑体" pitchFamily="34" charset="-122"/>
                <a:ea typeface="思源黑体" pitchFamily="34" charset="-122"/>
              </a:rPr>
              <a:t>中国共产党第十二次全国代表大会</a:t>
            </a:r>
            <a:r>
              <a:rPr lang="en-US" altLang="zh-CN" sz="1200" dirty="0">
                <a:latin typeface="思源黑体" pitchFamily="34" charset="-122"/>
                <a:ea typeface="思源黑体" pitchFamily="34" charset="-122"/>
              </a:rPr>
              <a:t>1982</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9</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a:t>
            </a:r>
            <a:r>
              <a:rPr lang="zh-CN" altLang="en-US" sz="1200" dirty="0">
                <a:latin typeface="思源黑体" pitchFamily="34" charset="-122"/>
                <a:ea typeface="思源黑体" pitchFamily="34" charset="-122"/>
              </a:rPr>
              <a:t>～</a:t>
            </a:r>
            <a:r>
              <a:rPr lang="en-US" altLang="zh-CN" sz="1200" dirty="0">
                <a:latin typeface="思源黑体" pitchFamily="34" charset="-122"/>
                <a:ea typeface="思源黑体" pitchFamily="34" charset="-122"/>
              </a:rPr>
              <a:t>11</a:t>
            </a:r>
            <a:r>
              <a:rPr lang="zh-CN" altLang="en-US" sz="1200" dirty="0">
                <a:latin typeface="思源黑体" pitchFamily="34" charset="-122"/>
                <a:ea typeface="思源黑体" pitchFamily="34" charset="-122"/>
              </a:rPr>
              <a:t>日在北京举行。</a:t>
            </a:r>
            <a:endParaRPr lang="en-US" altLang="zh-CN" sz="1200" dirty="0">
              <a:latin typeface="思源黑体" pitchFamily="34" charset="-122"/>
              <a:ea typeface="思源黑体" pitchFamily="34" charset="-122"/>
            </a:endParaRPr>
          </a:p>
          <a:p>
            <a:pPr>
              <a:lnSpc>
                <a:spcPct val="150000"/>
              </a:lnSpc>
              <a:spcBef>
                <a:spcPct val="20000"/>
              </a:spcBef>
            </a:pPr>
            <a:r>
              <a:rPr lang="zh-CN" altLang="en-US" sz="1200" dirty="0">
                <a:latin typeface="思源黑体" pitchFamily="34" charset="-122"/>
                <a:ea typeface="思源黑体" pitchFamily="34" charset="-122"/>
              </a:rPr>
              <a:t>党的十二大通过的党章，对毛泽东思想的客观表述：“毛泽东思想是马克思列宁主义在中国的运用和发展，是被实践证明了的关于中国革命和建设的正确的理论原则和经验总结，是中国共产党集体智慧的结晶。”同时，邓小平在这次大会上第一次提出了“建设有中国特色的社会主义”的崭新命题。明确指出：“马克思主义的普遍真理同我国的具体实际结合起来，走自己的路，建设有中国特色的社会主义，这就是我们总结长期历史经验的出的基本结论。”</a:t>
            </a:r>
            <a:endParaRPr lang="zh-CN" altLang="en-US" sz="1200" dirty="0">
              <a:latin typeface="思源黑体" pitchFamily="34" charset="-122"/>
              <a:ea typeface="思源黑体" pitchFamily="34" charset="-122"/>
            </a:endParaRPr>
          </a:p>
          <a:p>
            <a:pPr>
              <a:lnSpc>
                <a:spcPct val="150000"/>
              </a:lnSpc>
              <a:spcBef>
                <a:spcPct val="20000"/>
              </a:spcBef>
            </a:pPr>
            <a:r>
              <a:rPr lang="zh-CN" altLang="en-US" sz="1200" dirty="0">
                <a:latin typeface="思源黑体" pitchFamily="34" charset="-122"/>
                <a:ea typeface="思源黑体" pitchFamily="34" charset="-122"/>
              </a:rPr>
              <a:t>十二大的召开，开创社会主义现代化建设新局面。</a:t>
            </a:r>
            <a:endParaRPr lang="zh-CN" altLang="en-US" sz="1200" dirty="0">
              <a:latin typeface="思源黑体" pitchFamily="34" charset="-122"/>
              <a:ea typeface="思源黑体" pitchFamily="34" charset="-122"/>
            </a:endParaRPr>
          </a:p>
          <a:p>
            <a:pPr>
              <a:lnSpc>
                <a:spcPct val="150000"/>
              </a:lnSpc>
              <a:spcBef>
                <a:spcPct val="20000"/>
              </a:spcBef>
            </a:pPr>
            <a:r>
              <a:rPr lang="zh-CN" altLang="en-US" sz="1200" dirty="0">
                <a:latin typeface="思源黑体" pitchFamily="34" charset="-122"/>
                <a:ea typeface="思源黑体" pitchFamily="34" charset="-122"/>
              </a:rPr>
              <a:t>从十二大起，党的全国代表大会每五年开一次。</a:t>
            </a:r>
            <a:endParaRPr lang="zh-CN" altLang="en-US" sz="1200" dirty="0">
              <a:latin typeface="思源黑体" pitchFamily="34" charset="-122"/>
              <a:ea typeface="思源黑体" pitchFamily="34"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第十二次全国人民代表大会</a:t>
              </a:r>
              <a:endParaRPr lang="zh-CN" altLang="en-US" b="1" noProof="1">
                <a:solidFill>
                  <a:schemeClr val="bg1"/>
                </a:solidFill>
                <a:latin typeface="思源黑体" pitchFamily="34" charset="-122"/>
                <a:ea typeface="思源黑体" pitchFamily="34" charset="-122"/>
              </a:endParaRPr>
            </a:p>
          </p:txBody>
        </p:sp>
      </p:gr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976503"/>
            <a:ext cx="5917195" cy="2591984"/>
          </a:xfrm>
          <a:prstGeom prst="rect">
            <a:avLst/>
          </a:prstGeom>
          <a:noFill/>
          <a:ln w="9525">
            <a:noFill/>
            <a:miter lim="800000"/>
          </a:ln>
        </p:spPr>
        <p:txBody>
          <a:bodyPr lIns="87918" tIns="43959" rIns="87918" bIns="43959"/>
          <a:lstStyle/>
          <a:p>
            <a:pPr>
              <a:lnSpc>
                <a:spcPct val="150000"/>
              </a:lnSpc>
            </a:pPr>
            <a:r>
              <a:rPr lang="zh-CN" altLang="en-US" sz="1200" dirty="0">
                <a:latin typeface="思源黑体" pitchFamily="34" charset="-122"/>
                <a:ea typeface="思源黑体" pitchFamily="34" charset="-122"/>
                <a:sym typeface="Arial" panose="020B0604020202020204" pitchFamily="34" charset="0"/>
              </a:rPr>
              <a:t>中国共产党第十三次全国代表大会</a:t>
            </a:r>
            <a:r>
              <a:rPr lang="en-US" altLang="zh-CN" sz="1200" dirty="0">
                <a:latin typeface="思源黑体" pitchFamily="34" charset="-122"/>
                <a:ea typeface="思源黑体" pitchFamily="34" charset="-122"/>
                <a:sym typeface="Arial" panose="020B0604020202020204" pitchFamily="34" charset="0"/>
              </a:rPr>
              <a:t>1987</a:t>
            </a:r>
            <a:r>
              <a:rPr lang="zh-CN" altLang="en-US" sz="1200" dirty="0">
                <a:latin typeface="思源黑体" pitchFamily="34" charset="-122"/>
                <a:ea typeface="思源黑体" pitchFamily="34" charset="-122"/>
                <a:sym typeface="Arial" panose="020B0604020202020204" pitchFamily="34" charset="0"/>
              </a:rPr>
              <a:t>年</a:t>
            </a:r>
            <a:r>
              <a:rPr lang="en-US" altLang="zh-CN" sz="1200" dirty="0">
                <a:latin typeface="思源黑体" pitchFamily="34" charset="-122"/>
                <a:ea typeface="思源黑体" pitchFamily="34" charset="-122"/>
                <a:sym typeface="Arial" panose="020B0604020202020204" pitchFamily="34" charset="0"/>
              </a:rPr>
              <a:t>10</a:t>
            </a:r>
            <a:r>
              <a:rPr lang="zh-CN" altLang="en-US" sz="1200" dirty="0">
                <a:latin typeface="思源黑体" pitchFamily="34" charset="-122"/>
                <a:ea typeface="思源黑体" pitchFamily="34" charset="-122"/>
                <a:sym typeface="Arial" panose="020B0604020202020204" pitchFamily="34" charset="0"/>
              </a:rPr>
              <a:t>月</a:t>
            </a:r>
            <a:r>
              <a:rPr lang="en-US" altLang="zh-CN" sz="1200" dirty="0">
                <a:latin typeface="思源黑体" pitchFamily="34" charset="-122"/>
                <a:ea typeface="思源黑体" pitchFamily="34" charset="-122"/>
                <a:sym typeface="Arial" panose="020B0604020202020204" pitchFamily="34" charset="0"/>
              </a:rPr>
              <a:t>25</a:t>
            </a:r>
            <a:r>
              <a:rPr lang="zh-CN" altLang="en-US" sz="1200" dirty="0">
                <a:latin typeface="思源黑体" pitchFamily="34" charset="-122"/>
                <a:ea typeface="思源黑体" pitchFamily="34" charset="-122"/>
                <a:sym typeface="Arial" panose="020B0604020202020204" pitchFamily="34" charset="0"/>
              </a:rPr>
              <a:t>日～</a:t>
            </a:r>
            <a:r>
              <a:rPr lang="en-US" altLang="zh-CN" sz="1200" dirty="0">
                <a:latin typeface="思源黑体" pitchFamily="34" charset="-122"/>
                <a:ea typeface="思源黑体" pitchFamily="34" charset="-122"/>
                <a:sym typeface="Arial" panose="020B0604020202020204" pitchFamily="34" charset="0"/>
              </a:rPr>
              <a:t>11</a:t>
            </a:r>
            <a:r>
              <a:rPr lang="zh-CN" altLang="en-US" sz="1200" dirty="0">
                <a:latin typeface="思源黑体" pitchFamily="34" charset="-122"/>
                <a:ea typeface="思源黑体" pitchFamily="34" charset="-122"/>
                <a:sym typeface="Arial" panose="020B0604020202020204" pitchFamily="34" charset="0"/>
              </a:rPr>
              <a:t>月１日在北京举行。</a:t>
            </a:r>
            <a:endParaRPr lang="en-US" altLang="zh-CN" sz="1200" dirty="0">
              <a:latin typeface="思源黑体" pitchFamily="34" charset="-122"/>
              <a:ea typeface="思源黑体" pitchFamily="34" charset="-122"/>
              <a:sym typeface="Arial" panose="020B0604020202020204" pitchFamily="34" charset="0"/>
            </a:endParaRPr>
          </a:p>
          <a:p>
            <a:pPr>
              <a:lnSpc>
                <a:spcPct val="150000"/>
              </a:lnSpc>
            </a:pPr>
            <a:r>
              <a:rPr lang="zh-CN" altLang="en-US" sz="1200" dirty="0">
                <a:latin typeface="思源黑体" pitchFamily="34" charset="-122"/>
                <a:ea typeface="思源黑体" pitchFamily="34" charset="-122"/>
                <a:sym typeface="Arial" panose="020B0604020202020204" pitchFamily="34" charset="0"/>
              </a:rPr>
              <a:t>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大会还制定了到</a:t>
            </a:r>
            <a:r>
              <a:rPr lang="en-US" altLang="zh-CN" sz="1200" dirty="0">
                <a:latin typeface="思源黑体" pitchFamily="34" charset="-122"/>
                <a:ea typeface="思源黑体" pitchFamily="34" charset="-122"/>
                <a:sym typeface="Arial" panose="020B0604020202020204" pitchFamily="34" charset="0"/>
              </a:rPr>
              <a:t>21</a:t>
            </a:r>
            <a:r>
              <a:rPr lang="zh-CN" altLang="en-US" sz="1200" dirty="0">
                <a:latin typeface="思源黑体" pitchFamily="34" charset="-122"/>
                <a:ea typeface="思源黑体" pitchFamily="34" charset="-122"/>
                <a:sym typeface="Arial" panose="020B0604020202020204" pitchFamily="34" charset="0"/>
              </a:rPr>
              <a:t>世纪中叶经济发展分三走、实现现代化的发展战略，并提出了政治体制改革的任务。</a:t>
            </a:r>
            <a:endParaRPr lang="zh-CN" altLang="en-US" sz="1200" dirty="0">
              <a:latin typeface="思源黑体" pitchFamily="34" charset="-122"/>
              <a:ea typeface="思源黑体" pitchFamily="34" charset="-122"/>
              <a:sym typeface="Arial" panose="020B0604020202020204" pitchFamily="34" charset="0"/>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第十三次全国人民代表大会</a:t>
              </a:r>
              <a:endParaRPr lang="zh-CN" altLang="en-US" b="1" noProof="1">
                <a:solidFill>
                  <a:schemeClr val="bg1"/>
                </a:solidFill>
                <a:latin typeface="思源黑体" pitchFamily="34" charset="-122"/>
                <a:ea typeface="思源黑体" pitchFamily="34" charset="-122"/>
              </a:endParaRPr>
            </a:p>
          </p:txBody>
        </p:sp>
      </p:gr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881544"/>
            <a:ext cx="4294022" cy="2591984"/>
          </a:xfrm>
          <a:prstGeom prst="rect">
            <a:avLst/>
          </a:prstGeom>
          <a:noFill/>
          <a:ln w="9525">
            <a:noFill/>
            <a:miter lim="800000"/>
          </a:ln>
        </p:spPr>
        <p:txBody>
          <a:bodyPr lIns="87918" tIns="43959" rIns="87918" bIns="43959"/>
          <a:lstStyle/>
          <a:p>
            <a:pPr eaLnBrk="0" hangingPunct="0">
              <a:lnSpc>
                <a:spcPct val="200000"/>
              </a:lnSpc>
            </a:pPr>
            <a:r>
              <a:rPr lang="zh-CN" altLang="en-US" sz="1200" dirty="0">
                <a:latin typeface="思源黑体" pitchFamily="34" charset="-122"/>
                <a:ea typeface="思源黑体" pitchFamily="34" charset="-122"/>
              </a:rPr>
              <a:t>中国共产党第十四次全国代表大会于</a:t>
            </a:r>
            <a:r>
              <a:rPr lang="en-US" altLang="zh-CN" sz="1200" dirty="0">
                <a:latin typeface="思源黑体" pitchFamily="34" charset="-122"/>
                <a:ea typeface="思源黑体" pitchFamily="34" charset="-122"/>
              </a:rPr>
              <a:t>1992</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10</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12</a:t>
            </a:r>
            <a:r>
              <a:rPr lang="zh-CN" altLang="en-US" sz="1200" dirty="0">
                <a:latin typeface="思源黑体" pitchFamily="34" charset="-122"/>
                <a:ea typeface="思源黑体" pitchFamily="34" charset="-122"/>
              </a:rPr>
              <a:t>～</a:t>
            </a:r>
            <a:r>
              <a:rPr lang="en-US" altLang="zh-CN" sz="1200" dirty="0">
                <a:latin typeface="思源黑体" pitchFamily="34" charset="-122"/>
                <a:ea typeface="思源黑体" pitchFamily="34" charset="-122"/>
              </a:rPr>
              <a:t>18</a:t>
            </a:r>
            <a:r>
              <a:rPr lang="zh-CN" altLang="en-US" sz="1200" dirty="0">
                <a:latin typeface="思源黑体" pitchFamily="34" charset="-122"/>
                <a:ea typeface="思源黑体" pitchFamily="34" charset="-122"/>
              </a:rPr>
              <a:t>日在北京举行。</a:t>
            </a:r>
            <a:r>
              <a:rPr lang="en-US" altLang="zh-CN" sz="1200" dirty="0">
                <a:latin typeface="思源黑体" pitchFamily="34" charset="-122"/>
                <a:ea typeface="思源黑体" pitchFamily="34" charset="-122"/>
              </a:rPr>
              <a:t>1992</a:t>
            </a:r>
            <a:r>
              <a:rPr lang="zh-CN" altLang="en-US" sz="1200" dirty="0">
                <a:latin typeface="思源黑体" pitchFamily="34" charset="-122"/>
                <a:ea typeface="思源黑体" pitchFamily="34" charset="-122"/>
              </a:rPr>
              <a:t>年初邓小平发表南方谈话后，为党的十四大召开作了充分的理论准备。十四大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200" dirty="0">
              <a:latin typeface="思源黑体" pitchFamily="34" charset="-122"/>
              <a:ea typeface="思源黑体" pitchFamily="34"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第十四次全国人民代表大会</a:t>
              </a:r>
              <a:endParaRPr lang="zh-CN" altLang="en-US" b="1" noProof="1">
                <a:solidFill>
                  <a:schemeClr val="bg1"/>
                </a:solidFill>
                <a:latin typeface="思源黑体" pitchFamily="34" charset="-122"/>
                <a:ea typeface="思源黑体" pitchFamily="34" charset="-122"/>
              </a:endParaRPr>
            </a:p>
          </p:txBody>
        </p:sp>
      </p:grpSp>
      <p:pic>
        <p:nvPicPr>
          <p:cNvPr id="8" name="学党史感党恩跟党走"/>
          <p:cNvPicPr>
            <a:picLocks noChangeAspect="1" noChangeArrowheads="1"/>
          </p:cNvPicPr>
          <p:nvPr/>
        </p:nvPicPr>
        <p:blipFill>
          <a:blip r:embed="rId2"/>
          <a:srcRect/>
          <a:stretch>
            <a:fillRect/>
          </a:stretch>
        </p:blipFill>
        <p:spPr bwMode="auto">
          <a:xfrm>
            <a:off x="5866997" y="2085133"/>
            <a:ext cx="1839847" cy="2166829"/>
          </a:xfrm>
          <a:prstGeom prst="rect">
            <a:avLst/>
          </a:prstGeom>
          <a:noFill/>
          <a:ln w="9525">
            <a:noFill/>
            <a:miter lim="800000"/>
            <a:headEnd/>
            <a:tailEnd/>
          </a:ln>
        </p:spPr>
      </p:pic>
      <p:sp>
        <p:nvSpPr>
          <p:cNvPr id="9"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par>
                                <p:cTn id="17"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976503"/>
            <a:ext cx="5917195" cy="2591984"/>
          </a:xfrm>
          <a:prstGeom prst="rect">
            <a:avLst/>
          </a:prstGeom>
          <a:noFill/>
          <a:ln w="9525">
            <a:noFill/>
            <a:miter lim="800000"/>
          </a:ln>
        </p:spPr>
        <p:txBody>
          <a:bodyPr lIns="87918" tIns="43959" rIns="87918" bIns="43959"/>
          <a:lstStyle/>
          <a:p>
            <a:pPr eaLnBrk="0" hangingPunct="0">
              <a:lnSpc>
                <a:spcPct val="200000"/>
              </a:lnSpc>
            </a:pPr>
            <a:r>
              <a:rPr lang="en-US" altLang="zh-CN" sz="1200" dirty="0">
                <a:latin typeface="思源黑体" pitchFamily="34" charset="-122"/>
                <a:ea typeface="思源黑体" pitchFamily="34" charset="-122"/>
              </a:rPr>
              <a:t>1997</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9</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12</a:t>
            </a:r>
            <a:r>
              <a:rPr lang="zh-CN" altLang="en-US" sz="1200" dirty="0">
                <a:latin typeface="思源黑体" pitchFamily="34" charset="-122"/>
                <a:ea typeface="思源黑体" pitchFamily="34" charset="-122"/>
              </a:rPr>
              <a:t>日至</a:t>
            </a:r>
            <a:r>
              <a:rPr lang="en-US" altLang="zh-CN" sz="1200" dirty="0">
                <a:latin typeface="思源黑体" pitchFamily="34" charset="-122"/>
                <a:ea typeface="思源黑体" pitchFamily="34" charset="-122"/>
              </a:rPr>
              <a:t>18</a:t>
            </a:r>
            <a:r>
              <a:rPr lang="zh-CN" altLang="en-US" sz="1200" dirty="0">
                <a:latin typeface="思源黑体" pitchFamily="34" charset="-122"/>
                <a:ea typeface="思源黑体" pitchFamily="34" charset="-122"/>
              </a:rPr>
              <a:t>日，中国共产党在北京召开第十五次全国代表大会。</a:t>
            </a:r>
            <a:endParaRPr lang="en-US" altLang="zh-CN" sz="1200" dirty="0">
              <a:latin typeface="思源黑体" pitchFamily="34" charset="-122"/>
              <a:ea typeface="思源黑体" pitchFamily="34" charset="-122"/>
            </a:endParaRPr>
          </a:p>
          <a:p>
            <a:pPr>
              <a:lnSpc>
                <a:spcPct val="200000"/>
              </a:lnSpc>
              <a:spcBef>
                <a:spcPct val="20000"/>
              </a:spcBef>
            </a:pPr>
            <a:r>
              <a:rPr lang="zh-CN" altLang="en-US" sz="1200" dirty="0">
                <a:latin typeface="思源黑体" pitchFamily="34" charset="-122"/>
                <a:ea typeface="思源黑体" pitchFamily="34" charset="-122"/>
              </a:rPr>
              <a:t>江泽民作了题为</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高举邓小平理论伟大旗帜，把建设有中国特色社会主义事业全面推向</a:t>
            </a:r>
            <a:r>
              <a:rPr lang="en-US" altLang="zh-CN" sz="1200" dirty="0">
                <a:latin typeface="思源黑体" pitchFamily="34" charset="-122"/>
                <a:ea typeface="思源黑体" pitchFamily="34" charset="-122"/>
              </a:rPr>
              <a:t>21</a:t>
            </a:r>
            <a:r>
              <a:rPr lang="zh-CN" altLang="en-US" sz="1200" dirty="0">
                <a:latin typeface="思源黑体" pitchFamily="34" charset="-122"/>
                <a:ea typeface="思源黑体" pitchFamily="34" charset="-122"/>
              </a:rPr>
              <a:t>世纪</a:t>
            </a:r>
            <a:r>
              <a:rPr lang="en-US" altLang="zh-CN" sz="1200" dirty="0">
                <a:latin typeface="思源黑体" pitchFamily="34" charset="-122"/>
                <a:ea typeface="思源黑体" pitchFamily="34" charset="-122"/>
              </a:rPr>
              <a:t>》</a:t>
            </a:r>
            <a:r>
              <a:rPr lang="zh-CN" altLang="en-US" sz="1200" dirty="0">
                <a:latin typeface="思源黑体" pitchFamily="34" charset="-122"/>
                <a:ea typeface="思源黑体" pitchFamily="34" charset="-122"/>
              </a:rPr>
              <a:t>的报告。报告着重阐述了邓小平理论的历史地位和指导意义。</a:t>
            </a:r>
            <a:endParaRPr lang="zh-CN" altLang="en-US" sz="1200" dirty="0">
              <a:latin typeface="思源黑体" pitchFamily="34" charset="-122"/>
              <a:ea typeface="思源黑体" pitchFamily="34" charset="-122"/>
            </a:endParaRPr>
          </a:p>
          <a:p>
            <a:pPr>
              <a:lnSpc>
                <a:spcPct val="200000"/>
              </a:lnSpc>
              <a:spcBef>
                <a:spcPct val="20000"/>
              </a:spcBef>
            </a:pPr>
            <a:r>
              <a:rPr lang="zh-CN" altLang="en-US" sz="1200" dirty="0">
                <a:latin typeface="思源黑体" pitchFamily="34" charset="-122"/>
                <a:ea typeface="思源黑体" pitchFamily="34" charset="-122"/>
              </a:rPr>
              <a:t>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200" dirty="0">
              <a:latin typeface="思源黑体" pitchFamily="34" charset="-122"/>
              <a:ea typeface="思源黑体" pitchFamily="34"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第十五次全国人民代表大会</a:t>
              </a:r>
              <a:endParaRPr lang="zh-CN" altLang="en-US" b="1" noProof="1">
                <a:solidFill>
                  <a:schemeClr val="bg1"/>
                </a:solidFill>
                <a:latin typeface="思源黑体" pitchFamily="34" charset="-122"/>
                <a:ea typeface="思源黑体" pitchFamily="34" charset="-122"/>
              </a:endParaRPr>
            </a:p>
          </p:txBody>
        </p:sp>
      </p:gr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976503"/>
            <a:ext cx="5917195" cy="2591984"/>
          </a:xfrm>
          <a:prstGeom prst="rect">
            <a:avLst/>
          </a:prstGeom>
          <a:noFill/>
          <a:ln w="9525">
            <a:noFill/>
            <a:miter lim="800000"/>
          </a:ln>
        </p:spPr>
        <p:txBody>
          <a:bodyPr lIns="87918" tIns="43959" rIns="87918" bIns="43959"/>
          <a:lstStyle/>
          <a:p>
            <a:pPr eaLnBrk="0" hangingPunct="0">
              <a:lnSpc>
                <a:spcPct val="150000"/>
              </a:lnSpc>
            </a:pPr>
            <a:r>
              <a:rPr lang="zh-CN" altLang="en-US" sz="1200" dirty="0">
                <a:latin typeface="思源黑体" pitchFamily="34" charset="-122"/>
                <a:ea typeface="思源黑体" pitchFamily="34" charset="-122"/>
              </a:rPr>
              <a:t>中国共产党第十六次全国代表大会</a:t>
            </a:r>
            <a:r>
              <a:rPr lang="en-US" altLang="zh-CN" sz="1200" dirty="0">
                <a:latin typeface="思源黑体" pitchFamily="34" charset="-122"/>
                <a:ea typeface="思源黑体" pitchFamily="34" charset="-122"/>
              </a:rPr>
              <a:t>2002</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11</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8</a:t>
            </a:r>
            <a:r>
              <a:rPr lang="zh-CN" altLang="en-US" sz="1200" dirty="0">
                <a:latin typeface="思源黑体" pitchFamily="34" charset="-122"/>
                <a:ea typeface="思源黑体" pitchFamily="34" charset="-122"/>
              </a:rPr>
              <a:t>日至</a:t>
            </a:r>
            <a:r>
              <a:rPr lang="en-US" altLang="zh-CN" sz="1200" dirty="0">
                <a:latin typeface="思源黑体" pitchFamily="34" charset="-122"/>
                <a:ea typeface="思源黑体" pitchFamily="34" charset="-122"/>
              </a:rPr>
              <a:t>14</a:t>
            </a:r>
            <a:r>
              <a:rPr lang="zh-CN" altLang="en-US" sz="1200" dirty="0">
                <a:latin typeface="思源黑体" pitchFamily="34" charset="-122"/>
                <a:ea typeface="思源黑体" pitchFamily="34" charset="-122"/>
              </a:rPr>
              <a:t>日在北京人民大会堂开幕。</a:t>
            </a:r>
            <a:endParaRPr lang="en-US" altLang="zh-CN" sz="1200" dirty="0">
              <a:latin typeface="思源黑体" pitchFamily="34" charset="-122"/>
              <a:ea typeface="思源黑体" pitchFamily="34" charset="-122"/>
            </a:endParaRPr>
          </a:p>
          <a:p>
            <a:pPr eaLnBrk="0" hangingPunct="0">
              <a:lnSpc>
                <a:spcPct val="150000"/>
              </a:lnSpc>
            </a:pPr>
            <a:r>
              <a:rPr lang="zh-CN" altLang="en-US" sz="1200" dirty="0">
                <a:latin typeface="思源黑体" pitchFamily="34" charset="-122"/>
                <a:ea typeface="思源黑体" pitchFamily="34" charset="-122"/>
              </a:rPr>
              <a:t>江泽民代表第十五届中央委员会向大会作报告。</a:t>
            </a:r>
            <a:endParaRPr lang="en-US" altLang="zh-CN" sz="1200" dirty="0">
              <a:latin typeface="思源黑体" pitchFamily="34" charset="-122"/>
              <a:ea typeface="思源黑体" pitchFamily="34" charset="-122"/>
            </a:endParaRPr>
          </a:p>
          <a:p>
            <a:pPr>
              <a:lnSpc>
                <a:spcPct val="150000"/>
              </a:lnSpc>
            </a:pPr>
            <a:r>
              <a:rPr lang="zh-CN" altLang="en-US" sz="1200" dirty="0">
                <a:latin typeface="思源黑体" pitchFamily="34" charset="-122"/>
                <a:ea typeface="思源黑体" pitchFamily="34" charset="-122"/>
              </a:rPr>
              <a:t>十六大召开，这次大会是我们党新世纪乘胜前进，规划制定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200" dirty="0">
              <a:latin typeface="思源黑体" pitchFamily="34" charset="-122"/>
              <a:ea typeface="思源黑体" pitchFamily="34" charset="-122"/>
            </a:endParaRPr>
          </a:p>
          <a:p>
            <a:pPr>
              <a:lnSpc>
                <a:spcPct val="150000"/>
              </a:lnSpc>
            </a:pPr>
            <a:r>
              <a:rPr lang="zh-CN" altLang="en-US" sz="1200" dirty="0">
                <a:latin typeface="思源黑体" pitchFamily="34" charset="-122"/>
                <a:ea typeface="思源黑体" pitchFamily="34" charset="-122"/>
              </a:rPr>
              <a:t>大会选举了以胡锦涛为核心的党中央。</a:t>
            </a:r>
            <a:endParaRPr lang="zh-CN" altLang="en-US" sz="1200" dirty="0">
              <a:latin typeface="思源黑体" pitchFamily="34" charset="-122"/>
              <a:ea typeface="思源黑体" pitchFamily="34"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第十六次全国人民代表大会</a:t>
              </a:r>
              <a:endParaRPr lang="zh-CN" altLang="en-US" b="1" noProof="1">
                <a:solidFill>
                  <a:schemeClr val="bg1"/>
                </a:solidFill>
                <a:latin typeface="思源黑体" pitchFamily="34" charset="-122"/>
                <a:ea typeface="思源黑体" pitchFamily="34" charset="-122"/>
              </a:endParaRPr>
            </a:p>
          </p:txBody>
        </p:sp>
      </p:gr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849891"/>
            <a:ext cx="5917195" cy="2591984"/>
          </a:xfrm>
          <a:prstGeom prst="rect">
            <a:avLst/>
          </a:prstGeom>
          <a:noFill/>
          <a:ln w="9525">
            <a:noFill/>
            <a:miter lim="800000"/>
          </a:ln>
        </p:spPr>
        <p:txBody>
          <a:bodyPr lIns="87918" tIns="43959" rIns="87918" bIns="43959"/>
          <a:lstStyle/>
          <a:p>
            <a:pPr eaLnBrk="0" hangingPunct="0">
              <a:lnSpc>
                <a:spcPct val="200000"/>
              </a:lnSpc>
            </a:pPr>
            <a:r>
              <a:rPr lang="zh-CN" altLang="en-US" sz="1200" dirty="0">
                <a:latin typeface="思源黑体" pitchFamily="34" charset="-122"/>
                <a:ea typeface="思源黑体" pitchFamily="34" charset="-122"/>
              </a:rPr>
              <a:t>中国共产党第十七次全国代表大会于</a:t>
            </a:r>
            <a:r>
              <a:rPr lang="en-US" altLang="zh-CN" sz="1200" dirty="0">
                <a:latin typeface="思源黑体" pitchFamily="34" charset="-122"/>
                <a:ea typeface="思源黑体" pitchFamily="34" charset="-122"/>
              </a:rPr>
              <a:t>2007</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10</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15</a:t>
            </a:r>
            <a:r>
              <a:rPr lang="zh-CN" altLang="en-US" sz="1200" dirty="0">
                <a:latin typeface="思源黑体" pitchFamily="34" charset="-122"/>
                <a:ea typeface="思源黑体" pitchFamily="34" charset="-122"/>
              </a:rPr>
              <a:t>日至</a:t>
            </a:r>
            <a:r>
              <a:rPr lang="en-US" altLang="zh-CN" sz="1200" dirty="0">
                <a:latin typeface="思源黑体" pitchFamily="34" charset="-122"/>
                <a:ea typeface="思源黑体" pitchFamily="34" charset="-122"/>
              </a:rPr>
              <a:t>21</a:t>
            </a:r>
            <a:r>
              <a:rPr lang="zh-CN" altLang="en-US" sz="1200" dirty="0">
                <a:latin typeface="思源黑体" pitchFamily="34" charset="-122"/>
                <a:ea typeface="思源黑体" pitchFamily="34" charset="-122"/>
              </a:rPr>
              <a:t>日在北京召开。</a:t>
            </a:r>
            <a:endParaRPr lang="en-US" altLang="zh-CN" sz="1200" dirty="0">
              <a:latin typeface="思源黑体" pitchFamily="34" charset="-122"/>
              <a:ea typeface="思源黑体" pitchFamily="34" charset="-122"/>
            </a:endParaRPr>
          </a:p>
          <a:p>
            <a:pPr>
              <a:lnSpc>
                <a:spcPct val="200000"/>
              </a:lnSpc>
              <a:spcBef>
                <a:spcPct val="20000"/>
              </a:spcBef>
            </a:pPr>
            <a:r>
              <a:rPr lang="zh-CN" altLang="en-US" sz="1200" dirty="0">
                <a:latin typeface="思源黑体" pitchFamily="34" charset="-122"/>
                <a:ea typeface="思源黑体" pitchFamily="34" charset="-122"/>
              </a:rPr>
              <a:t>大会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200" dirty="0">
              <a:latin typeface="思源黑体" pitchFamily="34" charset="-122"/>
              <a:ea typeface="思源黑体" pitchFamily="34" charset="-122"/>
            </a:endParaRPr>
          </a:p>
          <a:p>
            <a:pPr>
              <a:lnSpc>
                <a:spcPct val="200000"/>
              </a:lnSpc>
              <a:spcBef>
                <a:spcPct val="20000"/>
              </a:spcBef>
            </a:pPr>
            <a:r>
              <a:rPr lang="zh-CN" altLang="en-US" sz="1200" dirty="0">
                <a:latin typeface="思源黑体" pitchFamily="34" charset="-122"/>
                <a:ea typeface="思源黑体" pitchFamily="34" charset="-122"/>
              </a:rPr>
              <a:t>这次大会的突出贡献，是对科学发展观的时代背景、科学内涵和精神实质进行了深刻阐述，对深入贯彻落实科学发展观提出了明确要求。科学发展观，第一要义是发展，核心是以人为本，基本要求是全面协调可持续，根本方法是统筹兼顾。</a:t>
            </a:r>
            <a:endParaRPr lang="zh-CN" altLang="en-US" sz="1200" dirty="0">
              <a:latin typeface="思源黑体" pitchFamily="34" charset="-122"/>
              <a:ea typeface="思源黑体" pitchFamily="34"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第十七次全国人民代表大会</a:t>
              </a:r>
              <a:endParaRPr lang="zh-CN" altLang="en-US" b="1" noProof="1">
                <a:solidFill>
                  <a:schemeClr val="bg1"/>
                </a:solidFill>
                <a:latin typeface="思源黑体" pitchFamily="34" charset="-122"/>
                <a:ea typeface="思源黑体" pitchFamily="34" charset="-122"/>
              </a:endParaRPr>
            </a:p>
          </p:txBody>
        </p:sp>
      </p:gr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849891"/>
            <a:ext cx="5971595" cy="2591984"/>
          </a:xfrm>
          <a:prstGeom prst="rect">
            <a:avLst/>
          </a:prstGeom>
          <a:noFill/>
          <a:ln w="9525">
            <a:noFill/>
            <a:miter lim="800000"/>
          </a:ln>
        </p:spPr>
        <p:txBody>
          <a:bodyPr lIns="87918" tIns="43959" rIns="87918" bIns="43959"/>
          <a:lstStyle/>
          <a:p>
            <a:pPr eaLnBrk="0" hangingPunct="0">
              <a:lnSpc>
                <a:spcPct val="150000"/>
              </a:lnSpc>
            </a:pPr>
            <a:r>
              <a:rPr lang="en-US" altLang="zh-CN" sz="1200" dirty="0">
                <a:latin typeface="思源黑体" pitchFamily="34" charset="-122"/>
                <a:ea typeface="思源黑体" pitchFamily="34" charset="-122"/>
                <a:sym typeface="Arial" panose="020B0604020202020204" pitchFamily="34" charset="0"/>
              </a:rPr>
              <a:t>2012</a:t>
            </a:r>
            <a:r>
              <a:rPr lang="zh-CN" altLang="en-US" sz="1200" dirty="0">
                <a:latin typeface="思源黑体" pitchFamily="34" charset="-122"/>
                <a:ea typeface="思源黑体" pitchFamily="34" charset="-122"/>
                <a:sym typeface="Arial" panose="020B0604020202020204" pitchFamily="34" charset="0"/>
              </a:rPr>
              <a:t>年</a:t>
            </a:r>
            <a:r>
              <a:rPr lang="en-US" altLang="zh-CN" sz="1200" dirty="0">
                <a:latin typeface="思源黑体" pitchFamily="34" charset="-122"/>
                <a:ea typeface="思源黑体" pitchFamily="34" charset="-122"/>
                <a:sym typeface="Arial" panose="020B0604020202020204" pitchFamily="34" charset="0"/>
              </a:rPr>
              <a:t>11</a:t>
            </a:r>
            <a:r>
              <a:rPr lang="zh-CN" altLang="en-US" sz="1200" dirty="0">
                <a:latin typeface="思源黑体" pitchFamily="34" charset="-122"/>
                <a:ea typeface="思源黑体" pitchFamily="34" charset="-122"/>
                <a:sym typeface="Arial" panose="020B0604020202020204" pitchFamily="34" charset="0"/>
              </a:rPr>
              <a:t>月</a:t>
            </a:r>
            <a:r>
              <a:rPr lang="en-US" altLang="zh-CN" sz="1200" dirty="0">
                <a:latin typeface="思源黑体" pitchFamily="34" charset="-122"/>
                <a:ea typeface="思源黑体" pitchFamily="34" charset="-122"/>
                <a:sym typeface="Arial" panose="020B0604020202020204" pitchFamily="34" charset="0"/>
              </a:rPr>
              <a:t>8</a:t>
            </a:r>
            <a:r>
              <a:rPr lang="zh-CN" altLang="en-US" sz="1200" dirty="0">
                <a:latin typeface="思源黑体" pitchFamily="34" charset="-122"/>
                <a:ea typeface="思源黑体" pitchFamily="34" charset="-122"/>
                <a:sym typeface="Arial" panose="020B0604020202020204" pitchFamily="34" charset="0"/>
              </a:rPr>
              <a:t>日</a:t>
            </a:r>
            <a:r>
              <a:rPr lang="en-US" altLang="zh-CN" sz="1200" dirty="0">
                <a:latin typeface="思源黑体" pitchFamily="34" charset="-122"/>
                <a:ea typeface="思源黑体" pitchFamily="34" charset="-122"/>
                <a:sym typeface="Arial" panose="020B0604020202020204" pitchFamily="34" charset="0"/>
              </a:rPr>
              <a:t>-11</a:t>
            </a:r>
            <a:r>
              <a:rPr lang="zh-CN" altLang="en-US" sz="1200" dirty="0">
                <a:latin typeface="思源黑体" pitchFamily="34" charset="-122"/>
                <a:ea typeface="思源黑体" pitchFamily="34" charset="-122"/>
                <a:sym typeface="Arial" panose="020B0604020202020204" pitchFamily="34" charset="0"/>
              </a:rPr>
              <a:t>月</a:t>
            </a:r>
            <a:r>
              <a:rPr lang="en-US" altLang="zh-CN" sz="1200" dirty="0">
                <a:latin typeface="思源黑体" pitchFamily="34" charset="-122"/>
                <a:ea typeface="思源黑体" pitchFamily="34" charset="-122"/>
                <a:sym typeface="Arial" panose="020B0604020202020204" pitchFamily="34" charset="0"/>
              </a:rPr>
              <a:t>14</a:t>
            </a:r>
            <a:r>
              <a:rPr lang="zh-CN" altLang="en-US" sz="1200" dirty="0">
                <a:latin typeface="思源黑体" pitchFamily="34" charset="-122"/>
                <a:ea typeface="思源黑体" pitchFamily="34" charset="-122"/>
                <a:sym typeface="Arial" panose="020B0604020202020204" pitchFamily="34" charset="0"/>
              </a:rPr>
              <a:t>日，中国共产党第十八次全国人民代表大会在北京召开；会议的内容包括政治报告、修改党章、领导层换届。</a:t>
            </a:r>
            <a:endParaRPr lang="en-US" altLang="zh-CN" sz="1200" dirty="0">
              <a:latin typeface="思源黑体" pitchFamily="34" charset="-122"/>
              <a:ea typeface="思源黑体" pitchFamily="34" charset="-122"/>
              <a:sym typeface="Arial" panose="020B0604020202020204" pitchFamily="34" charset="0"/>
            </a:endParaRPr>
          </a:p>
          <a:p>
            <a:pPr eaLnBrk="0" hangingPunct="0">
              <a:lnSpc>
                <a:spcPct val="150000"/>
              </a:lnSpc>
            </a:pPr>
            <a:r>
              <a:rPr lang="zh-CN" altLang="en-US" sz="1200" dirty="0">
                <a:latin typeface="思源黑体" pitchFamily="34" charset="-122"/>
                <a:ea typeface="思源黑体" pitchFamily="34" charset="-122"/>
                <a:sym typeface="Arial" panose="020B0604020202020204" pitchFamily="34" charset="0"/>
              </a:rPr>
              <a:t>十八大主题：高举中国特色社会主义伟大旗帜，以邓小平理论、“三个代表”重要思想、科学发展观为指导，解放思想，改革开放，凝聚力量，攻坚克难，坚定不移沿着中国特色社会主义道路前进，为全面建成小康社会而奋斗。</a:t>
            </a:r>
            <a:br>
              <a:rPr lang="zh-CN" altLang="en-US" sz="1200" dirty="0">
                <a:latin typeface="思源黑体" pitchFamily="34" charset="-122"/>
                <a:ea typeface="思源黑体" pitchFamily="34" charset="-122"/>
                <a:sym typeface="Arial" panose="020B0604020202020204" pitchFamily="34" charset="0"/>
              </a:rPr>
            </a:br>
            <a:r>
              <a:rPr lang="zh-CN" altLang="en-US" sz="1200" dirty="0">
                <a:latin typeface="思源黑体" pitchFamily="34" charset="-122"/>
                <a:ea typeface="思源黑体" pitchFamily="34" charset="-122"/>
                <a:sym typeface="Arial" panose="020B0604020202020204" pitchFamily="34" charset="0"/>
              </a:rPr>
              <a:t>简明而又鲜明地向党内外、国内外宣示了我们党将举什么旗、走什么路、以什么样的精神状态、朝着什么样的目标继续前进这</a:t>
            </a:r>
            <a:r>
              <a:rPr lang="en-US" altLang="zh-CN" sz="1200" dirty="0">
                <a:latin typeface="思源黑体" pitchFamily="34" charset="-122"/>
                <a:ea typeface="思源黑体" pitchFamily="34" charset="-122"/>
                <a:sym typeface="Arial" panose="020B0604020202020204" pitchFamily="34" charset="0"/>
              </a:rPr>
              <a:t>4</a:t>
            </a:r>
            <a:r>
              <a:rPr lang="zh-CN" altLang="en-US" sz="1200" dirty="0">
                <a:latin typeface="思源黑体" pitchFamily="34" charset="-122"/>
                <a:ea typeface="思源黑体" pitchFamily="34" charset="-122"/>
                <a:sym typeface="Arial" panose="020B0604020202020204" pitchFamily="34" charset="0"/>
              </a:rPr>
              <a:t>个关系党和国家工作全局的重大问题。提出和确定这样的主题，对我们党团结带领全国各族人民在新的历史征程上继往开来、与时俱进十分紧要。深刻领会、准确把握这个主题，对学习贯彻党的十八大精神至关重要。</a:t>
            </a:r>
            <a:endParaRPr lang="zh-CN" altLang="en-US" sz="1200" dirty="0">
              <a:latin typeface="思源黑体" pitchFamily="34" charset="-122"/>
              <a:ea typeface="思源黑体" pitchFamily="34" charset="-122"/>
              <a:sym typeface="Arial" panose="020B0604020202020204" pitchFamily="34" charset="0"/>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第十八次全国人民代表大会</a:t>
              </a:r>
              <a:endParaRPr lang="zh-CN" altLang="en-US" b="1" noProof="1">
                <a:solidFill>
                  <a:schemeClr val="bg1"/>
                </a:solidFill>
                <a:latin typeface="思源黑体" pitchFamily="34" charset="-122"/>
                <a:ea typeface="思源黑体" pitchFamily="34" charset="-122"/>
              </a:endParaRPr>
            </a:p>
          </p:txBody>
        </p:sp>
      </p:gr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第十九次全国人民代表大会</a:t>
              </a:r>
              <a:endParaRPr lang="zh-CN" altLang="en-US" b="1" noProof="1">
                <a:solidFill>
                  <a:schemeClr val="bg1"/>
                </a:solidFill>
                <a:latin typeface="思源黑体" pitchFamily="34" charset="-122"/>
                <a:ea typeface="思源黑体" pitchFamily="34" charset="-122"/>
              </a:endParaRPr>
            </a:p>
          </p:txBody>
        </p:sp>
      </p:grpSp>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849891"/>
            <a:ext cx="5971595" cy="2591984"/>
          </a:xfrm>
          <a:prstGeom prst="rect">
            <a:avLst/>
          </a:prstGeom>
          <a:noFill/>
          <a:ln w="9525">
            <a:noFill/>
            <a:miter lim="800000"/>
          </a:ln>
        </p:spPr>
        <p:txBody>
          <a:bodyPr lIns="87918" tIns="43959" rIns="87918" bIns="43959"/>
          <a:lstStyle/>
          <a:p>
            <a:pPr eaLnBrk="0" hangingPunct="0">
              <a:lnSpc>
                <a:spcPct val="150000"/>
              </a:lnSpc>
            </a:pPr>
            <a:r>
              <a:rPr lang="en-US" altLang="zh-CN" sz="1200" dirty="0">
                <a:latin typeface="思源黑体" pitchFamily="34" charset="-122"/>
                <a:ea typeface="思源黑体" pitchFamily="34" charset="-122"/>
              </a:rPr>
              <a:t>20XX</a:t>
            </a:r>
            <a:r>
              <a:rPr lang="zh-CN" altLang="en-US" sz="1200" dirty="0">
                <a:latin typeface="思源黑体" pitchFamily="34" charset="-122"/>
                <a:ea typeface="思源黑体" pitchFamily="34" charset="-122"/>
              </a:rPr>
              <a:t>年</a:t>
            </a:r>
            <a:r>
              <a:rPr lang="en-US" altLang="zh-CN" sz="1200" dirty="0">
                <a:latin typeface="思源黑体" pitchFamily="34" charset="-122"/>
                <a:ea typeface="思源黑体" pitchFamily="34" charset="-122"/>
              </a:rPr>
              <a:t>10</a:t>
            </a:r>
            <a:r>
              <a:rPr lang="zh-CN" altLang="en-US" sz="1200" dirty="0">
                <a:latin typeface="思源黑体" pitchFamily="34" charset="-122"/>
                <a:ea typeface="思源黑体" pitchFamily="34" charset="-122"/>
              </a:rPr>
              <a:t>月</a:t>
            </a:r>
            <a:r>
              <a:rPr lang="en-US" altLang="zh-CN" sz="1200" dirty="0">
                <a:latin typeface="思源黑体" pitchFamily="34" charset="-122"/>
                <a:ea typeface="思源黑体" pitchFamily="34" charset="-122"/>
              </a:rPr>
              <a:t>18</a:t>
            </a:r>
            <a:r>
              <a:rPr lang="zh-CN" altLang="en-US" sz="1200" dirty="0">
                <a:latin typeface="思源黑体" pitchFamily="34" charset="-122"/>
                <a:ea typeface="思源黑体" pitchFamily="34" charset="-122"/>
              </a:rPr>
              <a:t>日</a:t>
            </a:r>
            <a:r>
              <a:rPr lang="en-US" altLang="zh-CN" sz="1200" dirty="0">
                <a:latin typeface="思源黑体" pitchFamily="34" charset="-122"/>
                <a:ea typeface="思源黑体" pitchFamily="34" charset="-122"/>
              </a:rPr>
              <a:t>-24</a:t>
            </a:r>
            <a:r>
              <a:rPr lang="zh-CN" altLang="en-US" sz="1200" dirty="0">
                <a:latin typeface="思源黑体" pitchFamily="34" charset="-122"/>
                <a:ea typeface="思源黑体" pitchFamily="34" charset="-122"/>
              </a:rPr>
              <a:t>日</a:t>
            </a:r>
            <a:r>
              <a:rPr lang="zh-CN" altLang="en-US" sz="1200" dirty="0">
                <a:latin typeface="思源黑体" pitchFamily="34" charset="-122"/>
                <a:ea typeface="思源黑体" pitchFamily="34" charset="-122"/>
                <a:sym typeface="Arial" panose="020B0604020202020204" pitchFamily="34" charset="0"/>
              </a:rPr>
              <a:t>中国共产党第十九次全国人民代表大会在北京召开；</a:t>
            </a:r>
            <a:endParaRPr lang="en-US" altLang="zh-CN" sz="1200" dirty="0">
              <a:latin typeface="思源黑体" pitchFamily="34" charset="-122"/>
              <a:ea typeface="思源黑体" pitchFamily="34" charset="-122"/>
              <a:sym typeface="Arial" panose="020B0604020202020204" pitchFamily="34" charset="0"/>
            </a:endParaRPr>
          </a:p>
          <a:p>
            <a:pPr algn="just">
              <a:lnSpc>
                <a:spcPct val="150000"/>
              </a:lnSpc>
              <a:defRPr/>
            </a:pPr>
            <a:r>
              <a:rPr lang="zh-CN" altLang="en-US" sz="1200" dirty="0">
                <a:latin typeface="思源黑体" pitchFamily="34" charset="-122"/>
                <a:ea typeface="思源黑体" pitchFamily="34" charset="-122"/>
                <a:sym typeface="Arial" panose="020B0604020202020204" pitchFamily="34" charset="0"/>
              </a:rPr>
              <a:t>十九大主题：</a:t>
            </a:r>
            <a:r>
              <a:rPr lang="zh-CN" altLang="en-US" sz="1200" kern="0" dirty="0">
                <a:latin typeface="思源黑体" pitchFamily="34" charset="-122"/>
                <a:ea typeface="思源黑体" pitchFamily="34" charset="-122"/>
                <a:sym typeface="微软雅黑" panose="020B0503020204020204" pitchFamily="34" charset="-122"/>
              </a:rPr>
              <a:t>习近平代表第十八届中央委员会向大会作了题为</a:t>
            </a:r>
            <a:r>
              <a:rPr lang="en-US" altLang="zh-CN" sz="1200" kern="0" dirty="0">
                <a:latin typeface="思源黑体" pitchFamily="34" charset="-122"/>
                <a:ea typeface="思源黑体" pitchFamily="34" charset="-122"/>
                <a:sym typeface="微软雅黑" panose="020B0503020204020204" pitchFamily="34" charset="-122"/>
              </a:rPr>
              <a:t>《</a:t>
            </a:r>
            <a:r>
              <a:rPr lang="zh-CN" altLang="en-US" sz="1200" kern="0" dirty="0">
                <a:latin typeface="思源黑体" pitchFamily="34" charset="-122"/>
                <a:ea typeface="思源黑体" pitchFamily="34" charset="-122"/>
                <a:sym typeface="微软雅黑" panose="020B0503020204020204" pitchFamily="34" charset="-122"/>
              </a:rPr>
              <a:t>决胜全面建成小康社会夺取新时代中国特色社会主义伟大胜利</a:t>
            </a:r>
            <a:r>
              <a:rPr lang="en-US" altLang="zh-CN" sz="1200" kern="0" dirty="0">
                <a:latin typeface="思源黑体" pitchFamily="34" charset="-122"/>
                <a:ea typeface="思源黑体" pitchFamily="34" charset="-122"/>
                <a:sym typeface="微软雅黑" panose="020B0503020204020204" pitchFamily="34" charset="-122"/>
              </a:rPr>
              <a:t>》</a:t>
            </a:r>
            <a:r>
              <a:rPr lang="zh-CN" altLang="en-US" sz="1200" kern="0" dirty="0">
                <a:latin typeface="思源黑体" pitchFamily="34" charset="-122"/>
                <a:ea typeface="思源黑体" pitchFamily="34" charset="-122"/>
                <a:sym typeface="微软雅黑" panose="020B0503020204020204" pitchFamily="34" charset="-122"/>
              </a:rPr>
              <a:t>的报告。这次大会的主题是：不忘初心，牢记使命，高举中国特色社会主义伟大旗帜，决胜全面建成小康社会，夺取新时代中国特色社会主义伟大胜利，为实现中华民族伟大复兴的中国梦不懈奋斗。</a:t>
            </a:r>
            <a:endParaRPr lang="en-US" altLang="zh-CN" sz="1200" kern="0" dirty="0">
              <a:latin typeface="思源黑体" pitchFamily="34" charset="-122"/>
              <a:ea typeface="思源黑体" pitchFamily="34" charset="-122"/>
              <a:sym typeface="微软雅黑" panose="020B0503020204020204" pitchFamily="34" charset="-122"/>
            </a:endParaRPr>
          </a:p>
          <a:p>
            <a:pPr algn="just">
              <a:lnSpc>
                <a:spcPct val="150000"/>
              </a:lnSpc>
              <a:defRPr/>
            </a:pPr>
            <a:r>
              <a:rPr lang="zh-CN" altLang="en-US" sz="1200" kern="0" dirty="0">
                <a:latin typeface="思源黑体" pitchFamily="34" charset="-122"/>
                <a:ea typeface="思源黑体" pitchFamily="34" charset="-122"/>
                <a:sym typeface="微软雅黑" panose="020B0503020204020204" pitchFamily="34" charset="-122"/>
              </a:rPr>
              <a:t>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en-US" altLang="zh-CN" sz="1200" kern="0" dirty="0">
              <a:latin typeface="思源黑体" pitchFamily="34" charset="-122"/>
              <a:ea typeface="思源黑体" pitchFamily="34" charset="-122"/>
              <a:sym typeface="微软雅黑" panose="020B0503020204020204" pitchFamily="34" charset="-122"/>
            </a:endParaRPr>
          </a:p>
        </p:txBody>
      </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marL="274955" indent="-274955" algn="ctr">
                <a:defRPr/>
              </a:pPr>
              <a:r>
                <a:rPr lang="zh-CN" altLang="en-US" b="1" noProof="1">
                  <a:solidFill>
                    <a:schemeClr val="bg1"/>
                  </a:solidFill>
                  <a:latin typeface="思源黑体" pitchFamily="34" charset="-122"/>
                  <a:ea typeface="思源黑体" pitchFamily="34" charset="-122"/>
                </a:rPr>
                <a:t>第十九次全国人民代表大会重大意义</a:t>
              </a:r>
              <a:endParaRPr lang="zh-CN" altLang="en-US" b="1" noProof="1">
                <a:solidFill>
                  <a:schemeClr val="bg1"/>
                </a:solidFill>
                <a:latin typeface="思源黑体" pitchFamily="34" charset="-122"/>
                <a:ea typeface="思源黑体" pitchFamily="34" charset="-122"/>
              </a:endParaRPr>
            </a:p>
          </p:txBody>
        </p:sp>
      </p:grpSp>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09831" y="1934299"/>
            <a:ext cx="5971595" cy="2591984"/>
          </a:xfrm>
          <a:prstGeom prst="rect">
            <a:avLst/>
          </a:prstGeom>
          <a:noFill/>
          <a:ln w="9525">
            <a:noFill/>
            <a:miter lim="800000"/>
          </a:ln>
        </p:spPr>
        <p:txBody>
          <a:bodyPr lIns="87918" tIns="43959" rIns="87918" bIns="43959"/>
          <a:lstStyle/>
          <a:p>
            <a:pPr>
              <a:lnSpc>
                <a:spcPct val="150000"/>
              </a:lnSpc>
              <a:buClr>
                <a:srgbClr val="FF0000"/>
              </a:buClr>
              <a:defRPr/>
            </a:pPr>
            <a:r>
              <a:rPr lang="zh-CN" altLang="en-US" sz="1200" dirty="0">
                <a:latin typeface="思源黑体" pitchFamily="34" charset="-122"/>
                <a:ea typeface="思源黑体" pitchFamily="34" charset="-122"/>
              </a:rPr>
              <a:t>这次大会，是在全面建成小康社会决胜阶段，中国特色社会主义发展关键时期召开的 一次十分重要的 大会，我们党将明确宣示举什么旗，走什么路，以什么样的 精神状态，担负什么样的 历史使命，实现什么样的 奋斗目标，将提出具有全局性，战略性，前瞻性的 行动纲领。广大党员干部要深入学习贯彻十九大精神，形成浓厚的 宣传氛围，引导全体党员干部群众把思想和行动统一到党的 十九大精神上来。 十九大报告是有针对性的 ，既不走封闭僵化的 老路，也不走改旗异帜的 邪路，要充满定力，充满自信坚定不移地走中国特色社会主义道路。今后我们全党的 理论和实践都要聚焦到中国特色社会主义这个根本主题上来。这个政治意义是深远的 ，表达了聚焦，自信和定力。</a:t>
            </a:r>
            <a:endParaRPr lang="zh-CN" altLang="en-US" sz="1200" dirty="0">
              <a:latin typeface="思源黑体" pitchFamily="34" charset="-122"/>
              <a:ea typeface="思源黑体" pitchFamily="34" charset="-122"/>
            </a:endParaRPr>
          </a:p>
          <a:p>
            <a:pPr>
              <a:lnSpc>
                <a:spcPct val="150000"/>
              </a:lnSpc>
              <a:buClr>
                <a:srgbClr val="FF0000"/>
              </a:buClr>
              <a:buFont typeface="Wingdings" panose="05000000000000000000" pitchFamily="2" charset="2"/>
              <a:buChar char="l"/>
              <a:defRPr/>
            </a:pPr>
            <a:endParaRPr lang="zh-CN" altLang="en-US" sz="1200" dirty="0">
              <a:latin typeface="思源黑体" pitchFamily="34" charset="-122"/>
              <a:ea typeface="思源黑体" pitchFamily="34" charset="-122"/>
            </a:endParaRPr>
          </a:p>
          <a:p>
            <a:pPr>
              <a:lnSpc>
                <a:spcPct val="150000"/>
              </a:lnSpc>
              <a:buClr>
                <a:srgbClr val="FF0000"/>
              </a:buClr>
              <a:buFont typeface="Wingdings" panose="05000000000000000000" pitchFamily="2" charset="2"/>
              <a:buChar char="l"/>
              <a:defRPr/>
            </a:pPr>
            <a:endParaRPr lang="zh-CN" altLang="en-US" sz="1200" dirty="0">
              <a:latin typeface="思源黑体" pitchFamily="34" charset="-122"/>
              <a:ea typeface="思源黑体" pitchFamily="34" charset="-122"/>
            </a:endParaRPr>
          </a:p>
        </p:txBody>
      </p:sp>
      <p:sp>
        <p:nvSpPr>
          <p:cNvPr id="8" name="学党史感党恩跟党走"/>
          <p:cNvSpPr/>
          <p:nvPr/>
        </p:nvSpPr>
        <p:spPr>
          <a:xfrm>
            <a:off x="1044526" y="185738"/>
            <a:ext cx="3813224" cy="392414"/>
          </a:xfrm>
          <a:prstGeom prst="rect">
            <a:avLst/>
          </a:prstGeom>
        </p:spPr>
        <p:txBody>
          <a:bodyPr wrap="square" lIns="68579" tIns="34289" rIns="68579" bIns="34289">
            <a:spAutoFit/>
          </a:bodyPr>
          <a:lstStyle/>
          <a:p>
            <a:pPr algn="ct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中国共产党全国代表大会简述</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学党史感党恩跟党走"/>
          <p:cNvSpPr/>
          <p:nvPr/>
        </p:nvSpPr>
        <p:spPr>
          <a:xfrm>
            <a:off x="1071538" y="2285998"/>
            <a:ext cx="6500858" cy="1200329"/>
          </a:xfrm>
          <a:prstGeom prst="rect">
            <a:avLst/>
          </a:prstGeom>
        </p:spPr>
        <p:txBody>
          <a:bodyPr wrap="square">
            <a:spAutoFit/>
          </a:bodyPr>
          <a:lstStyle/>
          <a:p>
            <a:pPr algn="ctr" defTabSz="685800">
              <a:defRPr/>
            </a:pPr>
            <a:r>
              <a:rPr lang="zh-CN" altLang="en-US" sz="36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只有中国</a:t>
            </a:r>
            <a:endParaRPr lang="en-US" altLang="zh-CN" sz="36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a:p>
            <a:pPr algn="ctr" defTabSz="685800">
              <a:defRPr/>
            </a:pPr>
            <a:r>
              <a:rPr lang="zh-CN" altLang="en-US" sz="36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共产党才能领导中国</a:t>
            </a:r>
            <a:endParaRPr lang="zh-CN" altLang="en-US" sz="36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nvGrpSpPr>
          <p:cNvPr id="7" name="学党史感党恩跟党走"/>
          <p:cNvGrpSpPr/>
          <p:nvPr/>
        </p:nvGrpSpPr>
        <p:grpSpPr bwMode="auto">
          <a:xfrm>
            <a:off x="2928926" y="1428744"/>
            <a:ext cx="3117618" cy="571503"/>
            <a:chOff x="2215144" y="796793"/>
            <a:chExt cx="1120422" cy="1049275"/>
          </a:xfrm>
        </p:grpSpPr>
        <p:sp>
          <p:nvSpPr>
            <p:cNvPr id="9" name="学党史感党恩跟党走"/>
            <p:cNvSpPr/>
            <p:nvPr/>
          </p:nvSpPr>
          <p:spPr>
            <a:xfrm>
              <a:off x="2215144" y="796793"/>
              <a:ext cx="1120422" cy="1029595"/>
            </a:xfrm>
            <a:prstGeom prst="parallelogram">
              <a:avLst>
                <a:gd name="adj" fmla="val 4820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400" b="1" noProof="1">
                <a:latin typeface="思源黑体" pitchFamily="34" charset="-122"/>
                <a:ea typeface="思源黑体" pitchFamily="34" charset="-122"/>
                <a:sym typeface="微软雅黑" panose="020B0503020204020204" pitchFamily="34" charset="-122"/>
              </a:endParaRPr>
            </a:p>
          </p:txBody>
        </p:sp>
        <p:sp>
          <p:nvSpPr>
            <p:cNvPr id="10" name="学党史感党恩跟党走"/>
            <p:cNvSpPr txBox="1"/>
            <p:nvPr/>
          </p:nvSpPr>
          <p:spPr>
            <a:xfrm>
              <a:off x="2278885" y="885440"/>
              <a:ext cx="975599" cy="960628"/>
            </a:xfrm>
            <a:prstGeom prst="rect">
              <a:avLst/>
            </a:prstGeom>
            <a:noFill/>
          </p:spPr>
          <p:txBody>
            <a:bodyPr wrap="square">
              <a:spAutoFit/>
            </a:bodyPr>
            <a:lstStyle/>
            <a:p>
              <a:pPr algn="ctr" fontAlgn="auto"/>
              <a:r>
                <a:rPr lang="zh-CN" altLang="en-US" sz="2800" b="1" noProof="1" smtClean="0">
                  <a:solidFill>
                    <a:schemeClr val="bg1"/>
                  </a:solidFill>
                  <a:latin typeface="思源黑体" pitchFamily="34" charset="-122"/>
                  <a:ea typeface="思源黑体" pitchFamily="34" charset="-122"/>
                  <a:sym typeface="微软雅黑" panose="020B0503020204020204" pitchFamily="34" charset="-122"/>
                </a:rPr>
                <a:t>第三部分</a:t>
              </a:r>
              <a:endParaRPr lang="zh-CN" altLang="en-US" sz="2800" b="1" noProof="1">
                <a:solidFill>
                  <a:schemeClr val="bg1"/>
                </a:solidFill>
                <a:latin typeface="思源黑体" pitchFamily="34" charset="-122"/>
                <a:ea typeface="思源黑体" pitchFamily="34" charset="-122"/>
                <a:sym typeface="微软雅黑" panose="020B0503020204020204" pitchFamily="34" charset="-122"/>
              </a:endParaRPr>
            </a:p>
          </p:txBody>
        </p:sp>
      </p:grpSp>
      <p:pic>
        <p:nvPicPr>
          <p:cNvPr id="11" name="图片 10"/>
          <p:cNvPicPr>
            <a:picLocks noChangeAspect="1"/>
          </p:cNvPicPr>
          <p:nvPr/>
        </p:nvPicPr>
        <p:blipFill rotWithShape="1">
          <a:blip r:embed="rId1" cstate="screen"/>
          <a:srcRect/>
          <a:stretch>
            <a:fillRect/>
          </a:stretch>
        </p:blipFill>
        <p:spPr>
          <a:xfrm flipH="1">
            <a:off x="5413177" y="1"/>
            <a:ext cx="3730823" cy="1836965"/>
          </a:xfrm>
          <a:prstGeom prst="rect">
            <a:avLst/>
          </a:prstGeom>
          <a:effectLst>
            <a:outerShdw blurRad="63500" sx="102000" sy="102000" algn="ctr" rotWithShape="0">
              <a:prstClr val="black">
                <a:alpha val="40000"/>
              </a:prstClr>
            </a:outerShdw>
          </a:effectLst>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45" y="267465"/>
            <a:ext cx="2637826" cy="12983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advClick="0" advTm="0">
        <p14:doors dir="ver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6*min(max(#ppt_w*#ppt_h,.3),1)-7.4)/-.7*#ppt_w"/>
                                          </p:val>
                                        </p:tav>
                                        <p:tav tm="100000">
                                          <p:val>
                                            <p:strVal val="#ppt_w"/>
                                          </p:val>
                                        </p:tav>
                                      </p:tavLst>
                                    </p:anim>
                                    <p:anim calcmode="lin" valueType="num">
                                      <p:cBhvr>
                                        <p:cTn id="8" dur="1000" fill="hold"/>
                                        <p:tgtEl>
                                          <p:spTgt spid="4"/>
                                        </p:tgtEl>
                                        <p:attrNameLst>
                                          <p:attrName>ppt_h</p:attrName>
                                        </p:attrNameLst>
                                      </p:cBhvr>
                                      <p:tavLst>
                                        <p:tav tm="0">
                                          <p:val>
                                            <p:strVal val="(6*min(max(#ppt_w*#ppt_h,.3),1)-7.4)/-.7*#ppt_h"/>
                                          </p:val>
                                        </p:tav>
                                        <p:tav tm="100000">
                                          <p:val>
                                            <p:strVal val="#ppt_h"/>
                                          </p:val>
                                        </p:tav>
                                      </p:tavLst>
                                    </p:anim>
                                    <p:anim calcmode="lin" valueType="num">
                                      <p:cBhvr>
                                        <p:cTn id="9" dur="1000" fill="hold"/>
                                        <p:tgtEl>
                                          <p:spTgt spid="4"/>
                                        </p:tgtEl>
                                        <p:attrNameLst>
                                          <p:attrName>ppt_x</p:attrName>
                                        </p:attrNameLst>
                                      </p:cBhvr>
                                      <p:tavLst>
                                        <p:tav tm="0">
                                          <p:val>
                                            <p:fltVal val="0.5"/>
                                          </p:val>
                                        </p:tav>
                                        <p:tav tm="100000">
                                          <p:val>
                                            <p:strVal val="#ppt_x"/>
                                          </p:val>
                                        </p:tav>
                                      </p:tavLst>
                                    </p:anim>
                                    <p:anim calcmode="lin" valueType="num">
                                      <p:cBhvr>
                                        <p:cTn id="10" dur="1000" fill="hold"/>
                                        <p:tgtEl>
                                          <p:spTgt spid="4"/>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ppt_x</p:attrName>
                                        </p:attrNameLst>
                                      </p:cBhvr>
                                      <p:tavLst>
                                        <p:tav tm="0">
                                          <p:val>
                                            <p:strVal val="0-#ppt_w/2"/>
                                          </p:val>
                                        </p:tav>
                                        <p:tav tm="100000">
                                          <p:val>
                                            <p:strVal val="#ppt_x"/>
                                          </p:val>
                                        </p:tav>
                                      </p:tavLst>
                                    </p:anim>
                                    <p:anim calcmode="lin" valueType="num">
                                      <p:cBhvr>
                                        <p:cTn id="15" dur="500" fill="hold"/>
                                        <p:tgtEl>
                                          <p:spTgt spid="7"/>
                                        </p:tgtEl>
                                        <p:attrNameLst>
                                          <p:attrName>ppt_y</p:attrName>
                                        </p:attrNameLst>
                                      </p:cBhvr>
                                      <p:tavLst>
                                        <p:tav tm="0">
                                          <p:val>
                                            <p:strVal val="#ppt_y"/>
                                          </p:val>
                                        </p:tav>
                                        <p:tav tm="100000">
                                          <p:val>
                                            <p:strVal val="#ppt_y"/>
                                          </p:val>
                                        </p:tav>
                                      </p:tavLst>
                                    </p:anim>
                                  </p:childTnLst>
                                </p:cTn>
                              </p:par>
                              <p:par>
                                <p:cTn id="16" presetID="14" presetClass="entr" presetSubtype="1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randombar(horizontal)">
                                      <p:cBhvr>
                                        <p:cTn id="18" dur="500"/>
                                        <p:tgtEl>
                                          <p:spTgt spid="11"/>
                                        </p:tgtEl>
                                      </p:cBhvr>
                                    </p:animEffect>
                                  </p:childTnLst>
                                </p:cTn>
                              </p:par>
                            </p:childTnLst>
                          </p:cTn>
                        </p:par>
                        <p:par>
                          <p:cTn id="19" fill="hold">
                            <p:stCondLst>
                              <p:cond delay="1500"/>
                            </p:stCondLst>
                            <p:childTnLst>
                              <p:par>
                                <p:cTn id="20" presetID="18" presetClass="entr" presetSubtype="3"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strips(upRight)">
                                      <p:cBhvr>
                                        <p:cTn id="2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学党史感党恩跟党走"/>
          <p:cNvSpPr/>
          <p:nvPr/>
        </p:nvSpPr>
        <p:spPr>
          <a:xfrm>
            <a:off x="1044527" y="185738"/>
            <a:ext cx="4906107" cy="392414"/>
          </a:xfrm>
          <a:prstGeom prst="rect">
            <a:avLst/>
          </a:prstGeom>
        </p:spPr>
        <p:txBody>
          <a:bodyPr wrap="square" lIns="68579" tIns="34289" rIns="68579" bIns="34289">
            <a:spAutoFit/>
          </a:bodyPr>
          <a:lstStyle/>
          <a:p>
            <a:pP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只有中国共产党才能领导中国</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9"/>
              <a:ext cx="3700261" cy="379754"/>
            </a:xfrm>
            <a:prstGeom prst="rect">
              <a:avLst/>
            </a:prstGeom>
          </p:spPr>
          <p:txBody>
            <a:bodyPr>
              <a:spAutoFit/>
            </a:bodyPr>
            <a:lstStyle/>
            <a:p>
              <a:pPr algn="ctr">
                <a:defRPr/>
              </a:pPr>
              <a:r>
                <a:rPr lang="zh-CN" altLang="en-US" b="1" noProof="1" smtClean="0">
                  <a:solidFill>
                    <a:schemeClr val="bg1"/>
                  </a:solidFill>
                  <a:latin typeface="思源黑体" pitchFamily="34" charset="-122"/>
                  <a:ea typeface="思源黑体" pitchFamily="34" charset="-122"/>
                </a:rPr>
                <a:t>没有共产党，就没有新中国</a:t>
              </a:r>
              <a:endParaRPr lang="zh-CN" altLang="en-US" b="1" noProof="1">
                <a:solidFill>
                  <a:schemeClr val="bg1"/>
                </a:solidFill>
                <a:latin typeface="思源黑体" pitchFamily="34" charset="-122"/>
                <a:ea typeface="思源黑体" pitchFamily="34" charset="-122"/>
              </a:endParaRPr>
            </a:p>
          </p:txBody>
        </p:sp>
      </p:grpSp>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52035" y="2029258"/>
            <a:ext cx="5971595" cy="2591984"/>
          </a:xfrm>
          <a:prstGeom prst="rect">
            <a:avLst/>
          </a:prstGeom>
          <a:noFill/>
          <a:ln w="9525">
            <a:noFill/>
            <a:miter lim="800000"/>
          </a:ln>
        </p:spPr>
        <p:txBody>
          <a:bodyPr lIns="87918" tIns="43959" rIns="87918" bIns="43959"/>
          <a:lstStyle/>
          <a:p>
            <a:pPr>
              <a:lnSpc>
                <a:spcPct val="200000"/>
              </a:lnSpc>
              <a:defRPr/>
            </a:pPr>
            <a:r>
              <a:rPr lang="zh-CN" altLang="en-US" sz="1200" noProof="1">
                <a:latin typeface="思源黑体" pitchFamily="34" charset="-122"/>
                <a:ea typeface="思源黑体" pitchFamily="34" charset="-122"/>
              </a:rPr>
              <a:t>中国共产党领导中国人民进行革命和建设已走过</a:t>
            </a:r>
            <a:r>
              <a:rPr lang="zh-CN" altLang="en-US" sz="1200" noProof="1" smtClean="0">
                <a:latin typeface="思源黑体" pitchFamily="34" charset="-122"/>
                <a:ea typeface="思源黑体" pitchFamily="34" charset="-122"/>
              </a:rPr>
              <a:t>了</a:t>
            </a:r>
            <a:r>
              <a:rPr lang="en-US" altLang="zh-CN" sz="1200" noProof="1" smtClean="0">
                <a:latin typeface="思源黑体" pitchFamily="34" charset="-122"/>
                <a:ea typeface="思源黑体" pitchFamily="34" charset="-122"/>
              </a:rPr>
              <a:t>100</a:t>
            </a:r>
            <a:r>
              <a:rPr lang="zh-CN" altLang="en-US" sz="1200" noProof="1" smtClean="0">
                <a:latin typeface="思源黑体" pitchFamily="34" charset="-122"/>
                <a:ea typeface="思源黑体" pitchFamily="34" charset="-122"/>
              </a:rPr>
              <a:t>年</a:t>
            </a:r>
            <a:r>
              <a:rPr lang="zh-CN" altLang="en-US" sz="1200" noProof="1">
                <a:latin typeface="思源黑体" pitchFamily="34" charset="-122"/>
                <a:ea typeface="思源黑体" pitchFamily="34" charset="-122"/>
              </a:rPr>
              <a:t>的历史，取的了一系列辉煌的胜利。回顾党的历史，有以下几点基本经验可以在今天借鉴：</a:t>
            </a:r>
            <a:endParaRPr lang="zh-CN" altLang="en-US" sz="1200" noProof="1">
              <a:latin typeface="思源黑体" pitchFamily="34" charset="-122"/>
              <a:ea typeface="思源黑体" pitchFamily="34" charset="-122"/>
            </a:endParaRPr>
          </a:p>
          <a:p>
            <a:pPr>
              <a:lnSpc>
                <a:spcPct val="200000"/>
              </a:lnSpc>
              <a:defRPr/>
            </a:pPr>
            <a:r>
              <a:rPr lang="zh-CN" altLang="en-US" sz="1200" noProof="1">
                <a:latin typeface="思源黑体" pitchFamily="34" charset="-122"/>
                <a:ea typeface="思源黑体" pitchFamily="34" charset="-122"/>
              </a:rPr>
              <a:t>一、没有共产党，就没有新中国；只有共产党，才能建设好新中国</a:t>
            </a:r>
            <a:endParaRPr lang="zh-CN" altLang="en-US" sz="1200" noProof="1">
              <a:latin typeface="思源黑体" pitchFamily="34" charset="-122"/>
              <a:ea typeface="思源黑体" pitchFamily="34" charset="-122"/>
            </a:endParaRPr>
          </a:p>
          <a:p>
            <a:pPr>
              <a:lnSpc>
                <a:spcPct val="200000"/>
              </a:lnSpc>
              <a:defRPr/>
            </a:pPr>
            <a:r>
              <a:rPr lang="zh-CN" altLang="en-US" sz="1200" noProof="1">
                <a:latin typeface="思源黑体" pitchFamily="34" charset="-122"/>
                <a:ea typeface="思源黑体" pitchFamily="34" charset="-122"/>
              </a:rPr>
              <a:t>二、只有马克思主义才能救中国，才能指导中国的现代化建设</a:t>
            </a:r>
            <a:endParaRPr lang="zh-CN" altLang="en-US" sz="1200" noProof="1">
              <a:latin typeface="思源黑体" pitchFamily="34" charset="-122"/>
              <a:ea typeface="思源黑体" pitchFamily="34" charset="-122"/>
            </a:endParaRPr>
          </a:p>
          <a:p>
            <a:pPr>
              <a:lnSpc>
                <a:spcPct val="200000"/>
              </a:lnSpc>
              <a:defRPr/>
            </a:pPr>
            <a:r>
              <a:rPr lang="zh-CN" altLang="en-US" sz="1200" noProof="1">
                <a:latin typeface="思源黑体" pitchFamily="34" charset="-122"/>
                <a:ea typeface="思源黑体" pitchFamily="34" charset="-122"/>
              </a:rPr>
              <a:t>三、共产主义是共产党人追求的最终理想，也是人类社会的最终理想</a:t>
            </a:r>
            <a:endParaRPr lang="zh-CN" altLang="en-US" sz="1200" noProof="1">
              <a:latin typeface="思源黑体" pitchFamily="34" charset="-122"/>
              <a:ea typeface="思源黑体" pitchFamily="34" charset="-122"/>
            </a:endParaRPr>
          </a:p>
          <a:p>
            <a:pPr>
              <a:lnSpc>
                <a:spcPct val="200000"/>
              </a:lnSpc>
              <a:defRPr/>
            </a:pPr>
            <a:r>
              <a:rPr lang="zh-CN" altLang="en-US" sz="1200" noProof="1">
                <a:latin typeface="思源黑体" pitchFamily="34" charset="-122"/>
                <a:ea typeface="思源黑体" pitchFamily="34" charset="-122"/>
              </a:rPr>
              <a:t>四、只有社会主义才能救中国，只有走有中国特色社会主义道路才能实现现代化</a:t>
            </a:r>
            <a:endParaRPr lang="zh-CN" altLang="en-US" sz="1200" noProof="1">
              <a:latin typeface="思源黑体" pitchFamily="34" charset="-122"/>
              <a:ea typeface="思源黑体" pitchFamily="34"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学党史感党恩跟党走"/>
          <p:cNvSpPr/>
          <p:nvPr/>
        </p:nvSpPr>
        <p:spPr>
          <a:xfrm>
            <a:off x="1044527" y="185738"/>
            <a:ext cx="4906107" cy="392414"/>
          </a:xfrm>
          <a:prstGeom prst="rect">
            <a:avLst/>
          </a:prstGeom>
        </p:spPr>
        <p:txBody>
          <a:bodyPr wrap="square" lIns="68579" tIns="34289" rIns="68579" bIns="34289">
            <a:spAutoFit/>
          </a:bodyPr>
          <a:lstStyle/>
          <a:p>
            <a:pP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只有中国共产党才能领导中国</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8"/>
              <a:ext cx="3700261" cy="379754"/>
            </a:xfrm>
            <a:prstGeom prst="rect">
              <a:avLst/>
            </a:prstGeom>
          </p:spPr>
          <p:txBody>
            <a:bodyPr>
              <a:spAutoFit/>
            </a:bodyPr>
            <a:lstStyle/>
            <a:p>
              <a:pPr algn="ctr" defTabSz="685800">
                <a:defRPr/>
              </a:pPr>
              <a:r>
                <a:rPr lang="zh-CN" altLang="en-US" b="1" dirty="0" smtClean="0">
                  <a:solidFill>
                    <a:schemeClr val="bg1"/>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只有中国共产党才能领导中国</a:t>
              </a:r>
              <a:endParaRPr lang="zh-CN" altLang="en-US" b="1" dirty="0">
                <a:solidFill>
                  <a:schemeClr val="bg1"/>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37748" y="2000683"/>
            <a:ext cx="5806078" cy="2591984"/>
          </a:xfrm>
          <a:prstGeom prst="rect">
            <a:avLst/>
          </a:prstGeom>
          <a:noFill/>
          <a:ln w="9525">
            <a:noFill/>
            <a:miter lim="800000"/>
          </a:ln>
        </p:spPr>
        <p:txBody>
          <a:bodyPr lIns="87918" tIns="43959" rIns="87918" bIns="43959"/>
          <a:lstStyle/>
          <a:p>
            <a:pPr>
              <a:lnSpc>
                <a:spcPct val="150000"/>
              </a:lnSpc>
              <a:defRPr/>
            </a:pPr>
            <a:r>
              <a:rPr lang="zh-CN" altLang="en-US" sz="1200" noProof="1" smtClean="0">
                <a:latin typeface="思源黑体" pitchFamily="34" charset="-122"/>
                <a:ea typeface="思源黑体" pitchFamily="34" charset="-122"/>
              </a:rPr>
              <a:t>中国共产党之所以能够取的革命胜利并在革命胜利后长期执政，关键就在于有一个正确的理论指导。</a:t>
            </a:r>
            <a:r>
              <a:rPr lang="en-US" altLang="zh-CN" sz="1200" noProof="1" smtClean="0">
                <a:latin typeface="思源黑体" pitchFamily="34" charset="-122"/>
                <a:ea typeface="思源黑体" pitchFamily="34" charset="-122"/>
              </a:rPr>
              <a:t>100</a:t>
            </a:r>
            <a:r>
              <a:rPr lang="zh-CN" altLang="en-US" sz="1200" noProof="1" smtClean="0">
                <a:latin typeface="思源黑体" pitchFamily="34" charset="-122"/>
                <a:ea typeface="思源黑体" pitchFamily="34" charset="-122"/>
              </a:rPr>
              <a:t>年的历史清楚地告诉我们，什么时候密切联系群众，为人民服务做的好，党的事业就发展、就胜利前进；什么时候脱离群众，办了不利于人民的事情，党的事业就遭受挫折甚至失败。中国共产党要完成国家和民族赋予的伟大历史任务，的到人民的拥护和信任，首先要把自身建设好，成为思想上、政治上、组织上巩固的党。中国共产党已经走过了</a:t>
            </a:r>
            <a:r>
              <a:rPr lang="en-US" altLang="zh-CN" sz="1200" noProof="1" smtClean="0">
                <a:latin typeface="思源黑体" pitchFamily="34" charset="-122"/>
                <a:ea typeface="思源黑体" pitchFamily="34" charset="-122"/>
              </a:rPr>
              <a:t>100</a:t>
            </a:r>
            <a:r>
              <a:rPr lang="zh-CN" altLang="en-US" sz="1200" noProof="1" smtClean="0">
                <a:latin typeface="思源黑体" pitchFamily="34" charset="-122"/>
                <a:ea typeface="思源黑体" pitchFamily="34" charset="-122"/>
              </a:rPr>
              <a:t>年的历程，称的上一个老党，但依然充满青春活力、朝气蓬勃，强有力地领导着一个</a:t>
            </a:r>
            <a:r>
              <a:rPr lang="en-US" altLang="zh-CN" sz="1200" noProof="1" smtClean="0">
                <a:latin typeface="思源黑体" pitchFamily="34" charset="-122"/>
                <a:ea typeface="思源黑体" pitchFamily="34" charset="-122"/>
              </a:rPr>
              <a:t>13</a:t>
            </a:r>
            <a:r>
              <a:rPr lang="zh-CN" altLang="en-US" sz="1200" noProof="1" smtClean="0">
                <a:latin typeface="思源黑体" pitchFamily="34" charset="-122"/>
                <a:ea typeface="思源黑体" pitchFamily="34" charset="-122"/>
              </a:rPr>
              <a:t>亿多人口的社会主义大国，满怀信心地阔步前进。在当今世界社会主义处于低潮、许多社会主义国家的共产党失去执政地位的情况下，这是一个备受关注的历史现象。</a:t>
            </a:r>
            <a:endParaRPr lang="zh-CN" altLang="en-US" sz="1200" noProof="1" smtClean="0">
              <a:latin typeface="思源黑体" pitchFamily="34" charset="-122"/>
              <a:ea typeface="思源黑体" pitchFamily="34" charset="-122"/>
            </a:endParaRPr>
          </a:p>
          <a:p>
            <a:pPr>
              <a:lnSpc>
                <a:spcPct val="150000"/>
              </a:lnSpc>
              <a:defRPr/>
            </a:pPr>
            <a:r>
              <a:rPr lang="zh-CN" altLang="en-US" sz="1200" noProof="1" smtClean="0">
                <a:latin typeface="思源黑体" pitchFamily="34" charset="-122"/>
                <a:ea typeface="思源黑体" pitchFamily="34" charset="-122"/>
              </a:rPr>
              <a:t>　　</a:t>
            </a:r>
            <a:endParaRPr lang="zh-CN" altLang="en-US" sz="1200" noProof="1">
              <a:latin typeface="思源黑体" pitchFamily="34" charset="-122"/>
              <a:ea typeface="思源黑体" pitchFamily="34"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36856"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学党史感党恩跟党走"/>
          <p:cNvSpPr/>
          <p:nvPr/>
        </p:nvSpPr>
        <p:spPr>
          <a:xfrm>
            <a:off x="1044527" y="185738"/>
            <a:ext cx="4906107" cy="392414"/>
          </a:xfrm>
          <a:prstGeom prst="rect">
            <a:avLst/>
          </a:prstGeom>
        </p:spPr>
        <p:txBody>
          <a:bodyPr wrap="square" lIns="68579" tIns="34289" rIns="68579" bIns="34289">
            <a:spAutoFit/>
          </a:bodyPr>
          <a:lstStyle/>
          <a:p>
            <a:pPr defTabSz="685800">
              <a:defRPr/>
            </a:pPr>
            <a:r>
              <a:rPr lang="zh-CN" altLang="en-US" sz="2100" b="1" dirty="0" smtClean="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只有中国共产党才能领导中国</a:t>
            </a:r>
            <a:endParaRPr lang="zh-CN" altLang="en-US" sz="2100" b="1" dirty="0">
              <a:solidFill>
                <a:srgbClr val="C00000"/>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nvGrpSpPr>
          <p:cNvPr id="2" name="学党史感党恩跟党走"/>
          <p:cNvGrpSpPr/>
          <p:nvPr/>
        </p:nvGrpSpPr>
        <p:grpSpPr bwMode="auto">
          <a:xfrm>
            <a:off x="1409385" y="1187754"/>
            <a:ext cx="6503693" cy="456784"/>
            <a:chOff x="467545" y="1895344"/>
            <a:chExt cx="4335501" cy="469674"/>
          </a:xfrm>
        </p:grpSpPr>
        <p:pic>
          <p:nvPicPr>
            <p:cNvPr id="10" name="学党史感党恩跟党走"/>
            <p:cNvPicPr>
              <a:picLocks noChangeAspect="1"/>
            </p:cNvPicPr>
            <p:nvPr/>
          </p:nvPicPr>
          <p:blipFill>
            <a:blip r:embed="rId1" cstate="print"/>
            <a:stretch>
              <a:fillRect/>
            </a:stretch>
          </p:blipFill>
          <p:spPr>
            <a:xfrm flipH="1">
              <a:off x="467545" y="1895344"/>
              <a:ext cx="4335501" cy="469674"/>
            </a:xfrm>
            <a:prstGeom prst="rect">
              <a:avLst/>
            </a:prstGeom>
            <a:effectLst>
              <a:outerShdw blurRad="50800" dist="38100" dir="2700000" algn="tl" rotWithShape="0">
                <a:prstClr val="black">
                  <a:alpha val="40000"/>
                </a:prstClr>
              </a:outerShdw>
              <a:reflection blurRad="6350" stA="77000" endPos="42000" dir="5400000" sy="-100000" algn="bl" rotWithShape="0"/>
            </a:effectLst>
          </p:spPr>
        </p:pic>
        <p:sp>
          <p:nvSpPr>
            <p:cNvPr id="11" name="学党史感党恩跟党走"/>
            <p:cNvSpPr/>
            <p:nvPr/>
          </p:nvSpPr>
          <p:spPr>
            <a:xfrm>
              <a:off x="785978" y="1975418"/>
              <a:ext cx="3700261" cy="379754"/>
            </a:xfrm>
            <a:prstGeom prst="rect">
              <a:avLst/>
            </a:prstGeom>
          </p:spPr>
          <p:txBody>
            <a:bodyPr>
              <a:spAutoFit/>
            </a:bodyPr>
            <a:lstStyle/>
            <a:p>
              <a:pPr algn="ctr" defTabSz="685800">
                <a:defRPr/>
              </a:pPr>
              <a:r>
                <a:rPr lang="zh-CN" altLang="en-US" b="1" dirty="0" smtClean="0">
                  <a:solidFill>
                    <a:schemeClr val="bg1"/>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rPr>
                <a:t>只有中国共产党才能领导中国</a:t>
              </a:r>
              <a:endParaRPr lang="zh-CN" altLang="en-US" b="1" dirty="0">
                <a:solidFill>
                  <a:schemeClr val="bg1"/>
                </a:solidFill>
                <a:latin typeface="思源黑体" pitchFamily="34" charset="-122"/>
                <a:ea typeface="思源黑体" pitchFamily="34" charset="-122"/>
                <a:cs typeface="阿里巴巴普惠体 B" panose="00020600040101010101" pitchFamily="18" charset="-122"/>
                <a:sym typeface="字魂58号-创中黑-Regular" panose="00000500000000000000" pitchFamily="2" charset="-122"/>
              </a:endParaRPr>
            </a:p>
          </p:txBody>
        </p:sp>
      </p:grpSp>
      <p:sp>
        <p:nvSpPr>
          <p:cNvPr id="20" name="学党史感党恩跟党走"/>
          <p:cNvSpPr/>
          <p:nvPr/>
        </p:nvSpPr>
        <p:spPr>
          <a:xfrm>
            <a:off x="1846385" y="1835828"/>
            <a:ext cx="6056142" cy="2686818"/>
          </a:xfrm>
          <a:prstGeom prst="rect">
            <a:avLst/>
          </a:prstGeom>
          <a:noFill/>
          <a:ln w="19050" cmpd="dbl">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latin typeface="思源黑体" pitchFamily="34" charset="-122"/>
              <a:ea typeface="思源黑体" pitchFamily="34" charset="-122"/>
            </a:endParaRPr>
          </a:p>
        </p:txBody>
      </p:sp>
      <p:sp>
        <p:nvSpPr>
          <p:cNvPr id="21" name="学党史感党恩跟党走"/>
          <p:cNvSpPr txBox="1">
            <a:spLocks noChangeArrowheads="1"/>
          </p:cNvSpPr>
          <p:nvPr/>
        </p:nvSpPr>
        <p:spPr bwMode="auto">
          <a:xfrm>
            <a:off x="1952035" y="1914957"/>
            <a:ext cx="5834653" cy="2591984"/>
          </a:xfrm>
          <a:prstGeom prst="rect">
            <a:avLst/>
          </a:prstGeom>
          <a:noFill/>
          <a:ln w="9525">
            <a:noFill/>
            <a:miter lim="800000"/>
          </a:ln>
        </p:spPr>
        <p:txBody>
          <a:bodyPr lIns="87918" tIns="43959" rIns="87918" bIns="43959"/>
          <a:lstStyle/>
          <a:p>
            <a:pPr>
              <a:lnSpc>
                <a:spcPct val="200000"/>
              </a:lnSpc>
              <a:defRPr/>
            </a:pPr>
            <a:r>
              <a:rPr lang="zh-CN" altLang="en-US" sz="1200" noProof="1" smtClean="0">
                <a:latin typeface="思源黑体" pitchFamily="34" charset="-122"/>
                <a:ea typeface="思源黑体" pitchFamily="34" charset="-122"/>
              </a:rPr>
              <a:t>中国共产党在</a:t>
            </a:r>
            <a:r>
              <a:rPr lang="en-US" altLang="zh-CN" sz="1200" noProof="1" smtClean="0">
                <a:latin typeface="思源黑体" pitchFamily="34" charset="-122"/>
                <a:ea typeface="思源黑体" pitchFamily="34" charset="-122"/>
              </a:rPr>
              <a:t>100</a:t>
            </a:r>
            <a:r>
              <a:rPr lang="zh-CN" altLang="en-US" sz="1200" noProof="1" smtClean="0">
                <a:latin typeface="思源黑体" pitchFamily="34" charset="-122"/>
                <a:ea typeface="思源黑体" pitchFamily="34" charset="-122"/>
              </a:rPr>
              <a:t>年的征程中，不知道遇到过多少艰难困苦和挑战考验，遭受过多少失败和挫折。但是，这一切都被一个一个地克服了、战胜了。历经磨难和曲折，中国共产党从失败走向胜利、又从胜利走向新的胜利。中国共产党的历史极为丰富，有非常珍贵的成功经验，又有十分惨痛的失败教训。中国共产党善于运用马克思主义的科学思想总结正反两方面的经验，肯定成绩，纠正错误，记取教训，并把它们提升到思想理论高度，教育全党，取的共识，形成合力，步调一致地沿着正确的方向继续前进；绝不因为犯过严重错误而全盘自我否定，也绝不因为取的伟大胜利而固步自封。</a:t>
            </a:r>
            <a:endParaRPr lang="zh-CN" altLang="en-US" sz="1200" noProof="1">
              <a:latin typeface="思源黑体" pitchFamily="34" charset="-122"/>
              <a:ea typeface="思源黑体" pitchFamily="34" charset="-122"/>
            </a:endParaRPr>
          </a:p>
        </p:txBody>
      </p:sp>
    </p:spTree>
  </p:cSld>
  <p:clrMapOvr>
    <a:masterClrMapping/>
  </p:clrMapOvr>
  <p:transition spd="slow" advClick="0" advTm="50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2500"/>
                            </p:stCondLst>
                            <p:childTnLst>
                              <p:par>
                                <p:cTn id="13" presetID="12" presetClass="entr" presetSubtype="4"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2000"/>
                                        <p:tgtEl>
                                          <p:spTgt spid="21"/>
                                        </p:tgtEl>
                                        <p:attrNameLst>
                                          <p:attrName>ppt_y</p:attrName>
                                        </p:attrNameLst>
                                      </p:cBhvr>
                                      <p:tavLst>
                                        <p:tav tm="0">
                                          <p:val>
                                            <p:strVal val="#ppt_y+#ppt_h*1.125000"/>
                                          </p:val>
                                        </p:tav>
                                        <p:tav tm="100000">
                                          <p:val>
                                            <p:strVal val="#ppt_y"/>
                                          </p:val>
                                        </p:tav>
                                      </p:tavLst>
                                    </p:anim>
                                    <p:animEffect transition="in" filter="wipe(up)">
                                      <p:cBhvr>
                                        <p:cTn id="1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H="1">
            <a:off x="0" y="1530803"/>
            <a:ext cx="1954650" cy="3364898"/>
          </a:xfrm>
          <a:prstGeom prst="rect">
            <a:avLst/>
          </a:prstGeom>
          <a:effectLst>
            <a:outerShdw blurRad="63500" sx="102000" sy="102000" algn="ctr" rotWithShape="0">
              <a:prstClr val="black">
                <a:alpha val="40000"/>
              </a:prstClr>
            </a:outerShdw>
          </a:effectLst>
        </p:spPr>
      </p:pic>
      <p:pic>
        <p:nvPicPr>
          <p:cNvPr id="6" name="图片 5"/>
          <p:cNvPicPr>
            <a:picLocks noChangeAspect="1"/>
          </p:cNvPicPr>
          <p:nvPr/>
        </p:nvPicPr>
        <p:blipFill rotWithShape="1">
          <a:blip r:embed="rId2" cstate="screen"/>
          <a:srcRect/>
          <a:stretch>
            <a:fillRect/>
          </a:stretch>
        </p:blipFill>
        <p:spPr>
          <a:xfrm flipH="1">
            <a:off x="5413177" y="1"/>
            <a:ext cx="3730823" cy="1836965"/>
          </a:xfrm>
          <a:prstGeom prst="rect">
            <a:avLst/>
          </a:prstGeom>
          <a:effectLst>
            <a:outerShdw blurRad="63500" sx="102000" sy="102000" algn="ctr" rotWithShape="0">
              <a:prstClr val="black">
                <a:alpha val="40000"/>
              </a:prstClr>
            </a:outerShdw>
          </a:effectLst>
        </p:spPr>
      </p:pic>
      <p:pic>
        <p:nvPicPr>
          <p:cNvPr id="5" name="PA_图片 23"/>
          <p:cNvPicPr>
            <a:picLocks noChangeAspect="1"/>
          </p:cNvPicPr>
          <p:nvPr>
            <p:custDataLst>
              <p:tags r:id="rId3"/>
            </p:custDataLst>
          </p:nvPr>
        </p:nvPicPr>
        <p:blipFill>
          <a:blip r:embed="rId4" cstate="screen"/>
          <a:stretch>
            <a:fillRect/>
          </a:stretch>
        </p:blipFill>
        <p:spPr>
          <a:xfrm>
            <a:off x="-2914" y="3697230"/>
            <a:ext cx="9146914" cy="1446271"/>
          </a:xfrm>
          <a:prstGeom prst="rect">
            <a:avLst/>
          </a:prstGeom>
        </p:spPr>
      </p:pic>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722914"/>
            <a:ext cx="4124595" cy="1420586"/>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945" y="267465"/>
            <a:ext cx="2637826" cy="1298341"/>
          </a:xfrm>
          <a:prstGeom prst="rect">
            <a:avLst/>
          </a:prstGeom>
        </p:spPr>
      </p:pic>
      <p:sp>
        <p:nvSpPr>
          <p:cNvPr id="18" name="矩形 17"/>
          <p:cNvSpPr/>
          <p:nvPr/>
        </p:nvSpPr>
        <p:spPr>
          <a:xfrm>
            <a:off x="1012401" y="1571618"/>
            <a:ext cx="7703003" cy="1084912"/>
          </a:xfrm>
          <a:prstGeom prst="rect">
            <a:avLst/>
          </a:prstGeom>
          <a:noFill/>
        </p:spPr>
        <p:txBody>
          <a:bodyPr wrap="square" lIns="68580" tIns="34290" rIns="68580" bIns="34290" rtlCol="0">
            <a:spAutoFit/>
          </a:bodyPr>
          <a:lstStyle/>
          <a:p>
            <a:pPr algn="ctr">
              <a:defRPr/>
            </a:pPr>
            <a:r>
              <a:rPr lang="zh-CN" altLang="en-US" sz="6600" b="1" dirty="0" smtClean="0">
                <a:ln w="15875">
                  <a:noFill/>
                </a:ln>
                <a:blipFill dpi="0" rotWithShape="1">
                  <a:blip r:embed="rId7"/>
                  <a:srcRect/>
                  <a:tile tx="0" ty="44450" sx="100000" sy="100000" flip="none" algn="tl"/>
                </a:blipFill>
                <a:latin typeface="思源黑体" pitchFamily="34" charset="-122"/>
                <a:ea typeface="思源黑体" pitchFamily="34" charset="-122"/>
                <a:cs typeface="+mn-ea"/>
                <a:sym typeface="微软雅黑" panose="020B0503020204020204" pitchFamily="34" charset="-122"/>
              </a:rPr>
              <a:t>谢谢您的欣赏</a:t>
            </a:r>
            <a:endParaRPr lang="zh-CN" altLang="en-US" sz="6600" b="1" dirty="0" smtClean="0">
              <a:ln w="15875">
                <a:noFill/>
              </a:ln>
              <a:blipFill dpi="0" rotWithShape="1">
                <a:blip r:embed="rId7"/>
                <a:srcRect/>
                <a:tile tx="0" ty="44450" sx="100000" sy="100000" flip="none" algn="tl"/>
              </a:blipFill>
              <a:latin typeface="思源黑体" pitchFamily="34" charset="-122"/>
              <a:ea typeface="思源黑体" pitchFamily="34" charset="-122"/>
              <a:cs typeface="+mn-ea"/>
              <a:sym typeface="微软雅黑" panose="020B0503020204020204" pitchFamily="34" charset="-122"/>
            </a:endParaRPr>
          </a:p>
        </p:txBody>
      </p:sp>
      <p:sp>
        <p:nvSpPr>
          <p:cNvPr id="19" name="矩形: 对角圆角 1"/>
          <p:cNvSpPr/>
          <p:nvPr/>
        </p:nvSpPr>
        <p:spPr>
          <a:xfrm>
            <a:off x="3066422" y="3457564"/>
            <a:ext cx="3744587" cy="372172"/>
          </a:xfrm>
          <a:prstGeom prst="round2DiagRect">
            <a:avLst/>
          </a:prstGeom>
          <a:solidFill>
            <a:srgbClr val="C00000"/>
          </a:solidFill>
          <a:ln>
            <a:solidFill>
              <a:srgbClr val="D2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zh-CN" altLang="en-US" sz="1500" b="1" dirty="0">
                <a:latin typeface="思源黑体" pitchFamily="34" charset="-122"/>
                <a:ea typeface="思源黑体" pitchFamily="34" charset="-122"/>
              </a:rPr>
              <a:t>请输入您的组织</a:t>
            </a:r>
            <a:r>
              <a:rPr lang="en-US" altLang="zh-CN" sz="1500" b="1" dirty="0">
                <a:latin typeface="思源黑体" pitchFamily="34" charset="-122"/>
                <a:ea typeface="思源黑体" pitchFamily="34" charset="-122"/>
              </a:rPr>
              <a:t>/</a:t>
            </a:r>
            <a:r>
              <a:rPr lang="zh-CN" altLang="en-US" sz="1500" b="1" dirty="0">
                <a:latin typeface="思源黑体" pitchFamily="34" charset="-122"/>
                <a:ea typeface="思源黑体" pitchFamily="34" charset="-122"/>
              </a:rPr>
              <a:t>单位名称</a:t>
            </a:r>
            <a:endParaRPr lang="zh-CN" altLang="en-US" sz="1500" b="1" dirty="0">
              <a:latin typeface="思源黑体" pitchFamily="34" charset="-122"/>
              <a:ea typeface="思源黑体"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800" advClick="0" advTm="0">
        <p:circle/>
      </p:transition>
    </mc:Choice>
    <mc:Fallback>
      <p:transition spd="slow" advClick="0" advTm="0">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1"/>
                                          </p:val>
                                        </p:tav>
                                        <p:tav tm="100000">
                                          <p:val>
                                            <p:strVal val="#ppt_y"/>
                                          </p:val>
                                        </p:tav>
                                      </p:tavLst>
                                    </p:anim>
                                  </p:childTnLst>
                                </p:cTn>
                              </p:par>
                              <p:par>
                                <p:cTn id="15" presetID="22" presetClass="entr" presetSubtype="2"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par>
                                <p:cTn id="18" presetID="14" presetClass="entr" presetSubtype="1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randombar(horizontal)">
                                      <p:cBhvr>
                                        <p:cTn id="20" dur="500"/>
                                        <p:tgtEl>
                                          <p:spTgt spid="6"/>
                                        </p:tgtEl>
                                      </p:cBhvr>
                                    </p:animEffect>
                                  </p:childTnLst>
                                </p:cTn>
                              </p:par>
                            </p:childTnLst>
                          </p:cTn>
                        </p:par>
                        <p:par>
                          <p:cTn id="21" fill="hold">
                            <p:stCondLst>
                              <p:cond delay="500"/>
                            </p:stCondLst>
                            <p:childTnLst>
                              <p:par>
                                <p:cTn id="22" presetID="18" presetClass="entr" presetSubtype="3"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strips(upRight)">
                                      <p:cBhvr>
                                        <p:cTn id="24" dur="2000"/>
                                        <p:tgtEl>
                                          <p:spTgt spid="17"/>
                                        </p:tgtEl>
                                      </p:cBhvr>
                                    </p:animEffect>
                                  </p:childTnLst>
                                </p:cTn>
                              </p:par>
                            </p:childTnLst>
                          </p:cTn>
                        </p:par>
                        <p:par>
                          <p:cTn id="25" fill="hold">
                            <p:stCondLst>
                              <p:cond delay="2500"/>
                            </p:stCondLst>
                            <p:childTnLst>
                              <p:par>
                                <p:cTn id="26" presetID="37" presetClass="entr" presetSubtype="0"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900" decel="100000" fill="hold"/>
                                        <p:tgtEl>
                                          <p:spTgt spid="18"/>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7781</Words>
  <Application>WPS 演示</Application>
  <PresentationFormat>全屏显示(16:9)</PresentationFormat>
  <Paragraphs>244</Paragraphs>
  <Slides>34</Slides>
  <Notes>33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34</vt:i4>
      </vt:variant>
    </vt:vector>
  </HeadingPairs>
  <TitlesOfParts>
    <vt:vector size="50" baseType="lpstr">
      <vt:lpstr>Arial</vt:lpstr>
      <vt:lpstr>宋体</vt:lpstr>
      <vt:lpstr>Wingdings</vt:lpstr>
      <vt:lpstr>Calibri</vt:lpstr>
      <vt:lpstr>Noto Sans S Chinese Light</vt:lpstr>
      <vt:lpstr>思源黑体</vt:lpstr>
      <vt:lpstr>华康黑体W7(P)</vt:lpstr>
      <vt:lpstr>微软雅黑</vt:lpstr>
      <vt:lpstr>仿宋_GB2312</vt:lpstr>
      <vt:lpstr>阿里巴巴普惠体 B</vt:lpstr>
      <vt:lpstr>字魂58号-创中黑-Regular</vt:lpstr>
      <vt:lpstr>Arial Unicode MS</vt:lpstr>
      <vt:lpstr>造字工房悦黑体验版常规体</vt:lpstr>
      <vt:lpstr>黑体</vt:lpstr>
      <vt:lpstr>仿宋</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019</dc:title>
  <dc:creator/>
  <cp:lastModifiedBy>枫叶图文</cp:lastModifiedBy>
  <cp:revision>62</cp:revision>
  <dcterms:created xsi:type="dcterms:W3CDTF">2020-12-02T08:27:00Z</dcterms:created>
  <dcterms:modified xsi:type="dcterms:W3CDTF">2021-06-24T01:09:42Z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2052-11.1.0.10578</vt:lpwstr>
  </property>
  <property fmtid="{D5CDD505-2E9C-101B-9397-08002B2CF9AE}" pid="3" name="KSOTemplateUUID">
    <vt:lpwstr>v1.0_mb_rlT7AyBUFtvmjg/owo/cmw==</vt:lpwstr>
  </property>
  <property fmtid="{D5CDD505-2E9C-101B-9397-08002B2CF9AE}" pid="4" name="ICV">
    <vt:lpwstr>89D41B05FC7745549BD6523A26AA9DF5</vt:lpwstr>
  </property>
</Properties>
</file>