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66" r:id="rId4"/>
  </p:sldMasterIdLst>
  <p:notesMasterIdLst>
    <p:notesMasterId r:id="rId8"/>
  </p:notesMasterIdLst>
  <p:sldIdLst>
    <p:sldId id="256" r:id="rId5"/>
    <p:sldId id="257" r:id="rId6"/>
    <p:sldId id="258" r:id="rId7"/>
    <p:sldId id="259" r:id="rId9"/>
    <p:sldId id="263" r:id="rId10"/>
    <p:sldId id="264" r:id="rId11"/>
    <p:sldId id="265" r:id="rId12"/>
    <p:sldId id="260" r:id="rId13"/>
    <p:sldId id="267" r:id="rId14"/>
    <p:sldId id="268" r:id="rId15"/>
    <p:sldId id="266" r:id="rId16"/>
    <p:sldId id="261" r:id="rId17"/>
    <p:sldId id="269" r:id="rId18"/>
    <p:sldId id="270" r:id="rId19"/>
    <p:sldId id="271" r:id="rId20"/>
    <p:sldId id="262" r:id="rId21"/>
    <p:sldId id="272" r:id="rId22"/>
    <p:sldId id="274" r:id="rId23"/>
    <p:sldId id="275"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0001"/>
    <a:srgbClr val="FE5E5E"/>
    <a:srgbClr val="FE2624"/>
    <a:srgbClr val="FE4848"/>
    <a:srgbClr val="CE0203"/>
    <a:srgbClr val="FF0B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howGuides="1">
      <p:cViewPr varScale="1">
        <p:scale>
          <a:sx n="62" d="100"/>
          <a:sy n="62" d="100"/>
        </p:scale>
        <p:origin x="58" y="23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051ECE-0E20-483F-BA0A-335D2363573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0C2DB7-3A00-4CA6-9193-1B1CA66351D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a:t>
            </a:r>
            <a:r>
              <a:rPr lang="en-US" altLang="zh-CN" sz="1200" dirty="0">
                <a:latin typeface="微软雅黑" panose="020B0503020204020204" pitchFamily="34" charset="-122"/>
                <a:ea typeface="微软雅黑" panose="020B0503020204020204" pitchFamily="34" charset="-122"/>
              </a:rPr>
              <a:t>JTPPT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200C2DB7-3A00-4CA6-9193-1B1CA66351D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BBF434-264F-4CC6-947B-62CD7B8C83E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982FF3B-57E8-489D-BA7C-31571A07EFBE}" type="slidenum">
              <a:rPr lang="zh-CN" altLang="en-US" smtClean="0"/>
            </a:fld>
            <a:endParaRPr lang="zh-CN" altLang="en-US"/>
          </a:p>
        </p:txBody>
      </p:sp>
      <p:sp>
        <p:nvSpPr>
          <p:cNvPr id="8" name="TextBox 7"/>
          <p:cNvSpPr txBox="1"/>
          <p:nvPr userDrawn="1"/>
        </p:nvSpPr>
        <p:spPr>
          <a:xfrm>
            <a:off x="11651940" y="0"/>
            <a:ext cx="540060" cy="118430"/>
          </a:xfrm>
          <a:prstGeom prst="rect">
            <a:avLst/>
          </a:prstGeom>
          <a:noFill/>
        </p:spPr>
        <p:txBody>
          <a:bodyPr wrap="square" rtlCol="0">
            <a:spAutoFit/>
          </a:bodyPr>
          <a:lstStyle/>
          <a:p>
            <a:pPr>
              <a:lnSpc>
                <a:spcPct val="200000"/>
              </a:lnSpc>
            </a:pPr>
            <a:r>
              <a:rPr lang="zh-CN" altLang="en-US" sz="100" dirty="0">
                <a:latin typeface="微软雅黑" panose="020B0503020204020204" pitchFamily="34" charset="-122"/>
                <a:ea typeface="微软雅黑" panose="020B0503020204020204" pitchFamily="34" charset="-122"/>
                <a:hlinkClick r:id="rId2"/>
              </a:rPr>
              <a:t>行业</a:t>
            </a: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en-US" altLang="zh-CN" sz="100" dirty="0">
                <a:latin typeface="微软雅黑" panose="020B0503020204020204" pitchFamily="34" charset="-122"/>
                <a:ea typeface="微软雅黑" panose="020B0503020204020204" pitchFamily="34" charset="-122"/>
              </a:rPr>
              <a:t>http://www.1ppt.com/hangye/</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sv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extLst>
              <a:ext uri="{96DAC541-7B7A-43D3-8B79-37D633B846F1}">
                <asvg:svgBlip xmlns:asvg="http://schemas.microsoft.com/office/drawing/2016/SVG/main" r:embed="rId15"/>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BBF434-264F-4CC6-947B-62CD7B8C83E2}"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82FF3B-57E8-489D-BA7C-31571A07EFB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6" name="文本框 5"/>
          <p:cNvSpPr txBox="1"/>
          <p:nvPr/>
        </p:nvSpPr>
        <p:spPr>
          <a:xfrm>
            <a:off x="1271465" y="1617602"/>
            <a:ext cx="5884451" cy="1200329"/>
          </a:xfrm>
          <a:prstGeom prst="rect">
            <a:avLst/>
          </a:prstGeom>
          <a:noFill/>
          <a:ln>
            <a:noFill/>
          </a:ln>
        </p:spPr>
        <p:txBody>
          <a:bodyPr wrap="square" rtlCol="0">
            <a:spAutoFit/>
          </a:bodyPr>
          <a:lstStyle/>
          <a:p>
            <a:pPr algn="dist"/>
            <a:r>
              <a:rPr lang="zh-CN" altLang="en-US" sz="72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传承红色精神</a:t>
            </a:r>
            <a:endParaRPr lang="zh-CN" altLang="en-US" sz="72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7" name="文本框 6"/>
          <p:cNvSpPr txBox="1"/>
          <p:nvPr/>
        </p:nvSpPr>
        <p:spPr>
          <a:xfrm>
            <a:off x="4940357" y="2797606"/>
            <a:ext cx="5980179" cy="1200329"/>
          </a:xfrm>
          <a:prstGeom prst="rect">
            <a:avLst/>
          </a:prstGeom>
          <a:noFill/>
          <a:ln>
            <a:noFill/>
          </a:ln>
        </p:spPr>
        <p:txBody>
          <a:bodyPr wrap="square" rtlCol="0">
            <a:spAutoFit/>
          </a:bodyPr>
          <a:lstStyle>
            <a:defPPr>
              <a:defRPr lang="zh-CN"/>
            </a:defPPr>
            <a:lvl1pPr algn="dist">
              <a:defRPr sz="66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sz="7200" dirty="0">
                <a:sym typeface="微软雅黑" panose="020B0503020204020204" pitchFamily="34" charset="-122"/>
              </a:rPr>
              <a:t>铸就辉煌未来</a:t>
            </a:r>
            <a:endParaRPr lang="zh-CN" altLang="en-US" sz="7200" dirty="0">
              <a:sym typeface="微软雅黑" panose="020B0503020204020204" pitchFamily="34" charset="-122"/>
            </a:endParaRPr>
          </a:p>
        </p:txBody>
      </p:sp>
      <p:sp>
        <p:nvSpPr>
          <p:cNvPr id="8" name="文本框 7"/>
          <p:cNvSpPr txBox="1"/>
          <p:nvPr/>
        </p:nvSpPr>
        <p:spPr>
          <a:xfrm>
            <a:off x="8627757" y="2378627"/>
            <a:ext cx="3732939" cy="200055"/>
          </a:xfrm>
          <a:prstGeom prst="rect">
            <a:avLst/>
          </a:prstGeom>
          <a:noFill/>
          <a:ln>
            <a:noFill/>
          </a:ln>
        </p:spPr>
        <p:txBody>
          <a:bodyPr wrap="square" rtlCol="0">
            <a:spAutoFit/>
          </a:bodyPr>
          <a:lstStyle/>
          <a:p>
            <a:pPr rtl="0"/>
            <a:r>
              <a:rPr lang="en-US" altLang="zh-CN" sz="700" b="1" spc="200"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rPr>
              <a:t>Remain True To Our Original Aspiration</a:t>
            </a:r>
            <a:endParaRPr lang="en-US" altLang="zh-CN" sz="700" b="1" spc="200"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nvSpPr>
        <p:spPr>
          <a:xfrm>
            <a:off x="7248129" y="2207882"/>
            <a:ext cx="1379631" cy="400110"/>
          </a:xfrm>
          <a:prstGeom prst="rect">
            <a:avLst/>
          </a:prstGeom>
          <a:noFill/>
          <a:ln>
            <a:noFill/>
          </a:ln>
        </p:spPr>
        <p:txBody>
          <a:bodyPr wrap="square" rtlCol="0">
            <a:spAutoFit/>
          </a:bodyPr>
          <a:lstStyle/>
          <a:p>
            <a:pPr algn="dist" rtl="0"/>
            <a:r>
              <a:rPr lang="zh-CN" altLang="en-US" sz="2000" b="1"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rPr>
              <a:t>不忘初心</a:t>
            </a:r>
            <a:endParaRPr lang="zh-CN" altLang="en-US" sz="2000" b="1"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nvSpPr>
        <p:spPr>
          <a:xfrm>
            <a:off x="3564242" y="3361475"/>
            <a:ext cx="1379631" cy="400110"/>
          </a:xfrm>
          <a:prstGeom prst="rect">
            <a:avLst/>
          </a:prstGeom>
          <a:noFill/>
          <a:ln>
            <a:noFill/>
          </a:ln>
        </p:spPr>
        <p:txBody>
          <a:bodyPr wrap="square" rtlCol="0">
            <a:spAutoFit/>
          </a:bodyPr>
          <a:lstStyle/>
          <a:p>
            <a:pPr algn="dist" rtl="0"/>
            <a:r>
              <a:rPr lang="zh-CN" altLang="en-US" sz="2000" b="1"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rPr>
              <a:t>牢记使命</a:t>
            </a:r>
            <a:endParaRPr lang="zh-CN" altLang="en-US" sz="2000" b="1"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nvSpPr>
        <p:spPr>
          <a:xfrm>
            <a:off x="623392" y="3545561"/>
            <a:ext cx="2977008" cy="200055"/>
          </a:xfrm>
          <a:prstGeom prst="rect">
            <a:avLst/>
          </a:prstGeom>
          <a:noFill/>
          <a:ln>
            <a:noFill/>
          </a:ln>
        </p:spPr>
        <p:txBody>
          <a:bodyPr wrap="square" rtlCol="0">
            <a:spAutoFit/>
          </a:bodyPr>
          <a:lstStyle/>
          <a:p>
            <a:pPr algn="r" rtl="0"/>
            <a:r>
              <a:rPr lang="en-US" altLang="zh-CN" sz="700" b="1" spc="200"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rPr>
              <a:t>Keep The Mission Firmly In Mind</a:t>
            </a:r>
            <a:endParaRPr lang="en-US" altLang="zh-CN" sz="700" b="1" spc="200" dirty="0">
              <a:ln w="15875">
                <a:noFill/>
              </a:ln>
              <a:solidFill>
                <a:srgbClr val="F70001">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6" name="文本框 15"/>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8" name="图片 17"/>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719736" y="-20012"/>
            <a:ext cx="4803048" cy="533672"/>
          </a:xfrm>
          <a:prstGeom prst="rect">
            <a:avLst/>
          </a:prstGeom>
        </p:spPr>
      </p:pic>
      <p:sp>
        <p:nvSpPr>
          <p:cNvPr id="20" name="文本框 19"/>
          <p:cNvSpPr txBox="1"/>
          <p:nvPr/>
        </p:nvSpPr>
        <p:spPr>
          <a:xfrm>
            <a:off x="4153963" y="4221089"/>
            <a:ext cx="1872208" cy="338554"/>
          </a:xfrm>
          <a:prstGeom prst="rect">
            <a:avLst/>
          </a:prstGeom>
          <a:noFill/>
        </p:spPr>
        <p:txBody>
          <a:bodyPr wrap="square" rtlCol="0">
            <a:spAutoFit/>
          </a:bodyPr>
          <a:lstStyle/>
          <a:p>
            <a:pPr algn="dist"/>
            <a:r>
              <a:rPr lang="zh-CN" altLang="en-US" sz="1600" b="1" dirty="0">
                <a:ln w="15875">
                  <a:noFill/>
                </a:ln>
                <a:solidFill>
                  <a:srgbClr val="F70001"/>
                </a:solidFill>
                <a:latin typeface="微软雅黑" panose="020B0503020204020204" pitchFamily="34" charset="-122"/>
                <a:ea typeface="微软雅黑" panose="020B0503020204020204" pitchFamily="34" charset="-122"/>
                <a:sym typeface="微软雅黑" panose="020B0503020204020204" pitchFamily="34" charset="-122"/>
              </a:rPr>
              <a:t>汇报人：</a:t>
            </a:r>
            <a:r>
              <a:rPr lang="en-US" altLang="zh-CN" sz="1600" b="1" dirty="0">
                <a:ln w="15875">
                  <a:noFill/>
                </a:ln>
                <a:solidFill>
                  <a:srgbClr val="F70001"/>
                </a:solidFill>
                <a:latin typeface="微软雅黑" panose="020B0503020204020204" pitchFamily="34" charset="-122"/>
                <a:ea typeface="微软雅黑" panose="020B0503020204020204" pitchFamily="34" charset="-122"/>
                <a:sym typeface="微软雅黑" panose="020B0503020204020204" pitchFamily="34" charset="-122"/>
              </a:rPr>
              <a:t>JTPPT</a:t>
            </a:r>
            <a:endParaRPr lang="zh-CN" altLang="en-US" sz="1600" b="1" dirty="0">
              <a:ln w="15875">
                <a:noFill/>
              </a:ln>
              <a:solidFill>
                <a:srgbClr val="F7000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0"/>
          <p:cNvSpPr txBox="1"/>
          <p:nvPr/>
        </p:nvSpPr>
        <p:spPr>
          <a:xfrm>
            <a:off x="6265523" y="4221089"/>
            <a:ext cx="1872208" cy="338554"/>
          </a:xfrm>
          <a:prstGeom prst="rect">
            <a:avLst/>
          </a:prstGeom>
          <a:noFill/>
        </p:spPr>
        <p:txBody>
          <a:bodyPr wrap="square" rtlCol="0">
            <a:spAutoFit/>
          </a:bodyPr>
          <a:lstStyle/>
          <a:p>
            <a:pPr algn="dist"/>
            <a:r>
              <a:rPr lang="zh-CN" altLang="en-US"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时间：</a:t>
            </a:r>
            <a:r>
              <a:rPr lang="en-US" altLang="zh-CN"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X</a:t>
            </a:r>
            <a:r>
              <a:rPr lang="zh-CN" altLang="en-US"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年</a:t>
            </a:r>
            <a:r>
              <a:rPr lang="en-US" altLang="zh-CN"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X</a:t>
            </a:r>
            <a:r>
              <a:rPr lang="zh-CN" altLang="en-US"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月</a:t>
            </a:r>
            <a:endParaRPr lang="zh-CN" altLang="en-US" sz="1600" b="1" dirty="0">
              <a:solidFill>
                <a:srgbClr val="F70001"/>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grpSp>
        <p:nvGrpSpPr>
          <p:cNvPr id="3" name="组合 2"/>
          <p:cNvGrpSpPr/>
          <p:nvPr/>
        </p:nvGrpSpPr>
        <p:grpSpPr>
          <a:xfrm>
            <a:off x="5085179" y="1196752"/>
            <a:ext cx="1994528" cy="1140990"/>
            <a:chOff x="1867320" y="837626"/>
            <a:chExt cx="706639" cy="1442935"/>
          </a:xfrm>
        </p:grpSpPr>
        <p:sp>
          <p:nvSpPr>
            <p:cNvPr id="4" name="文本框 3"/>
            <p:cNvSpPr txBox="1"/>
            <p:nvPr/>
          </p:nvSpPr>
          <p:spPr>
            <a:xfrm>
              <a:off x="1867320" y="837626"/>
              <a:ext cx="706639" cy="1167675"/>
            </a:xfrm>
            <a:prstGeom prst="rect">
              <a:avLst/>
            </a:prstGeom>
            <a:noFill/>
          </p:spPr>
          <p:txBody>
            <a:bodyPr vert="horz" wrap="square" rtlCol="0">
              <a:spAutoFit/>
            </a:bodyPr>
            <a:lstStyle/>
            <a:p>
              <a:pPr algn="ctr"/>
              <a:r>
                <a:rPr lang="zh-CN" altLang="en-US" sz="54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95 ExtraBold" panose="00020600040101010101" pitchFamily="18" charset="-122"/>
                  <a:sym typeface="微软雅黑" panose="020B0503020204020204" pitchFamily="34" charset="-122"/>
                </a:rPr>
                <a:t>目  录</a:t>
              </a:r>
              <a:endParaRPr lang="zh-CN" altLang="en-US" sz="54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95 ExtraBold" panose="00020600040101010101" pitchFamily="18" charset="-122"/>
                <a:sym typeface="微软雅黑" panose="020B0503020204020204" pitchFamily="34" charset="-122"/>
              </a:endParaRPr>
            </a:p>
          </p:txBody>
        </p:sp>
        <p:sp>
          <p:nvSpPr>
            <p:cNvPr id="5" name="文本框 4"/>
            <p:cNvSpPr txBox="1"/>
            <p:nvPr/>
          </p:nvSpPr>
          <p:spPr>
            <a:xfrm>
              <a:off x="1937439" y="1959450"/>
              <a:ext cx="574582" cy="321111"/>
            </a:xfrm>
            <a:prstGeom prst="rect">
              <a:avLst/>
            </a:prstGeom>
            <a:noFill/>
          </p:spPr>
          <p:txBody>
            <a:bodyPr vert="horz" wrap="square" rtlCol="0">
              <a:spAutoFit/>
            </a:bodyPr>
            <a:lstStyle/>
            <a:p>
              <a:pPr algn="dist"/>
              <a:r>
                <a:rPr lang="en-US" altLang="zh-CN" sz="1050" dirty="0">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95 ExtraBold" panose="00020600040101010101" pitchFamily="18" charset="-122"/>
                  <a:sym typeface="微软雅黑" panose="020B0503020204020204" pitchFamily="34" charset="-122"/>
                </a:rPr>
                <a:t>CONTENTES</a:t>
              </a:r>
              <a:endParaRPr lang="zh-CN" altLang="en-US" sz="1050" dirty="0">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95 ExtraBold" panose="00020600040101010101" pitchFamily="18" charset="-122"/>
                <a:sym typeface="微软雅黑" panose="020B0503020204020204" pitchFamily="34" charset="-122"/>
              </a:endParaRPr>
            </a:p>
          </p:txBody>
        </p:sp>
      </p:grpSp>
      <p:grpSp>
        <p:nvGrpSpPr>
          <p:cNvPr id="6" name="组合 5"/>
          <p:cNvGrpSpPr/>
          <p:nvPr/>
        </p:nvGrpSpPr>
        <p:grpSpPr>
          <a:xfrm>
            <a:off x="1456951" y="2636913"/>
            <a:ext cx="4248472" cy="784940"/>
            <a:chOff x="3161027" y="1769517"/>
            <a:chExt cx="4760526" cy="919415"/>
          </a:xfrm>
        </p:grpSpPr>
        <p:sp>
          <p:nvSpPr>
            <p:cNvPr id="7" name="文本框 6"/>
            <p:cNvSpPr txBox="1"/>
            <p:nvPr/>
          </p:nvSpPr>
          <p:spPr>
            <a:xfrm>
              <a:off x="3161027" y="1769517"/>
              <a:ext cx="1029774" cy="901261"/>
            </a:xfrm>
            <a:prstGeom prst="rect">
              <a:avLst/>
            </a:prstGeom>
            <a:noFill/>
          </p:spPr>
          <p:txBody>
            <a:bodyPr wrap="square" rtlCol="0">
              <a:spAutoFit/>
            </a:bodyPr>
            <a:lstStyle/>
            <a:p>
              <a:pPr algn="ctr"/>
              <a:r>
                <a:rPr lang="en-US" altLang="zh-CN" sz="44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75 SemiBold" panose="00020600040101010101" pitchFamily="18" charset="-122"/>
                  <a:sym typeface="微软雅黑" panose="020B0503020204020204" pitchFamily="34" charset="-122"/>
                </a:rPr>
                <a:t>01.</a:t>
              </a:r>
              <a:endParaRPr lang="zh-CN" altLang="en-US" sz="44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75 SemiBold" panose="00020600040101010101" pitchFamily="18" charset="-122"/>
                <a:sym typeface="微软雅黑" panose="020B0503020204020204" pitchFamily="34" charset="-122"/>
              </a:endParaRPr>
            </a:p>
          </p:txBody>
        </p:sp>
        <p:grpSp>
          <p:nvGrpSpPr>
            <p:cNvPr id="8" name="组合 7"/>
            <p:cNvGrpSpPr/>
            <p:nvPr/>
          </p:nvGrpSpPr>
          <p:grpSpPr>
            <a:xfrm>
              <a:off x="4090570" y="1811696"/>
              <a:ext cx="3830983" cy="877236"/>
              <a:chOff x="4052470" y="1814325"/>
              <a:chExt cx="3830983" cy="877236"/>
            </a:xfrm>
          </p:grpSpPr>
          <p:sp>
            <p:nvSpPr>
              <p:cNvPr id="9" name="文本框 8"/>
              <p:cNvSpPr txBox="1"/>
              <p:nvPr/>
            </p:nvSpPr>
            <p:spPr>
              <a:xfrm>
                <a:off x="4052470" y="1814325"/>
                <a:ext cx="3830983" cy="684958"/>
              </a:xfrm>
              <a:prstGeom prst="rect">
                <a:avLst/>
              </a:prstGeom>
              <a:noFill/>
            </p:spPr>
            <p:txBody>
              <a:bodyPr wrap="square" rtlCol="0">
                <a:spAutoFit/>
              </a:bodyPr>
              <a:lstStyle/>
              <a:p>
                <a:pPr algn="dist"/>
                <a:r>
                  <a:rPr lang="zh-CN" altLang="en-US" sz="32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65 Medium" panose="00020600040101010101" pitchFamily="18" charset="-122"/>
                    <a:sym typeface="微软雅黑" panose="020B0503020204020204" pitchFamily="34" charset="-122"/>
                  </a:rPr>
                  <a:t>红色精神的内容</a:t>
                </a:r>
                <a:endParaRPr lang="zh-CN" altLang="en-US" sz="3200" b="1"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65 Medium" panose="00020600040101010101" pitchFamily="18" charset="-122"/>
                  <a:sym typeface="微软雅黑" panose="020B0503020204020204" pitchFamily="34" charset="-122"/>
                </a:endParaRPr>
              </a:p>
            </p:txBody>
          </p:sp>
          <p:sp>
            <p:nvSpPr>
              <p:cNvPr id="10" name="文本框 9"/>
              <p:cNvSpPr txBox="1"/>
              <p:nvPr/>
            </p:nvSpPr>
            <p:spPr>
              <a:xfrm>
                <a:off x="4087030" y="2385132"/>
                <a:ext cx="3266076" cy="306429"/>
              </a:xfrm>
              <a:prstGeom prst="rect">
                <a:avLst/>
              </a:prstGeom>
              <a:noFill/>
            </p:spPr>
            <p:txBody>
              <a:bodyPr wrap="square" rtlCol="0">
                <a:spAutoFit/>
              </a:bodyPr>
              <a:lstStyle/>
              <a:p>
                <a:pPr algn="dist"/>
                <a:r>
                  <a:rPr lang="en-US" altLang="zh-CN"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rPr>
                  <a:t>ORIGIN OF THE HOLIDAY</a:t>
                </a:r>
                <a:endParaRPr lang="zh-CN" altLang="en-US"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endParaRPr>
              </a:p>
            </p:txBody>
          </p:sp>
        </p:grpSp>
      </p:grpSp>
      <p:grpSp>
        <p:nvGrpSpPr>
          <p:cNvPr id="11" name="组合 10"/>
          <p:cNvGrpSpPr/>
          <p:nvPr/>
        </p:nvGrpSpPr>
        <p:grpSpPr>
          <a:xfrm>
            <a:off x="6600056" y="2636910"/>
            <a:ext cx="4248472" cy="789168"/>
            <a:chOff x="3161027" y="1769517"/>
            <a:chExt cx="4760526" cy="924368"/>
          </a:xfrm>
        </p:grpSpPr>
        <p:sp>
          <p:nvSpPr>
            <p:cNvPr id="12" name="文本框 11"/>
            <p:cNvSpPr txBox="1"/>
            <p:nvPr/>
          </p:nvSpPr>
          <p:spPr>
            <a:xfrm>
              <a:off x="3161027" y="1769517"/>
              <a:ext cx="1029774" cy="901261"/>
            </a:xfrm>
            <a:prstGeom prst="rect">
              <a:avLst/>
            </a:prstGeom>
            <a:noFill/>
          </p:spPr>
          <p:txBody>
            <a:bodyPr wrap="square" rtlCol="0">
              <a:spAutoFit/>
            </a:bodyPr>
            <a:lstStyle>
              <a:defPPr>
                <a:defRPr lang="zh-CN"/>
              </a:defPPr>
              <a:lvl1pPr algn="ctr">
                <a:defRPr sz="44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75 SemiBold" panose="00020600040101010101" pitchFamily="18" charset="-122"/>
                </a:defRPr>
              </a:lvl1pPr>
            </a:lstStyle>
            <a:p>
              <a:r>
                <a:rPr lang="en-US" altLang="zh-CN" dirty="0">
                  <a:latin typeface="思源宋体 CN Heavy" pitchFamily="18" charset="-122"/>
                  <a:ea typeface="思源宋体 CN Heavy" pitchFamily="18" charset="-122"/>
                  <a:sym typeface="微软雅黑" panose="020B0503020204020204" pitchFamily="34" charset="-122"/>
                </a:rPr>
                <a:t>02.</a:t>
              </a:r>
              <a:endParaRPr lang="zh-CN" altLang="en-US" dirty="0">
                <a:latin typeface="思源宋体 CN Heavy" pitchFamily="18" charset="-122"/>
                <a:ea typeface="思源宋体 CN Heavy" pitchFamily="18" charset="-122"/>
                <a:sym typeface="微软雅黑" panose="020B0503020204020204" pitchFamily="34" charset="-122"/>
              </a:endParaRPr>
            </a:p>
          </p:txBody>
        </p:sp>
        <p:grpSp>
          <p:nvGrpSpPr>
            <p:cNvPr id="13" name="组合 12"/>
            <p:cNvGrpSpPr/>
            <p:nvPr/>
          </p:nvGrpSpPr>
          <p:grpSpPr>
            <a:xfrm>
              <a:off x="4090570" y="1811696"/>
              <a:ext cx="3830983" cy="882189"/>
              <a:chOff x="4052470" y="1814325"/>
              <a:chExt cx="3830983" cy="882189"/>
            </a:xfrm>
          </p:grpSpPr>
          <p:sp>
            <p:nvSpPr>
              <p:cNvPr id="14" name="文本框 13"/>
              <p:cNvSpPr txBox="1"/>
              <p:nvPr/>
            </p:nvSpPr>
            <p:spPr>
              <a:xfrm>
                <a:off x="4052470" y="1814325"/>
                <a:ext cx="3830983" cy="684959"/>
              </a:xfrm>
              <a:prstGeom prst="rect">
                <a:avLst/>
              </a:prstGeom>
              <a:noFill/>
            </p:spPr>
            <p:txBody>
              <a:bodyPr wrap="square" rtlCol="0">
                <a:spAutoFit/>
              </a:bodyPr>
              <a:lstStyle>
                <a:defPPr>
                  <a:defRPr lang="zh-CN"/>
                </a:defPPr>
                <a:lvl1pPr algn="dist">
                  <a:defRPr sz="32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65 Medium" panose="00020600040101010101" pitchFamily="18" charset="-122"/>
                  </a:defRPr>
                </a:lvl1pPr>
              </a:lstStyle>
              <a:p>
                <a:r>
                  <a:rPr lang="zh-CN" altLang="en-US" dirty="0">
                    <a:latin typeface="思源宋体 CN Heavy" pitchFamily="18" charset="-122"/>
                    <a:ea typeface="思源宋体 CN Heavy" pitchFamily="18" charset="-122"/>
                    <a:sym typeface="微软雅黑" panose="020B0503020204020204" pitchFamily="34" charset="-122"/>
                  </a:rPr>
                  <a:t>红色精神的意义</a:t>
                </a:r>
                <a:endParaRPr lang="zh-CN" altLang="en-US" dirty="0">
                  <a:latin typeface="思源宋体 CN Heavy" pitchFamily="18" charset="-122"/>
                  <a:ea typeface="思源宋体 CN Heavy" pitchFamily="18" charset="-122"/>
                  <a:sym typeface="微软雅黑" panose="020B0503020204020204" pitchFamily="34" charset="-122"/>
                </a:endParaRPr>
              </a:p>
            </p:txBody>
          </p:sp>
          <p:sp>
            <p:nvSpPr>
              <p:cNvPr id="15" name="文本框 14"/>
              <p:cNvSpPr txBox="1"/>
              <p:nvPr/>
            </p:nvSpPr>
            <p:spPr>
              <a:xfrm>
                <a:off x="4052470" y="2390085"/>
                <a:ext cx="3266076" cy="306429"/>
              </a:xfrm>
              <a:prstGeom prst="rect">
                <a:avLst/>
              </a:prstGeom>
              <a:noFill/>
            </p:spPr>
            <p:txBody>
              <a:bodyPr wrap="square" rtlCol="0">
                <a:spAutoFit/>
              </a:bodyPr>
              <a:lstStyle/>
              <a:p>
                <a:pPr algn="dist"/>
                <a:r>
                  <a:rPr lang="en-US" altLang="zh-CN"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rPr>
                  <a:t>ORIGIN OF THE HOLIDAY</a:t>
                </a:r>
                <a:endParaRPr lang="zh-CN" altLang="en-US"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endParaRPr>
              </a:p>
            </p:txBody>
          </p:sp>
        </p:grpSp>
      </p:grpSp>
      <p:grpSp>
        <p:nvGrpSpPr>
          <p:cNvPr id="16" name="组合 15"/>
          <p:cNvGrpSpPr/>
          <p:nvPr/>
        </p:nvGrpSpPr>
        <p:grpSpPr>
          <a:xfrm>
            <a:off x="1456951" y="3856074"/>
            <a:ext cx="4248472" cy="769441"/>
            <a:chOff x="3161027" y="1769517"/>
            <a:chExt cx="4760526" cy="901261"/>
          </a:xfrm>
        </p:grpSpPr>
        <p:sp>
          <p:nvSpPr>
            <p:cNvPr id="17" name="文本框 16"/>
            <p:cNvSpPr txBox="1"/>
            <p:nvPr/>
          </p:nvSpPr>
          <p:spPr>
            <a:xfrm>
              <a:off x="3161027" y="1769517"/>
              <a:ext cx="1029774" cy="901261"/>
            </a:xfrm>
            <a:prstGeom prst="rect">
              <a:avLst/>
            </a:prstGeom>
            <a:noFill/>
          </p:spPr>
          <p:txBody>
            <a:bodyPr wrap="square" rtlCol="0">
              <a:spAutoFit/>
            </a:bodyPr>
            <a:lstStyle>
              <a:defPPr>
                <a:defRPr lang="zh-CN"/>
              </a:defPPr>
              <a:lvl1pPr algn="ctr">
                <a:defRPr sz="44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75 SemiBold" panose="00020600040101010101" pitchFamily="18" charset="-122"/>
                </a:defRPr>
              </a:lvl1pPr>
            </a:lstStyle>
            <a:p>
              <a:r>
                <a:rPr lang="en-US" altLang="zh-CN" dirty="0">
                  <a:latin typeface="思源宋体 CN Heavy" pitchFamily="18" charset="-122"/>
                  <a:ea typeface="思源宋体 CN Heavy" pitchFamily="18" charset="-122"/>
                  <a:sym typeface="微软雅黑" panose="020B0503020204020204" pitchFamily="34" charset="-122"/>
                </a:rPr>
                <a:t>03.</a:t>
              </a:r>
              <a:endParaRPr lang="zh-CN" altLang="en-US" dirty="0">
                <a:latin typeface="思源宋体 CN Heavy" pitchFamily="18" charset="-122"/>
                <a:ea typeface="思源宋体 CN Heavy" pitchFamily="18" charset="-122"/>
                <a:sym typeface="微软雅黑" panose="020B0503020204020204" pitchFamily="34" charset="-122"/>
              </a:endParaRPr>
            </a:p>
          </p:txBody>
        </p:sp>
        <p:grpSp>
          <p:nvGrpSpPr>
            <p:cNvPr id="18" name="组合 17"/>
            <p:cNvGrpSpPr/>
            <p:nvPr/>
          </p:nvGrpSpPr>
          <p:grpSpPr>
            <a:xfrm>
              <a:off x="4090570" y="1811696"/>
              <a:ext cx="3830983" cy="854321"/>
              <a:chOff x="4052470" y="1814325"/>
              <a:chExt cx="3830983" cy="854321"/>
            </a:xfrm>
          </p:grpSpPr>
          <p:sp>
            <p:nvSpPr>
              <p:cNvPr id="19" name="文本框 18"/>
              <p:cNvSpPr txBox="1"/>
              <p:nvPr/>
            </p:nvSpPr>
            <p:spPr>
              <a:xfrm>
                <a:off x="4052470" y="1814325"/>
                <a:ext cx="3830983" cy="684959"/>
              </a:xfrm>
              <a:prstGeom prst="rect">
                <a:avLst/>
              </a:prstGeom>
              <a:noFill/>
            </p:spPr>
            <p:txBody>
              <a:bodyPr wrap="square" rtlCol="0">
                <a:spAutoFit/>
              </a:bodyPr>
              <a:lstStyle>
                <a:defPPr>
                  <a:defRPr lang="zh-CN"/>
                </a:defPPr>
                <a:lvl1pPr algn="dist">
                  <a:defRPr sz="32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65 Medium" panose="00020600040101010101" pitchFamily="18" charset="-122"/>
                  </a:defRPr>
                </a:lvl1pPr>
              </a:lstStyle>
              <a:p>
                <a:r>
                  <a:rPr lang="zh-CN" altLang="en-US" dirty="0">
                    <a:latin typeface="思源宋体 CN Heavy" pitchFamily="18" charset="-122"/>
                    <a:ea typeface="思源宋体 CN Heavy" pitchFamily="18" charset="-122"/>
                    <a:sym typeface="微软雅黑" panose="020B0503020204020204" pitchFamily="34" charset="-122"/>
                  </a:rPr>
                  <a:t>红色精神的释义</a:t>
                </a:r>
                <a:endParaRPr lang="zh-CN" altLang="en-US" dirty="0">
                  <a:latin typeface="思源宋体 CN Heavy" pitchFamily="18" charset="-122"/>
                  <a:ea typeface="思源宋体 CN Heavy" pitchFamily="18" charset="-122"/>
                  <a:sym typeface="微软雅黑" panose="020B0503020204020204" pitchFamily="34" charset="-122"/>
                </a:endParaRPr>
              </a:p>
            </p:txBody>
          </p:sp>
          <p:sp>
            <p:nvSpPr>
              <p:cNvPr id="20" name="文本框 19"/>
              <p:cNvSpPr txBox="1"/>
              <p:nvPr/>
            </p:nvSpPr>
            <p:spPr>
              <a:xfrm>
                <a:off x="4087030" y="2362217"/>
                <a:ext cx="3266076" cy="306429"/>
              </a:xfrm>
              <a:prstGeom prst="rect">
                <a:avLst/>
              </a:prstGeom>
              <a:noFill/>
            </p:spPr>
            <p:txBody>
              <a:bodyPr wrap="square" rtlCol="0">
                <a:spAutoFit/>
              </a:bodyPr>
              <a:lstStyle/>
              <a:p>
                <a:pPr algn="dist"/>
                <a:r>
                  <a:rPr lang="en-US" altLang="zh-CN"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rPr>
                  <a:t>ORIGIN OF THE HOLIDAY</a:t>
                </a:r>
                <a:endParaRPr lang="zh-CN" altLang="en-US"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endParaRPr>
              </a:p>
            </p:txBody>
          </p:sp>
        </p:grpSp>
      </p:grpSp>
      <p:grpSp>
        <p:nvGrpSpPr>
          <p:cNvPr id="21" name="组合 20"/>
          <p:cNvGrpSpPr/>
          <p:nvPr/>
        </p:nvGrpSpPr>
        <p:grpSpPr>
          <a:xfrm>
            <a:off x="6600056" y="3856074"/>
            <a:ext cx="4248472" cy="786376"/>
            <a:chOff x="3161027" y="1769517"/>
            <a:chExt cx="4760526" cy="921097"/>
          </a:xfrm>
        </p:grpSpPr>
        <p:sp>
          <p:nvSpPr>
            <p:cNvPr id="22" name="文本框 21"/>
            <p:cNvSpPr txBox="1"/>
            <p:nvPr/>
          </p:nvSpPr>
          <p:spPr>
            <a:xfrm>
              <a:off x="3161027" y="1769517"/>
              <a:ext cx="1029774" cy="901261"/>
            </a:xfrm>
            <a:prstGeom prst="rect">
              <a:avLst/>
            </a:prstGeom>
            <a:noFill/>
          </p:spPr>
          <p:txBody>
            <a:bodyPr wrap="square" rtlCol="0">
              <a:spAutoFit/>
            </a:bodyPr>
            <a:lstStyle>
              <a:defPPr>
                <a:defRPr lang="zh-CN"/>
              </a:defPPr>
              <a:lvl1pPr algn="ctr">
                <a:defRPr sz="44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75 SemiBold" panose="00020600040101010101" pitchFamily="18" charset="-122"/>
                </a:defRPr>
              </a:lvl1pPr>
            </a:lstStyle>
            <a:p>
              <a:r>
                <a:rPr lang="en-US" altLang="zh-CN" dirty="0">
                  <a:latin typeface="思源宋体 CN Heavy" pitchFamily="18" charset="-122"/>
                  <a:ea typeface="思源宋体 CN Heavy" pitchFamily="18" charset="-122"/>
                  <a:sym typeface="微软雅黑" panose="020B0503020204020204" pitchFamily="34" charset="-122"/>
                </a:rPr>
                <a:t>04.</a:t>
              </a:r>
              <a:endParaRPr lang="zh-CN" altLang="en-US" dirty="0">
                <a:latin typeface="思源宋体 CN Heavy" pitchFamily="18" charset="-122"/>
                <a:ea typeface="思源宋体 CN Heavy" pitchFamily="18" charset="-122"/>
                <a:sym typeface="微软雅黑" panose="020B0503020204020204" pitchFamily="34" charset="-122"/>
              </a:endParaRPr>
            </a:p>
          </p:txBody>
        </p:sp>
        <p:grpSp>
          <p:nvGrpSpPr>
            <p:cNvPr id="23" name="组合 22"/>
            <p:cNvGrpSpPr/>
            <p:nvPr/>
          </p:nvGrpSpPr>
          <p:grpSpPr>
            <a:xfrm>
              <a:off x="4090570" y="1811696"/>
              <a:ext cx="3830983" cy="878918"/>
              <a:chOff x="4052470" y="1814325"/>
              <a:chExt cx="3830983" cy="878918"/>
            </a:xfrm>
          </p:grpSpPr>
          <p:sp>
            <p:nvSpPr>
              <p:cNvPr id="24" name="文本框 23"/>
              <p:cNvSpPr txBox="1"/>
              <p:nvPr/>
            </p:nvSpPr>
            <p:spPr>
              <a:xfrm>
                <a:off x="4052470" y="1814325"/>
                <a:ext cx="3830983" cy="684958"/>
              </a:xfrm>
              <a:prstGeom prst="rect">
                <a:avLst/>
              </a:prstGeom>
              <a:noFill/>
            </p:spPr>
            <p:txBody>
              <a:bodyPr wrap="square" rtlCol="0">
                <a:spAutoFit/>
              </a:bodyPr>
              <a:lstStyle>
                <a:defPPr>
                  <a:defRPr lang="zh-CN"/>
                </a:defPPr>
                <a:lvl1pPr algn="dist">
                  <a:defRPr sz="3200" b="1">
                    <a:solidFill>
                      <a:srgbClr val="F7000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65 Medium" panose="00020600040101010101" pitchFamily="18" charset="-122"/>
                  </a:defRPr>
                </a:lvl1pPr>
              </a:lstStyle>
              <a:p>
                <a:r>
                  <a:rPr lang="zh-CN" altLang="en-US" dirty="0">
                    <a:latin typeface="思源宋体 CN Heavy" pitchFamily="18" charset="-122"/>
                    <a:ea typeface="思源宋体 CN Heavy" pitchFamily="18" charset="-122"/>
                    <a:sym typeface="微软雅黑" panose="020B0503020204020204" pitchFamily="34" charset="-122"/>
                  </a:rPr>
                  <a:t>红色精神的传承</a:t>
                </a:r>
                <a:endParaRPr lang="zh-CN" altLang="en-US" dirty="0">
                  <a:latin typeface="思源宋体 CN Heavy" pitchFamily="18" charset="-122"/>
                  <a:ea typeface="思源宋体 CN Heavy" pitchFamily="18" charset="-122"/>
                  <a:sym typeface="微软雅黑" panose="020B0503020204020204" pitchFamily="34" charset="-122"/>
                </a:endParaRPr>
              </a:p>
            </p:txBody>
          </p:sp>
          <p:sp>
            <p:nvSpPr>
              <p:cNvPr id="25" name="文本框 24"/>
              <p:cNvSpPr txBox="1"/>
              <p:nvPr/>
            </p:nvSpPr>
            <p:spPr>
              <a:xfrm>
                <a:off x="4053859" y="2386814"/>
                <a:ext cx="3266076" cy="306429"/>
              </a:xfrm>
              <a:prstGeom prst="rect">
                <a:avLst/>
              </a:prstGeom>
              <a:noFill/>
            </p:spPr>
            <p:txBody>
              <a:bodyPr wrap="square" rtlCol="0">
                <a:spAutoFit/>
              </a:bodyPr>
              <a:lstStyle/>
              <a:p>
                <a:pPr algn="dist"/>
                <a:r>
                  <a:rPr lang="en-US" altLang="zh-CN"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rPr>
                  <a:t>ORIGIN OF THE HOLIDAY</a:t>
                </a:r>
                <a:endParaRPr lang="zh-CN" altLang="en-US" sz="1100" dirty="0">
                  <a:solidFill>
                    <a:srgbClr val="F70001"/>
                  </a:solidFill>
                  <a:effectLst>
                    <a:outerShdw blurRad="38100" dist="38100" dir="2700000" algn="tl">
                      <a:srgbClr val="000000">
                        <a:alpha val="43137"/>
                      </a:srgbClr>
                    </a:outerShdw>
                  </a:effectLst>
                  <a:latin typeface="思源宋体 CN Heavy" pitchFamily="18" charset="-122"/>
                  <a:ea typeface="思源宋体 CN Heavy" pitchFamily="18" charset="-122"/>
                  <a:cs typeface="阿里巴巴普惠体 2.0 45 Light" panose="00020600040101010101" pitchFamily="18" charset="-122"/>
                  <a:sym typeface="微软雅黑" panose="020B0503020204020204" pitchFamily="34" charset="-122"/>
                </a:endParaRPr>
              </a:p>
            </p:txBody>
          </p:sp>
        </p:grpSp>
      </p:grpSp>
      <p:sp>
        <p:nvSpPr>
          <p:cNvPr id="27" name="文本框 26"/>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8" name="文本框 27"/>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29" name="图片 28"/>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724564" y="20502"/>
            <a:ext cx="4803048" cy="533672"/>
          </a:xfrm>
          <a:prstGeom prst="rect">
            <a:avLst/>
          </a:prstGeom>
        </p:spPr>
      </p:pic>
      <p:sp>
        <p:nvSpPr>
          <p:cNvPr id="32" name="TextBox 4"/>
          <p:cNvSpPr txBox="1"/>
          <p:nvPr/>
        </p:nvSpPr>
        <p:spPr>
          <a:xfrm>
            <a:off x="-1" y="26752"/>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righ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p:tgtEl>
                                          <p:spTgt spid="11"/>
                                        </p:tgtEl>
                                        <p:attrNameLst>
                                          <p:attrName>ppt_x</p:attrName>
                                        </p:attrNameLst>
                                      </p:cBhvr>
                                      <p:tavLst>
                                        <p:tav tm="0">
                                          <p:val>
                                            <p:strVal val="#ppt_x-#ppt_w*1.125000"/>
                                          </p:val>
                                        </p:tav>
                                        <p:tav tm="100000">
                                          <p:val>
                                            <p:strVal val="#ppt_x"/>
                                          </p:val>
                                        </p:tav>
                                      </p:tavLst>
                                    </p:anim>
                                    <p:animEffect transition="in" filter="wipe(righ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p:tgtEl>
                                          <p:spTgt spid="16"/>
                                        </p:tgtEl>
                                        <p:attrNameLst>
                                          <p:attrName>ppt_x</p:attrName>
                                        </p:attrNameLst>
                                      </p:cBhvr>
                                      <p:tavLst>
                                        <p:tav tm="0">
                                          <p:val>
                                            <p:strVal val="#ppt_x-#ppt_w*1.125000"/>
                                          </p:val>
                                        </p:tav>
                                        <p:tav tm="100000">
                                          <p:val>
                                            <p:strVal val="#ppt_x"/>
                                          </p:val>
                                        </p:tav>
                                      </p:tavLst>
                                    </p:anim>
                                    <p:animEffect transition="in" filter="wipe(righ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500"/>
                                        <p:tgtEl>
                                          <p:spTgt spid="21"/>
                                        </p:tgtEl>
                                        <p:attrNameLst>
                                          <p:attrName>ppt_x</p:attrName>
                                        </p:attrNameLst>
                                      </p:cBhvr>
                                      <p:tavLst>
                                        <p:tav tm="0">
                                          <p:val>
                                            <p:strVal val="#ppt_x-#ppt_w*1.125000"/>
                                          </p:val>
                                        </p:tav>
                                        <p:tav tm="100000">
                                          <p:val>
                                            <p:strVal val="#ppt_x"/>
                                          </p:val>
                                        </p:tav>
                                      </p:tavLst>
                                    </p:anim>
                                    <p:animEffect transition="in" filter="wipe(right)">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3" name="文本框 2"/>
          <p:cNvSpPr txBox="1"/>
          <p:nvPr/>
        </p:nvSpPr>
        <p:spPr>
          <a:xfrm>
            <a:off x="4007767" y="1340768"/>
            <a:ext cx="4176464" cy="1107996"/>
          </a:xfrm>
          <a:prstGeom prst="rect">
            <a:avLst/>
          </a:prstGeom>
          <a:noFill/>
          <a:ln>
            <a:noFill/>
          </a:ln>
        </p:spPr>
        <p:txBody>
          <a:bodyPr wrap="square" rtlCol="0">
            <a:spAutoFit/>
          </a:bodyPr>
          <a:lstStyle/>
          <a:p>
            <a:pPr algn="dist"/>
            <a:r>
              <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第一部分</a:t>
            </a:r>
            <a:endPar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4" name="文本框 3"/>
          <p:cNvSpPr txBox="1"/>
          <p:nvPr/>
        </p:nvSpPr>
        <p:spPr>
          <a:xfrm>
            <a:off x="2267167" y="2684821"/>
            <a:ext cx="7776863" cy="1323439"/>
          </a:xfrm>
          <a:prstGeom prst="rect">
            <a:avLst/>
          </a:prstGeom>
          <a:noFill/>
          <a:ln>
            <a:noFill/>
          </a:ln>
        </p:spPr>
        <p:txBody>
          <a:bodyPr wrap="square" rtlCol="0">
            <a:spAutoFit/>
          </a:bodyPr>
          <a:lstStyle>
            <a:defPPr>
              <a:defRPr lang="zh-CN"/>
            </a:defPPr>
            <a:lvl1pPr algn="dist">
              <a:defRPr sz="66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sz="8000" dirty="0">
                <a:sym typeface="微软雅黑" panose="020B0503020204020204" pitchFamily="34" charset="-122"/>
              </a:rPr>
              <a:t>红色精神的内容</a:t>
            </a:r>
            <a:endParaRPr lang="zh-CN" altLang="en-US" sz="8000" dirty="0">
              <a:sym typeface="微软雅黑" panose="020B0503020204020204" pitchFamily="34" charset="-122"/>
            </a:endParaRPr>
          </a:p>
        </p:txBody>
      </p:sp>
      <p:sp>
        <p:nvSpPr>
          <p:cNvPr id="10" name="文本框 9"/>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2" name="图片 11"/>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694475" y="158062"/>
            <a:ext cx="4803048" cy="5336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红色精神的内容</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Aichitds2"/>
          <p:cNvSpPr/>
          <p:nvPr/>
        </p:nvSpPr>
        <p:spPr bwMode="auto">
          <a:xfrm>
            <a:off x="2031014" y="2523906"/>
            <a:ext cx="9009287" cy="830995"/>
          </a:xfrm>
          <a:prstGeom prst="rect">
            <a:avLst/>
          </a:prstGeom>
          <a:solidFill>
            <a:schemeClr val="bg1">
              <a:lumMod val="85000"/>
              <a:alpha val="23000"/>
            </a:schemeClr>
          </a:solidFill>
          <a:ln w="12700" cap="flat" cmpd="sng" algn="ctr">
            <a:solidFill>
              <a:schemeClr val="accent1"/>
            </a:solidFill>
            <a:prstDash val="dash"/>
            <a:round/>
            <a:headEnd type="none" w="med" len="med"/>
            <a:tailEnd type="none" w="med" len="med"/>
          </a:ln>
          <a:effectLst/>
        </p:spPr>
        <p:txBody>
          <a:bodyPr vert="horz" wrap="square" lIns="91404" tIns="45702" rIns="91404" bIns="45702" numCol="1" rtlCol="0" anchor="t" anchorCtr="0" compatLnSpc="1"/>
          <a:lstStyle/>
          <a:p>
            <a:pPr defTabSz="913765" fontAlgn="base">
              <a:spcBef>
                <a:spcPct val="0"/>
              </a:spcBef>
              <a:spcAft>
                <a:spcPct val="0"/>
              </a:spcAft>
            </a:pPr>
            <a:endParaRPr lang="zh-CN" altLang="en-US" sz="1600" kern="0">
              <a:solidFill>
                <a:srgbClr val="BC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0379" y="1955787"/>
            <a:ext cx="1439147" cy="376854"/>
          </a:xfrm>
          <a:prstGeom prst="rect">
            <a:avLst/>
          </a:prstGeom>
        </p:spPr>
      </p:pic>
      <p:cxnSp>
        <p:nvCxnSpPr>
          <p:cNvPr id="8" name="直接连接符 7"/>
          <p:cNvCxnSpPr/>
          <p:nvPr/>
        </p:nvCxnSpPr>
        <p:spPr>
          <a:xfrm>
            <a:off x="7032611" y="2125316"/>
            <a:ext cx="3252680" cy="0"/>
          </a:xfrm>
          <a:prstGeom prst="line">
            <a:avLst/>
          </a:prstGeom>
          <a:ln w="25400" cap="rnd">
            <a:gradFill>
              <a:gsLst>
                <a:gs pos="100000">
                  <a:srgbClr val="FBF9F9"/>
                </a:gs>
                <a:gs pos="0">
                  <a:srgbClr val="CB151D"/>
                </a:gs>
              </a:gsLst>
              <a:lin ang="0" scaled="0"/>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206278" y="2155539"/>
            <a:ext cx="2994311" cy="0"/>
          </a:xfrm>
          <a:prstGeom prst="line">
            <a:avLst/>
          </a:prstGeom>
          <a:ln w="25400" cap="rnd">
            <a:gradFill>
              <a:gsLst>
                <a:gs pos="100000">
                  <a:srgbClr val="FDFAFB"/>
                </a:gs>
                <a:gs pos="0">
                  <a:srgbClr val="CB151D"/>
                </a:gs>
              </a:gsLst>
              <a:lin ang="0" scaled="0"/>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349784" y="1268760"/>
            <a:ext cx="7513963" cy="609398"/>
          </a:xfrm>
          <a:prstGeom prst="rect">
            <a:avLst/>
          </a:prstGeom>
        </p:spPr>
        <p:txBody>
          <a:bodyPr wrap="square">
            <a:spAutoFit/>
          </a:bodyPr>
          <a:lstStyle/>
          <a:p>
            <a:pPr algn="ctr">
              <a:lnSpc>
                <a:spcPct val="120000"/>
              </a:lnSpc>
            </a:pPr>
            <a:r>
              <a:rPr lang="zh-CN" altLang="en-US" sz="2800" dirty="0">
                <a:solidFill>
                  <a:srgbClr val="BD2B27"/>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为中国人民谋幸福，为中华民族谋复兴</a:t>
            </a:r>
            <a:endParaRPr lang="zh-CN" altLang="en-US" sz="2800" dirty="0">
              <a:solidFill>
                <a:srgbClr val="BD2B27"/>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箭头: 五边形 10"/>
          <p:cNvSpPr/>
          <p:nvPr/>
        </p:nvSpPr>
        <p:spPr bwMode="auto">
          <a:xfrm>
            <a:off x="1518647" y="2511157"/>
            <a:ext cx="2064091" cy="856493"/>
          </a:xfrm>
          <a:prstGeom prst="homePlate">
            <a:avLst>
              <a:gd name="adj" fmla="val 19976"/>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zh-CN" altLang="en-US" sz="20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文本框 11"/>
          <p:cNvSpPr txBox="1"/>
          <p:nvPr/>
        </p:nvSpPr>
        <p:spPr>
          <a:xfrm>
            <a:off x="1655343" y="2577098"/>
            <a:ext cx="1790700" cy="707886"/>
          </a:xfrm>
          <a:prstGeom prst="rect">
            <a:avLst/>
          </a:prstGeom>
        </p:spPr>
        <p:txBody>
          <a:bodyPr wrap="square">
            <a:spAutoFit/>
          </a:bodyPr>
          <a:lstStyle>
            <a:defPPr>
              <a:defRPr lang="zh-CN"/>
            </a:defPPr>
            <a:lvl1pPr>
              <a:defRPr sz="5000">
                <a:ln w="19050">
                  <a:noFill/>
                </a:ln>
                <a:gradFill>
                  <a:gsLst>
                    <a:gs pos="100000">
                      <a:srgbClr val="E9BE61"/>
                    </a:gs>
                    <a:gs pos="49000">
                      <a:srgbClr val="FEEFAC"/>
                    </a:gs>
                  </a:gsLst>
                  <a:lin ang="5400000" scaled="0"/>
                </a:gradFill>
                <a:latin typeface="思源宋体 CN Heavy" pitchFamily="18" charset="-122"/>
                <a:ea typeface="思源宋体 CN Heavy" pitchFamily="18" charset="-122"/>
              </a:defRPr>
            </a:lvl1pPr>
          </a:lstStyle>
          <a:p>
            <a:pPr algn="ctr"/>
            <a:r>
              <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不忘初心</a:t>
            </a:r>
            <a:endParaRPr lang="en-US" altLang="zh-CN"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方得始终</a:t>
            </a:r>
            <a:endPar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矩形 12"/>
          <p:cNvSpPr/>
          <p:nvPr/>
        </p:nvSpPr>
        <p:spPr>
          <a:xfrm>
            <a:off x="3821714" y="2638654"/>
            <a:ext cx="6845909" cy="646331"/>
          </a:xfrm>
          <a:prstGeom prst="rect">
            <a:avLst/>
          </a:prstGeom>
        </p:spPr>
        <p:txBody>
          <a:bodyPr wrap="square">
            <a:spAutoFit/>
          </a:bodyPr>
          <a:lstStyle/>
          <a:p>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中国共产党第二十届中央委员会第三次全体会议（简称：二十届三中全会），于</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15</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日至</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18</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日在北京召开 。</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4" name="组合 13"/>
          <p:cNvGrpSpPr/>
          <p:nvPr/>
        </p:nvGrpSpPr>
        <p:grpSpPr>
          <a:xfrm>
            <a:off x="1186030" y="3783491"/>
            <a:ext cx="10287111" cy="2830208"/>
            <a:chOff x="1106407" y="4075950"/>
            <a:chExt cx="10287110" cy="2830208"/>
          </a:xfrm>
        </p:grpSpPr>
        <p:grpSp>
          <p:nvGrpSpPr>
            <p:cNvPr id="16" name="组合 15"/>
            <p:cNvGrpSpPr/>
            <p:nvPr/>
          </p:nvGrpSpPr>
          <p:grpSpPr>
            <a:xfrm>
              <a:off x="1692248" y="5884464"/>
              <a:ext cx="71575" cy="1021694"/>
              <a:chOff x="1507444" y="5855356"/>
              <a:chExt cx="71575" cy="1021694"/>
            </a:xfrm>
          </p:grpSpPr>
          <p:sp>
            <p:nvSpPr>
              <p:cNvPr id="50" name="椭圆 49"/>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51" name="直接连接符 50"/>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501998" y="5884464"/>
              <a:ext cx="71575" cy="1021694"/>
              <a:chOff x="1507444" y="5855356"/>
              <a:chExt cx="71575" cy="1021694"/>
            </a:xfrm>
          </p:grpSpPr>
          <p:sp>
            <p:nvSpPr>
              <p:cNvPr id="48" name="椭圆 47"/>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9" name="直接连接符 48"/>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121498" y="5884464"/>
              <a:ext cx="71575" cy="1021694"/>
              <a:chOff x="1507444" y="5855356"/>
              <a:chExt cx="71575" cy="1021694"/>
            </a:xfrm>
          </p:grpSpPr>
          <p:sp>
            <p:nvSpPr>
              <p:cNvPr id="46" name="椭圆 45"/>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7" name="直接连接符 46"/>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5311748" y="5884464"/>
              <a:ext cx="71575" cy="1021694"/>
              <a:chOff x="1507444" y="5855356"/>
              <a:chExt cx="71575" cy="1021694"/>
            </a:xfrm>
          </p:grpSpPr>
          <p:sp>
            <p:nvSpPr>
              <p:cNvPr id="44" name="椭圆 43"/>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5" name="直接连接符 44"/>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8931248" y="5884464"/>
              <a:ext cx="71575" cy="1021694"/>
              <a:chOff x="1507444" y="5855356"/>
              <a:chExt cx="71575" cy="1021694"/>
            </a:xfrm>
          </p:grpSpPr>
          <p:sp>
            <p:nvSpPr>
              <p:cNvPr id="42" name="椭圆 41"/>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3" name="直接连接符 42"/>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10740998" y="5884464"/>
              <a:ext cx="71575" cy="1021694"/>
              <a:chOff x="1507444" y="5855356"/>
              <a:chExt cx="71575" cy="1021694"/>
            </a:xfrm>
          </p:grpSpPr>
          <p:sp>
            <p:nvSpPr>
              <p:cNvPr id="40" name="椭圆 39"/>
              <p:cNvSpPr/>
              <p:nvPr/>
            </p:nvSpPr>
            <p:spPr>
              <a:xfrm>
                <a:off x="1507444" y="5855356"/>
                <a:ext cx="71575" cy="7157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1" name="直接连接符 40"/>
              <p:cNvCxnSpPr/>
              <p:nvPr/>
            </p:nvCxnSpPr>
            <p:spPr>
              <a:xfrm>
                <a:off x="1540782" y="5907881"/>
                <a:ext cx="0" cy="969169"/>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grpSp>
        <p:sp>
          <p:nvSpPr>
            <p:cNvPr id="22" name="文本框 21"/>
            <p:cNvSpPr txBox="1"/>
            <p:nvPr/>
          </p:nvSpPr>
          <p:spPr>
            <a:xfrm>
              <a:off x="1106407"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服务人民</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3" name="文本框 22"/>
            <p:cNvSpPr txBox="1"/>
            <p:nvPr/>
          </p:nvSpPr>
          <p:spPr>
            <a:xfrm>
              <a:off x="2916158"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复兴国家</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4" name="文本框 23"/>
            <p:cNvSpPr txBox="1"/>
            <p:nvPr/>
          </p:nvSpPr>
          <p:spPr>
            <a:xfrm>
              <a:off x="4725907"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为谋福祉</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5" name="文本框 24"/>
            <p:cNvSpPr txBox="1"/>
            <p:nvPr/>
          </p:nvSpPr>
          <p:spPr>
            <a:xfrm>
              <a:off x="6535658"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增加幸福</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6" name="文本框 25"/>
            <p:cNvSpPr txBox="1"/>
            <p:nvPr/>
          </p:nvSpPr>
          <p:spPr>
            <a:xfrm>
              <a:off x="8345407"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国际地位</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7" name="文本框 26"/>
            <p:cNvSpPr txBox="1"/>
            <p:nvPr/>
          </p:nvSpPr>
          <p:spPr>
            <a:xfrm>
              <a:off x="10155158" y="5280982"/>
              <a:ext cx="1238359"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提高形象</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8" name="椭圆 27"/>
            <p:cNvSpPr/>
            <p:nvPr/>
          </p:nvSpPr>
          <p:spPr>
            <a:xfrm>
              <a:off x="123273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9" name="椭圆 28"/>
            <p:cNvSpPr/>
            <p:nvPr/>
          </p:nvSpPr>
          <p:spPr>
            <a:xfrm>
              <a:off x="304248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0" name="椭圆 29"/>
            <p:cNvSpPr/>
            <p:nvPr/>
          </p:nvSpPr>
          <p:spPr>
            <a:xfrm>
              <a:off x="485223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1" name="椭圆 30"/>
            <p:cNvSpPr/>
            <p:nvPr/>
          </p:nvSpPr>
          <p:spPr>
            <a:xfrm>
              <a:off x="666198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2" name="椭圆 31"/>
            <p:cNvSpPr/>
            <p:nvPr/>
          </p:nvSpPr>
          <p:spPr>
            <a:xfrm>
              <a:off x="847173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3" name="椭圆 32"/>
            <p:cNvSpPr/>
            <p:nvPr/>
          </p:nvSpPr>
          <p:spPr>
            <a:xfrm>
              <a:off x="10281486" y="4075950"/>
              <a:ext cx="990600" cy="9906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4" name="星形: 五角 33"/>
            <p:cNvSpPr/>
            <p:nvPr/>
          </p:nvSpPr>
          <p:spPr>
            <a:xfrm>
              <a:off x="1312774" y="4120256"/>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5" name="星形: 五角 34"/>
            <p:cNvSpPr/>
            <p:nvPr/>
          </p:nvSpPr>
          <p:spPr>
            <a:xfrm>
              <a:off x="3134897" y="4120256"/>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6" name="星形: 五角 35"/>
            <p:cNvSpPr/>
            <p:nvPr/>
          </p:nvSpPr>
          <p:spPr>
            <a:xfrm>
              <a:off x="4931530" y="4132827"/>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7" name="星形: 五角 36"/>
            <p:cNvSpPr/>
            <p:nvPr/>
          </p:nvSpPr>
          <p:spPr>
            <a:xfrm>
              <a:off x="6745294" y="4120256"/>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8" name="星形: 五角 37"/>
            <p:cNvSpPr/>
            <p:nvPr/>
          </p:nvSpPr>
          <p:spPr>
            <a:xfrm>
              <a:off x="8551774" y="4101065"/>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9" name="星形: 五角 38"/>
            <p:cNvSpPr/>
            <p:nvPr/>
          </p:nvSpPr>
          <p:spPr>
            <a:xfrm>
              <a:off x="10361524" y="4101065"/>
              <a:ext cx="825623" cy="825623"/>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10" grpId="0"/>
      <p:bldP spid="11" grpId="0" animBg="1"/>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红色精神的内容</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3687" t="704" r="20033" b="-704"/>
          <a:stretch>
            <a:fillRect/>
          </a:stretch>
        </p:blipFill>
        <p:spPr>
          <a:xfrm>
            <a:off x="1316040" y="1794812"/>
            <a:ext cx="3433761" cy="3444624"/>
          </a:xfrm>
          <a:prstGeom prst="ellipse">
            <a:avLst/>
          </a:prstGeom>
          <a:ln w="66675">
            <a:solidFill>
              <a:srgbClr val="C00000"/>
            </a:solidFill>
          </a:ln>
          <a:effectLst>
            <a:outerShdw blurRad="63500" sx="101000" sy="101000" algn="ctr" rotWithShape="0">
              <a:prstClr val="black">
                <a:alpha val="40000"/>
              </a:prstClr>
            </a:outerShdw>
          </a:effectLst>
        </p:spPr>
      </p:pic>
      <p:grpSp>
        <p:nvGrpSpPr>
          <p:cNvPr id="3" name="组合 2"/>
          <p:cNvGrpSpPr/>
          <p:nvPr/>
        </p:nvGrpSpPr>
        <p:grpSpPr>
          <a:xfrm>
            <a:off x="5735718" y="1794814"/>
            <a:ext cx="5376783" cy="970133"/>
            <a:chOff x="876299" y="3152179"/>
            <a:chExt cx="5376783" cy="970133"/>
          </a:xfrm>
        </p:grpSpPr>
        <p:sp>
          <p:nvSpPr>
            <p:cNvPr id="8" name="文本框 7"/>
            <p:cNvSpPr txBox="1"/>
            <p:nvPr/>
          </p:nvSpPr>
          <p:spPr>
            <a:xfrm>
              <a:off x="876300" y="3152179"/>
              <a:ext cx="1713900" cy="46166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文本框 8"/>
            <p:cNvSpPr txBox="1"/>
            <p:nvPr/>
          </p:nvSpPr>
          <p:spPr>
            <a:xfrm>
              <a:off x="876299" y="3599092"/>
              <a:ext cx="5376783" cy="523220"/>
            </a:xfrm>
            <a:prstGeom prst="rect">
              <a:avLst/>
            </a:prstGeom>
            <a:noFill/>
          </p:spPr>
          <p:txBody>
            <a:bodyPr wrap="square">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主要议程包括：中共中央政治局向中央委员会报告工作、重点研究进一步全面深化改革、</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0" name="组合 9"/>
          <p:cNvGrpSpPr/>
          <p:nvPr/>
        </p:nvGrpSpPr>
        <p:grpSpPr>
          <a:xfrm>
            <a:off x="5735718" y="2996585"/>
            <a:ext cx="5376783" cy="970133"/>
            <a:chOff x="876299" y="3152179"/>
            <a:chExt cx="5376783" cy="970133"/>
          </a:xfrm>
        </p:grpSpPr>
        <p:sp>
          <p:nvSpPr>
            <p:cNvPr id="11" name="文本框 10"/>
            <p:cNvSpPr txBox="1"/>
            <p:nvPr/>
          </p:nvSpPr>
          <p:spPr>
            <a:xfrm>
              <a:off x="876300" y="3152179"/>
              <a:ext cx="1713900" cy="46166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文本框 11"/>
            <p:cNvSpPr txBox="1"/>
            <p:nvPr/>
          </p:nvSpPr>
          <p:spPr>
            <a:xfrm>
              <a:off x="876299" y="3599092"/>
              <a:ext cx="5376783" cy="523220"/>
            </a:xfrm>
            <a:prstGeom prst="rect">
              <a:avLst/>
            </a:prstGeom>
            <a:noFill/>
          </p:spPr>
          <p:txBody>
            <a:bodyPr wrap="square">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推进中国式现代化问题、审议</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稿。</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3" name="组合 12"/>
          <p:cNvGrpSpPr/>
          <p:nvPr/>
        </p:nvGrpSpPr>
        <p:grpSpPr>
          <a:xfrm>
            <a:off x="5735718" y="4198354"/>
            <a:ext cx="5376783" cy="1185577"/>
            <a:chOff x="876299" y="3152179"/>
            <a:chExt cx="5376783" cy="1185577"/>
          </a:xfrm>
        </p:grpSpPr>
        <p:sp>
          <p:nvSpPr>
            <p:cNvPr id="14" name="文本框 13"/>
            <p:cNvSpPr txBox="1"/>
            <p:nvPr/>
          </p:nvSpPr>
          <p:spPr>
            <a:xfrm>
              <a:off x="876300" y="3152179"/>
              <a:ext cx="1713900" cy="46166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5" name="文本框 14"/>
            <p:cNvSpPr txBox="1"/>
            <p:nvPr/>
          </p:nvSpPr>
          <p:spPr>
            <a:xfrm>
              <a:off x="876299" y="3599092"/>
              <a:ext cx="5376783" cy="738664"/>
            </a:xfrm>
            <a:prstGeom prst="rect">
              <a:avLst/>
            </a:prstGeom>
            <a:noFill/>
          </p:spPr>
          <p:txBody>
            <a:bodyPr wrap="square">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出席这次全会的有，中央委员</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199</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人，候补中央委员</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165</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人。中央纪律检查委员会常务委员会委员和有关方面负责同志列席会议。</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1+#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1+#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1+#ppt_w/2"/>
                                          </p:val>
                                        </p:tav>
                                        <p:tav tm="100000">
                                          <p:val>
                                            <p:strVal val="#ppt_x"/>
                                          </p:val>
                                        </p:tav>
                                      </p:tavLst>
                                    </p:anim>
                                    <p:anim calcmode="lin" valueType="num">
                                      <p:cBhvr additive="base">
                                        <p:cTn id="39"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红色精神的内容</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nvGrpSpPr>
        <p:grpSpPr>
          <a:xfrm>
            <a:off x="742155" y="1536479"/>
            <a:ext cx="2760796" cy="3340233"/>
            <a:chOff x="754854" y="1741716"/>
            <a:chExt cx="2760796" cy="3340233"/>
          </a:xfrm>
        </p:grpSpPr>
        <p:grpSp>
          <p:nvGrpSpPr>
            <p:cNvPr id="20" name="组合 19"/>
            <p:cNvGrpSpPr/>
            <p:nvPr/>
          </p:nvGrpSpPr>
          <p:grpSpPr>
            <a:xfrm>
              <a:off x="957442" y="1741716"/>
              <a:ext cx="2358505" cy="2358505"/>
              <a:chOff x="957442" y="1741716"/>
              <a:chExt cx="2358505" cy="2358505"/>
            </a:xfrm>
          </p:grpSpPr>
          <p:sp>
            <p:nvSpPr>
              <p:cNvPr id="22" name="椭圆 21"/>
              <p:cNvSpPr/>
              <p:nvPr/>
            </p:nvSpPr>
            <p:spPr>
              <a:xfrm>
                <a:off x="957442"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23" name="组合 22"/>
              <p:cNvGrpSpPr/>
              <p:nvPr/>
            </p:nvGrpSpPr>
            <p:grpSpPr>
              <a:xfrm>
                <a:off x="957442" y="2423199"/>
                <a:ext cx="2355623" cy="1404147"/>
                <a:chOff x="957442" y="2234515"/>
                <a:chExt cx="2355623" cy="1404147"/>
              </a:xfrm>
            </p:grpSpPr>
            <p:sp>
              <p:nvSpPr>
                <p:cNvPr id="24" name="文本框 23"/>
                <p:cNvSpPr txBox="1"/>
                <p:nvPr/>
              </p:nvSpPr>
              <p:spPr>
                <a:xfrm>
                  <a:off x="1155482" y="2234515"/>
                  <a:ext cx="1959542"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25" name="直接连接符 24"/>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445824" y="2930776"/>
                  <a:ext cx="1378857" cy="707886"/>
                </a:xfrm>
                <a:prstGeom prst="rect">
                  <a:avLst/>
                </a:prstGeom>
                <a:noFill/>
              </p:spPr>
              <p:txBody>
                <a:bodyPr wrap="square" rtlCol="0">
                  <a:spAutoFit/>
                </a:bodyPr>
                <a:lstStyle/>
                <a:p>
                  <a:pPr algn="dist"/>
                  <a:r>
                    <a:rPr lang="en-US" altLang="zh-CN"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ADD TITLE</a:t>
                  </a:r>
                  <a:endPar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sp>
          <p:nvSpPr>
            <p:cNvPr id="21" name="文本框 20"/>
            <p:cNvSpPr txBox="1"/>
            <p:nvPr/>
          </p:nvSpPr>
          <p:spPr>
            <a:xfrm>
              <a:off x="754854" y="4343285"/>
              <a:ext cx="2760796" cy="738664"/>
            </a:xfrm>
            <a:prstGeom prst="rect">
              <a:avLst/>
            </a:prstGeom>
            <a:noFill/>
          </p:spPr>
          <p:txBody>
            <a:bodyPr wrap="square" rtlCol="0">
              <a:spAutoFit/>
            </a:bodyPr>
            <a:lstStyle/>
            <a:p>
              <a:pPr algn="ct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党的二十大代表中部分基层同志和专家学者也列席了会议。</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27" name="组合 26"/>
          <p:cNvGrpSpPr/>
          <p:nvPr/>
        </p:nvGrpSpPr>
        <p:grpSpPr>
          <a:xfrm>
            <a:off x="4702903" y="1536478"/>
            <a:ext cx="2760796" cy="3986564"/>
            <a:chOff x="4715602" y="1741716"/>
            <a:chExt cx="2760796" cy="3986564"/>
          </a:xfrm>
        </p:grpSpPr>
        <p:grpSp>
          <p:nvGrpSpPr>
            <p:cNvPr id="28" name="组合 27"/>
            <p:cNvGrpSpPr/>
            <p:nvPr/>
          </p:nvGrpSpPr>
          <p:grpSpPr>
            <a:xfrm>
              <a:off x="4916747" y="1741716"/>
              <a:ext cx="2358505" cy="2358505"/>
              <a:chOff x="4916747" y="1741716"/>
              <a:chExt cx="2358505" cy="2358505"/>
            </a:xfrm>
          </p:grpSpPr>
          <p:sp>
            <p:nvSpPr>
              <p:cNvPr id="30" name="椭圆 29"/>
              <p:cNvSpPr/>
              <p:nvPr/>
            </p:nvSpPr>
            <p:spPr>
              <a:xfrm>
                <a:off x="4916747"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31" name="组合 30"/>
              <p:cNvGrpSpPr/>
              <p:nvPr/>
            </p:nvGrpSpPr>
            <p:grpSpPr>
              <a:xfrm>
                <a:off x="4916747" y="2423199"/>
                <a:ext cx="2355623" cy="1404147"/>
                <a:chOff x="957442" y="2234515"/>
                <a:chExt cx="2355623" cy="1404147"/>
              </a:xfrm>
            </p:grpSpPr>
            <p:sp>
              <p:nvSpPr>
                <p:cNvPr id="32" name="文本框 31"/>
                <p:cNvSpPr txBox="1"/>
                <p:nvPr/>
              </p:nvSpPr>
              <p:spPr>
                <a:xfrm>
                  <a:off x="1155482" y="2234515"/>
                  <a:ext cx="1959542"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33" name="直接连接符 32"/>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1445824" y="2930776"/>
                  <a:ext cx="1378857" cy="707886"/>
                </a:xfrm>
                <a:prstGeom prst="rect">
                  <a:avLst/>
                </a:prstGeom>
                <a:noFill/>
              </p:spPr>
              <p:txBody>
                <a:bodyPr wrap="square" rtlCol="0">
                  <a:spAutoFit/>
                </a:bodyPr>
                <a:lstStyle/>
                <a:p>
                  <a:pPr algn="dist"/>
                  <a:r>
                    <a:rPr lang="en-US" altLang="zh-CN"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ADD TITLE</a:t>
                  </a:r>
                  <a:endPar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sp>
          <p:nvSpPr>
            <p:cNvPr id="29" name="文本框 28"/>
            <p:cNvSpPr txBox="1"/>
            <p:nvPr/>
          </p:nvSpPr>
          <p:spPr>
            <a:xfrm>
              <a:off x="4715602" y="4343285"/>
              <a:ext cx="2760796" cy="1384995"/>
            </a:xfrm>
            <a:prstGeom prst="rect">
              <a:avLst/>
            </a:prstGeom>
            <a:noFill/>
          </p:spPr>
          <p:txBody>
            <a:bodyPr wrap="square" rtlCol="0">
              <a:spAutoFit/>
            </a:bodyPr>
            <a:lstStyle/>
            <a:p>
              <a:pPr algn="ct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18</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日，中国共产党第二十届中央委员会第三次全体会议通过</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中国共产党第二十届中央委员会第三次全体会议公报</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35" name="组合 34"/>
          <p:cNvGrpSpPr/>
          <p:nvPr/>
        </p:nvGrpSpPr>
        <p:grpSpPr>
          <a:xfrm>
            <a:off x="8663651" y="1536478"/>
            <a:ext cx="2760796" cy="3555676"/>
            <a:chOff x="8676350" y="1741716"/>
            <a:chExt cx="2760796" cy="3555676"/>
          </a:xfrm>
        </p:grpSpPr>
        <p:grpSp>
          <p:nvGrpSpPr>
            <p:cNvPr id="36" name="组合 35"/>
            <p:cNvGrpSpPr/>
            <p:nvPr/>
          </p:nvGrpSpPr>
          <p:grpSpPr>
            <a:xfrm>
              <a:off x="8876053" y="1741716"/>
              <a:ext cx="2358505" cy="2358505"/>
              <a:chOff x="8876053" y="1741716"/>
              <a:chExt cx="2358505" cy="2358505"/>
            </a:xfrm>
          </p:grpSpPr>
          <p:sp>
            <p:nvSpPr>
              <p:cNvPr id="38" name="椭圆 37"/>
              <p:cNvSpPr/>
              <p:nvPr/>
            </p:nvSpPr>
            <p:spPr>
              <a:xfrm>
                <a:off x="8876053"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39" name="组合 38"/>
              <p:cNvGrpSpPr/>
              <p:nvPr/>
            </p:nvGrpSpPr>
            <p:grpSpPr>
              <a:xfrm>
                <a:off x="8878935" y="2423199"/>
                <a:ext cx="2355623" cy="1404147"/>
                <a:chOff x="957442" y="2234515"/>
                <a:chExt cx="2355623" cy="1404147"/>
              </a:xfrm>
            </p:grpSpPr>
            <p:sp>
              <p:nvSpPr>
                <p:cNvPr id="40" name="文本框 39"/>
                <p:cNvSpPr txBox="1"/>
                <p:nvPr/>
              </p:nvSpPr>
              <p:spPr>
                <a:xfrm>
                  <a:off x="1155482" y="2234515"/>
                  <a:ext cx="1959542"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精神内容</a:t>
                  </a:r>
                  <a:endParaRPr lang="zh-CN" altLang="en-US" sz="3200" b="1"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41" name="直接连接符 40"/>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445824" y="2930776"/>
                  <a:ext cx="1378857" cy="707886"/>
                </a:xfrm>
                <a:prstGeom prst="rect">
                  <a:avLst/>
                </a:prstGeom>
                <a:noFill/>
              </p:spPr>
              <p:txBody>
                <a:bodyPr wrap="square" rtlCol="0">
                  <a:spAutoFit/>
                </a:bodyPr>
                <a:lstStyle/>
                <a:p>
                  <a:pPr algn="dist"/>
                  <a:r>
                    <a:rPr lang="en-US" altLang="zh-CN"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ADD TITLE</a:t>
                  </a:r>
                  <a:endParaRPr lang="zh-CN" altLang="en-US" sz="20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sp>
          <p:nvSpPr>
            <p:cNvPr id="37" name="文本框 36"/>
            <p:cNvSpPr txBox="1"/>
            <p:nvPr/>
          </p:nvSpPr>
          <p:spPr>
            <a:xfrm>
              <a:off x="8676350" y="4343285"/>
              <a:ext cx="2760796" cy="954107"/>
            </a:xfrm>
            <a:prstGeom prst="rect">
              <a:avLst/>
            </a:prstGeom>
            <a:noFill/>
          </p:spPr>
          <p:txBody>
            <a:bodyPr wrap="square" rtlCol="0">
              <a:spAutoFit/>
            </a:bodyPr>
            <a:lstStyle/>
            <a:p>
              <a:pPr algn="ct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全会审议通过</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1000"/>
                                        <p:tgtEl>
                                          <p:spTgt spid="27"/>
                                        </p:tgtEl>
                                      </p:cBhvr>
                                    </p:animEffect>
                                    <p:anim calcmode="lin" valueType="num">
                                      <p:cBhvr>
                                        <p:cTn id="27" dur="1000" fill="hold"/>
                                        <p:tgtEl>
                                          <p:spTgt spid="27"/>
                                        </p:tgtEl>
                                        <p:attrNameLst>
                                          <p:attrName>ppt_x</p:attrName>
                                        </p:attrNameLst>
                                      </p:cBhvr>
                                      <p:tavLst>
                                        <p:tav tm="0">
                                          <p:val>
                                            <p:strVal val="#ppt_x"/>
                                          </p:val>
                                        </p:tav>
                                        <p:tav tm="100000">
                                          <p:val>
                                            <p:strVal val="#ppt_x"/>
                                          </p:val>
                                        </p:tav>
                                      </p:tavLst>
                                    </p:anim>
                                    <p:anim calcmode="lin" valueType="num">
                                      <p:cBhvr>
                                        <p:cTn id="2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红色精神的内容</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Aichitds2"/>
          <p:cNvSpPr/>
          <p:nvPr/>
        </p:nvSpPr>
        <p:spPr bwMode="auto">
          <a:xfrm>
            <a:off x="1560969" y="2209892"/>
            <a:ext cx="2830057" cy="1155849"/>
          </a:xfrm>
          <a:prstGeom prst="rect">
            <a:avLst/>
          </a:prstGeom>
          <a:solidFill>
            <a:schemeClr val="bg1">
              <a:lumMod val="85000"/>
              <a:alpha val="23000"/>
            </a:schemeClr>
          </a:solidFill>
          <a:ln w="6350" cap="flat" cmpd="sng" algn="ctr">
            <a:solidFill>
              <a:srgbClr val="FFFFFF">
                <a:lumMod val="75000"/>
              </a:srgbClr>
            </a:solidFill>
            <a:prstDash val="solid"/>
            <a:round/>
            <a:headEnd type="none" w="med" len="med"/>
            <a:tailEnd type="none" w="med" len="med"/>
          </a:ln>
          <a:effectLst/>
        </p:spPr>
        <p:txBody>
          <a:bodyPr vert="horz" wrap="square" lIns="91404" tIns="45702" rIns="91404" bIns="45702" numCol="1" rtlCol="0" anchor="t" anchorCtr="0" compatLnSpc="1"/>
          <a:lstStyle/>
          <a:p>
            <a:pPr marL="0" marR="0" lvl="0" indent="0" algn="ctr"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BC0000"/>
              </a:solidFill>
              <a:effectLst/>
              <a:uLnTx/>
              <a:uFillTx/>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 name="矩形: 圆角 2"/>
          <p:cNvSpPr/>
          <p:nvPr/>
        </p:nvSpPr>
        <p:spPr bwMode="auto">
          <a:xfrm>
            <a:off x="2299497" y="1917922"/>
            <a:ext cx="1353001" cy="499430"/>
          </a:xfrm>
          <a:prstGeom prst="roundRect">
            <a:avLst>
              <a:gd name="adj" fmla="val 140"/>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altLang="zh-CN"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01</a:t>
            </a:r>
            <a:endParaRPr lang="zh-CN" altLang="en-US"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8" name="矩形 7"/>
          <p:cNvSpPr/>
          <p:nvPr/>
        </p:nvSpPr>
        <p:spPr>
          <a:xfrm>
            <a:off x="1842943" y="2577200"/>
            <a:ext cx="2266107" cy="646331"/>
          </a:xfrm>
          <a:prstGeom prst="rect">
            <a:avLst/>
          </a:prstGeom>
        </p:spPr>
        <p:txBody>
          <a:bodyPr wrap="square">
            <a:spAutoFit/>
          </a:bodyPr>
          <a:lstStyle/>
          <a:p>
            <a:pPr algn="ctr"/>
            <a:r>
              <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我们党进行的一切奋斗</a:t>
            </a:r>
            <a:endPar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Aichitds2"/>
          <p:cNvSpPr/>
          <p:nvPr/>
        </p:nvSpPr>
        <p:spPr bwMode="auto">
          <a:xfrm>
            <a:off x="4680973" y="2209892"/>
            <a:ext cx="2830057" cy="1155849"/>
          </a:xfrm>
          <a:prstGeom prst="rect">
            <a:avLst/>
          </a:prstGeom>
          <a:solidFill>
            <a:schemeClr val="bg1">
              <a:lumMod val="85000"/>
              <a:alpha val="23000"/>
            </a:schemeClr>
          </a:solidFill>
          <a:ln w="6350" cap="flat" cmpd="sng" algn="ctr">
            <a:solidFill>
              <a:srgbClr val="FFFFFF">
                <a:lumMod val="75000"/>
              </a:srgbClr>
            </a:solidFill>
            <a:prstDash val="solid"/>
            <a:round/>
            <a:headEnd type="none" w="med" len="med"/>
            <a:tailEnd type="none" w="med" len="med"/>
          </a:ln>
          <a:effectLst/>
        </p:spPr>
        <p:txBody>
          <a:bodyPr vert="horz" wrap="square" lIns="91404" tIns="45702" rIns="91404" bIns="45702" numCol="1" rtlCol="0" anchor="t" anchorCtr="0" compatLnSpc="1"/>
          <a:lstStyle/>
          <a:p>
            <a:pPr marL="0" marR="0" lvl="0" indent="0" algn="ctr"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BC0000"/>
              </a:solidFill>
              <a:effectLst/>
              <a:uLnTx/>
              <a:uFillTx/>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矩形: 圆角 9"/>
          <p:cNvSpPr/>
          <p:nvPr/>
        </p:nvSpPr>
        <p:spPr bwMode="auto">
          <a:xfrm>
            <a:off x="5419501" y="1917922"/>
            <a:ext cx="1353001" cy="499430"/>
          </a:xfrm>
          <a:prstGeom prst="roundRect">
            <a:avLst>
              <a:gd name="adj" fmla="val 140"/>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altLang="zh-CN"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02</a:t>
            </a:r>
            <a:endParaRPr lang="zh-CN" altLang="en-US"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矩形 10"/>
          <p:cNvSpPr/>
          <p:nvPr/>
        </p:nvSpPr>
        <p:spPr>
          <a:xfrm>
            <a:off x="4821959" y="2577199"/>
            <a:ext cx="2548083" cy="646331"/>
          </a:xfrm>
          <a:prstGeom prst="rect">
            <a:avLst/>
          </a:prstGeom>
        </p:spPr>
        <p:txBody>
          <a:bodyPr wrap="square">
            <a:spAutoFit/>
          </a:bodyPr>
          <a:lstStyle/>
          <a:p>
            <a:pPr algn="ctr"/>
            <a:r>
              <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无论是革命战争年代浴血奋战推翻“三座大山”</a:t>
            </a:r>
            <a:endPar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Aichitds2"/>
          <p:cNvSpPr/>
          <p:nvPr/>
        </p:nvSpPr>
        <p:spPr bwMode="auto">
          <a:xfrm>
            <a:off x="7800977" y="2209892"/>
            <a:ext cx="2830057" cy="1155849"/>
          </a:xfrm>
          <a:prstGeom prst="rect">
            <a:avLst/>
          </a:prstGeom>
          <a:solidFill>
            <a:schemeClr val="bg1">
              <a:lumMod val="85000"/>
              <a:alpha val="23000"/>
            </a:schemeClr>
          </a:solidFill>
          <a:ln w="6350" cap="flat" cmpd="sng" algn="ctr">
            <a:solidFill>
              <a:srgbClr val="FFFFFF">
                <a:lumMod val="75000"/>
              </a:srgbClr>
            </a:solidFill>
            <a:prstDash val="solid"/>
            <a:round/>
            <a:headEnd type="none" w="med" len="med"/>
            <a:tailEnd type="none" w="med" len="med"/>
          </a:ln>
          <a:effectLst/>
        </p:spPr>
        <p:txBody>
          <a:bodyPr vert="horz" wrap="square" lIns="91404" tIns="45702" rIns="91404" bIns="45702" numCol="1" rtlCol="0" anchor="t" anchorCtr="0" compatLnSpc="1"/>
          <a:lstStyle/>
          <a:p>
            <a:pPr marL="0" marR="0" lvl="0" indent="0" algn="ctr"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BC0000"/>
              </a:solidFill>
              <a:effectLst/>
              <a:uLnTx/>
              <a:uFillTx/>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矩形: 圆角 12"/>
          <p:cNvSpPr/>
          <p:nvPr/>
        </p:nvSpPr>
        <p:spPr bwMode="auto">
          <a:xfrm>
            <a:off x="8539505" y="1917922"/>
            <a:ext cx="1353001" cy="499430"/>
          </a:xfrm>
          <a:prstGeom prst="roundRect">
            <a:avLst>
              <a:gd name="adj" fmla="val 140"/>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US" altLang="zh-CN"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03</a:t>
            </a:r>
            <a:endParaRPr lang="zh-CN" altLang="en-US"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4" name="矩形 13"/>
          <p:cNvSpPr/>
          <p:nvPr/>
        </p:nvSpPr>
        <p:spPr>
          <a:xfrm>
            <a:off x="8028975" y="2442410"/>
            <a:ext cx="2548083" cy="923330"/>
          </a:xfrm>
          <a:prstGeom prst="rect">
            <a:avLst/>
          </a:prstGeom>
        </p:spPr>
        <p:txBody>
          <a:bodyPr wrap="square">
            <a:spAutoFit/>
          </a:bodyPr>
          <a:lstStyle/>
          <a:p>
            <a:pPr algn="ctr"/>
            <a:r>
              <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近</a:t>
            </a:r>
            <a:r>
              <a:rPr lang="en-US" altLang="zh-CN"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100</a:t>
            </a:r>
            <a:r>
              <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年来，中国共产党人为了人民的利益，始终坚持吃苦在前</a:t>
            </a:r>
            <a:endParaRPr lang="zh-CN" altLang="en-US"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5" name="椭圆 14"/>
          <p:cNvSpPr/>
          <p:nvPr/>
        </p:nvSpPr>
        <p:spPr bwMode="auto">
          <a:xfrm flipH="1">
            <a:off x="1607820" y="3817053"/>
            <a:ext cx="259080" cy="259078"/>
          </a:xfrm>
          <a:prstGeom prst="ellipse">
            <a:avLst/>
          </a:prstGeom>
          <a:gradFill>
            <a:gsLst>
              <a:gs pos="0">
                <a:srgbClr val="C30F0F">
                  <a:lumMod val="90000"/>
                  <a:lumOff val="10000"/>
                </a:srgbClr>
              </a:gs>
              <a:gs pos="45000">
                <a:srgbClr val="C30F0F"/>
              </a:gs>
            </a:gsLst>
            <a:lin ang="5400000" scaled="1"/>
          </a:gradFill>
          <a:ln w="6350">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6" name="矩形 15"/>
          <p:cNvSpPr/>
          <p:nvPr/>
        </p:nvSpPr>
        <p:spPr>
          <a:xfrm>
            <a:off x="2081849" y="3787928"/>
            <a:ext cx="8502331" cy="566309"/>
          </a:xfrm>
          <a:prstGeom prst="rect">
            <a:avLst/>
          </a:prstGeom>
        </p:spPr>
        <p:txBody>
          <a:bodyPr wrap="square">
            <a:spAutoFit/>
          </a:bodyPr>
          <a:lstStyle/>
          <a:p>
            <a:pPr lvl="0" algn="just">
              <a:lnSpc>
                <a:spcPct val="110000"/>
              </a:lnSpc>
              <a:buClr>
                <a:schemeClr val="accent1"/>
              </a:buCl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2023</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11</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月，中共中央政治局决定，成立党的二十届三中全会文件起草组，由习近平同志担任组长，王沪宁、蔡奇、丁薛祥同志担任副组长，在中共中央政治局常委会领导下承担文件起草工作</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7" name="椭圆 16"/>
          <p:cNvSpPr/>
          <p:nvPr/>
        </p:nvSpPr>
        <p:spPr bwMode="auto">
          <a:xfrm flipH="1">
            <a:off x="1607820" y="4595454"/>
            <a:ext cx="259080" cy="259078"/>
          </a:xfrm>
          <a:prstGeom prst="ellipse">
            <a:avLst/>
          </a:prstGeom>
          <a:gradFill>
            <a:gsLst>
              <a:gs pos="0">
                <a:srgbClr val="C30F0F">
                  <a:lumMod val="90000"/>
                  <a:lumOff val="10000"/>
                </a:srgbClr>
              </a:gs>
              <a:gs pos="45000">
                <a:srgbClr val="C30F0F"/>
              </a:gs>
            </a:gsLst>
            <a:lin ang="5400000" scaled="1"/>
          </a:gradFill>
          <a:ln w="6350">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8" name="矩形 17"/>
          <p:cNvSpPr/>
          <p:nvPr/>
        </p:nvSpPr>
        <p:spPr>
          <a:xfrm>
            <a:off x="2074727" y="4541628"/>
            <a:ext cx="8502331" cy="560923"/>
          </a:xfrm>
          <a:prstGeom prst="rect">
            <a:avLst/>
          </a:prstGeom>
        </p:spPr>
        <p:txBody>
          <a:bodyPr wrap="square">
            <a:spAutoFit/>
          </a:bodyPr>
          <a:lstStyle/>
          <a:p>
            <a:pPr lvl="0" algn="just">
              <a:lnSpc>
                <a:spcPct val="110000"/>
              </a:lnSpc>
              <a:buClr>
                <a:schemeClr val="accent1"/>
              </a:buCl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2023</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11</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27</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日，党中央发出通知，就党的二十届三中全会议题征求各地区各部门各方面和部分干部群众意见</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P spid="8" grpId="0"/>
      <p:bldP spid="9" grpId="0" animBg="1"/>
      <p:bldP spid="10" grpId="0" animBg="1"/>
      <p:bldP spid="11" grpId="0"/>
      <p:bldP spid="12" grpId="0" animBg="1"/>
      <p:bldP spid="13" grpId="0" animBg="1"/>
      <p:bldP spid="14" grpId="0"/>
      <p:bldP spid="15" grpId="0" animBg="1"/>
      <p:bldP spid="16" grpId="0"/>
      <p:bldP spid="17" grpId="0" animBg="1"/>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3" name="文本框 2"/>
          <p:cNvSpPr txBox="1"/>
          <p:nvPr/>
        </p:nvSpPr>
        <p:spPr>
          <a:xfrm>
            <a:off x="4007767" y="1340768"/>
            <a:ext cx="4176464" cy="1107996"/>
          </a:xfrm>
          <a:prstGeom prst="rect">
            <a:avLst/>
          </a:prstGeom>
          <a:noFill/>
          <a:ln>
            <a:noFill/>
          </a:ln>
        </p:spPr>
        <p:txBody>
          <a:bodyPr wrap="square" rtlCol="0">
            <a:spAutoFit/>
          </a:bodyPr>
          <a:lstStyle/>
          <a:p>
            <a:pPr algn="dist"/>
            <a:r>
              <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第二部分</a:t>
            </a:r>
            <a:endPar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4" name="文本框 3"/>
          <p:cNvSpPr txBox="1"/>
          <p:nvPr/>
        </p:nvSpPr>
        <p:spPr>
          <a:xfrm>
            <a:off x="2267167" y="2684821"/>
            <a:ext cx="7776863" cy="1323439"/>
          </a:xfrm>
          <a:prstGeom prst="rect">
            <a:avLst/>
          </a:prstGeom>
          <a:noFill/>
          <a:ln>
            <a:noFill/>
          </a:ln>
        </p:spPr>
        <p:txBody>
          <a:bodyPr wrap="square" rtlCol="0">
            <a:spAutoFit/>
          </a:bodyPr>
          <a:lstStyle>
            <a:defPPr>
              <a:defRPr lang="zh-CN"/>
            </a:defPPr>
            <a:lvl1pPr algn="dist">
              <a:defRPr sz="80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dirty="0">
                <a:sym typeface="微软雅黑" panose="020B0503020204020204" pitchFamily="34" charset="-122"/>
              </a:rPr>
              <a:t>红色精神的意义</a:t>
            </a:r>
            <a:endParaRPr lang="zh-CN" altLang="en-US" dirty="0">
              <a:sym typeface="微软雅黑" panose="020B0503020204020204" pitchFamily="34" charset="-122"/>
            </a:endParaRPr>
          </a:p>
        </p:txBody>
      </p:sp>
      <p:sp>
        <p:nvSpPr>
          <p:cNvPr id="10" name="文本框 9"/>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2" name="图片 11"/>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694475" y="158062"/>
            <a:ext cx="4803048" cy="5336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红色精神的意义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8638306" y="1776676"/>
            <a:ext cx="2266639" cy="535531"/>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 name="文本框 2"/>
          <p:cNvSpPr txBox="1"/>
          <p:nvPr/>
        </p:nvSpPr>
        <p:spPr>
          <a:xfrm>
            <a:off x="8352712" y="2244881"/>
            <a:ext cx="2837827" cy="1042466"/>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2023</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12</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月，召开全会重点课题调研部署会议，安排</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55</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家中央有关部门和单位就</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38</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个重点课题进行调研，此后形成</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78</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份调研报告；</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8" name="文本框 7"/>
          <p:cNvSpPr txBox="1"/>
          <p:nvPr/>
        </p:nvSpPr>
        <p:spPr>
          <a:xfrm>
            <a:off x="8630274" y="3762927"/>
            <a:ext cx="2266639" cy="535531"/>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文本框 8"/>
          <p:cNvSpPr txBox="1"/>
          <p:nvPr/>
        </p:nvSpPr>
        <p:spPr>
          <a:xfrm>
            <a:off x="8401674" y="4248379"/>
            <a:ext cx="2723839" cy="1279454"/>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2023</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12</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月下旬起，就全会议题上门听取党和国家有关领导同志以及省部级主要领导同志的意见，一对一单独访谈，并形成一人一稿的访谈记录。</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文本框 9"/>
          <p:cNvSpPr txBox="1"/>
          <p:nvPr/>
        </p:nvSpPr>
        <p:spPr>
          <a:xfrm>
            <a:off x="1245801" y="3762928"/>
            <a:ext cx="2266639" cy="535531"/>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1066489" y="4159944"/>
            <a:ext cx="2625260" cy="805478"/>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同时，组成</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16</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个调研组，赴各省区市、新疆生产建设兵团和中央有关部门、单位调研。</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文本框 11"/>
          <p:cNvSpPr txBox="1"/>
          <p:nvPr/>
        </p:nvSpPr>
        <p:spPr>
          <a:xfrm>
            <a:off x="1288394" y="1748974"/>
            <a:ext cx="2168060" cy="535531"/>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文本框 12"/>
          <p:cNvSpPr txBox="1"/>
          <p:nvPr/>
        </p:nvSpPr>
        <p:spPr>
          <a:xfrm>
            <a:off x="1059794" y="2320665"/>
            <a:ext cx="2625260" cy="1042466"/>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2023</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12</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8</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日，习近平总书记主持召开党的二十届三中全会文件起草组第一次全体会议，文件起草工作正式启动。</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4" name="组合 13"/>
          <p:cNvGrpSpPr/>
          <p:nvPr/>
        </p:nvGrpSpPr>
        <p:grpSpPr>
          <a:xfrm>
            <a:off x="4519954" y="1799101"/>
            <a:ext cx="3133908" cy="3149906"/>
            <a:chOff x="4519953" y="1799101"/>
            <a:chExt cx="3133908" cy="3149906"/>
          </a:xfrm>
        </p:grpSpPr>
        <p:grpSp>
          <p:nvGrpSpPr>
            <p:cNvPr id="15" name="组合 14"/>
            <p:cNvGrpSpPr/>
            <p:nvPr/>
          </p:nvGrpSpPr>
          <p:grpSpPr>
            <a:xfrm>
              <a:off x="4519953" y="1799101"/>
              <a:ext cx="3133908" cy="3149906"/>
              <a:chOff x="4125189" y="2108202"/>
              <a:chExt cx="3923436" cy="3943467"/>
            </a:xfrm>
          </p:grpSpPr>
          <p:sp>
            <p:nvSpPr>
              <p:cNvPr id="17" name="Oval 20"/>
              <p:cNvSpPr/>
              <p:nvPr/>
            </p:nvSpPr>
            <p:spPr>
              <a:xfrm>
                <a:off x="5261216" y="3226043"/>
                <a:ext cx="1669568" cy="1669566"/>
              </a:xfrm>
              <a:prstGeom prst="ellipse">
                <a:avLst/>
              </a:prstGeom>
              <a:noFill/>
              <a:ln w="50800">
                <a:solidFill>
                  <a:schemeClr val="bg1">
                    <a:lumMod val="6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spcBef>
                    <a:spcPts val="1000"/>
                  </a:spcBef>
                </a:pPr>
                <a:endParaRPr lang="en-US" sz="1200" dirty="0">
                  <a:solidFill>
                    <a:schemeClr val="tx1">
                      <a:alpha val="70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8" name="Oval 21"/>
              <p:cNvSpPr/>
              <p:nvPr/>
            </p:nvSpPr>
            <p:spPr>
              <a:xfrm>
                <a:off x="4914900" y="2879727"/>
                <a:ext cx="2362200" cy="2362198"/>
              </a:xfrm>
              <a:prstGeom prst="ellipse">
                <a:avLst/>
              </a:prstGeom>
              <a:noFill/>
              <a:ln w="50800">
                <a:solidFill>
                  <a:schemeClr val="bg1">
                    <a:lumMod val="6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spcBef>
                    <a:spcPts val="1000"/>
                  </a:spcBef>
                </a:pPr>
                <a:endParaRPr lang="en-US" sz="1200" dirty="0">
                  <a:solidFill>
                    <a:schemeClr val="tx1">
                      <a:alpha val="70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9" name="Oval 22"/>
              <p:cNvSpPr/>
              <p:nvPr/>
            </p:nvSpPr>
            <p:spPr>
              <a:xfrm>
                <a:off x="4549534" y="2514361"/>
                <a:ext cx="3092932" cy="3092930"/>
              </a:xfrm>
              <a:prstGeom prst="ellipse">
                <a:avLst/>
              </a:prstGeom>
              <a:noFill/>
              <a:ln w="50800">
                <a:solidFill>
                  <a:schemeClr val="accent3">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spcBef>
                    <a:spcPts val="1000"/>
                  </a:spcBef>
                </a:pPr>
                <a:endParaRPr lang="en-US" sz="1200" dirty="0">
                  <a:solidFill>
                    <a:schemeClr val="tx1">
                      <a:alpha val="70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0" name="Oval 23"/>
              <p:cNvSpPr/>
              <p:nvPr/>
            </p:nvSpPr>
            <p:spPr>
              <a:xfrm>
                <a:off x="4143375" y="2108202"/>
                <a:ext cx="3905250" cy="3905248"/>
              </a:xfrm>
              <a:prstGeom prst="ellipse">
                <a:avLst/>
              </a:prstGeom>
              <a:noFill/>
              <a:ln w="50800">
                <a:solidFill>
                  <a:schemeClr val="bg1">
                    <a:lumMod val="6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spcBef>
                    <a:spcPts val="1000"/>
                  </a:spcBef>
                </a:pPr>
                <a:endParaRPr lang="en-US" sz="1200" dirty="0">
                  <a:solidFill>
                    <a:schemeClr val="tx1">
                      <a:alpha val="70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1" name="Arc 2"/>
              <p:cNvSpPr/>
              <p:nvPr/>
            </p:nvSpPr>
            <p:spPr>
              <a:xfrm>
                <a:off x="5261216" y="3238499"/>
                <a:ext cx="1669567" cy="1669567"/>
              </a:xfrm>
              <a:prstGeom prst="arc">
                <a:avLst>
                  <a:gd name="adj1" fmla="val 16200000"/>
                  <a:gd name="adj2" fmla="val 9606774"/>
                </a:avLst>
              </a:prstGeom>
              <a:ln w="127000" cap="rnd">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2" name="Arc 25"/>
              <p:cNvSpPr/>
              <p:nvPr/>
            </p:nvSpPr>
            <p:spPr>
              <a:xfrm>
                <a:off x="4914900" y="2892183"/>
                <a:ext cx="2362202" cy="2362200"/>
              </a:xfrm>
              <a:prstGeom prst="arc">
                <a:avLst>
                  <a:gd name="adj1" fmla="val 6378583"/>
                  <a:gd name="adj2" fmla="val 14450116"/>
                </a:avLst>
              </a:prstGeom>
              <a:ln w="127000" cap="rnd">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3" name="Arc 26"/>
              <p:cNvSpPr/>
              <p:nvPr/>
            </p:nvSpPr>
            <p:spPr>
              <a:xfrm>
                <a:off x="4566032" y="2500313"/>
                <a:ext cx="3092932" cy="3092930"/>
              </a:xfrm>
              <a:prstGeom prst="arc">
                <a:avLst>
                  <a:gd name="adj1" fmla="val 13602979"/>
                  <a:gd name="adj2" fmla="val 2697292"/>
                </a:avLst>
              </a:prstGeom>
              <a:ln w="127000" cap="rnd">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4" name="Arc 27"/>
              <p:cNvSpPr/>
              <p:nvPr/>
            </p:nvSpPr>
            <p:spPr>
              <a:xfrm>
                <a:off x="4125189" y="2146421"/>
                <a:ext cx="3905250" cy="3905248"/>
              </a:xfrm>
              <a:prstGeom prst="arc">
                <a:avLst>
                  <a:gd name="adj1" fmla="val 4711533"/>
                  <a:gd name="adj2" fmla="val 11601269"/>
                </a:avLst>
              </a:prstGeom>
              <a:ln w="127000" cap="rnd">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16" name="星形: 五角 15"/>
            <p:cNvSpPr/>
            <p:nvPr/>
          </p:nvSpPr>
          <p:spPr>
            <a:xfrm>
              <a:off x="5235982" y="2520197"/>
              <a:ext cx="1738241" cy="1738241"/>
            </a:xfrm>
            <a:prstGeom prst="star5">
              <a:avLst/>
            </a:prstGeom>
            <a:solidFill>
              <a:schemeClr val="accent4">
                <a:lumMod val="40000"/>
                <a:lumOff val="60000"/>
              </a:schemeClr>
            </a:solidFill>
            <a:ln>
              <a:noFill/>
            </a:ln>
            <a:effectLst>
              <a:outerShdw blurRad="63500" sx="103000" sy="103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8" grpId="0"/>
      <p:bldP spid="9" grpId="0"/>
      <p:bldP spid="10"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红色精神的意义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596898" y="1280078"/>
            <a:ext cx="7613095" cy="1942141"/>
            <a:chOff x="978248" y="1906374"/>
            <a:chExt cx="7613094" cy="1942141"/>
          </a:xfrm>
        </p:grpSpPr>
        <p:grpSp>
          <p:nvGrpSpPr>
            <p:cNvPr id="3" name="Aitds2"/>
            <p:cNvGrpSpPr/>
            <p:nvPr/>
          </p:nvGrpSpPr>
          <p:grpSpPr>
            <a:xfrm>
              <a:off x="1087053" y="2465810"/>
              <a:ext cx="1182145" cy="1182573"/>
              <a:chOff x="304800" y="673100"/>
              <a:chExt cx="4000500" cy="4000500"/>
            </a:xfrm>
            <a:effectLst/>
          </p:grpSpPr>
          <p:sp>
            <p:nvSpPr>
              <p:cNvPr id="19" name="Aitds2-1"/>
              <p:cNvSpPr/>
              <p:nvPr/>
            </p:nvSpPr>
            <p:spPr>
              <a:xfrm>
                <a:off x="304800" y="673100"/>
                <a:ext cx="4000500" cy="4000500"/>
              </a:xfrm>
              <a:prstGeom prst="donut">
                <a:avLst>
                  <a:gd name="adj" fmla="val 48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0" name="Aitds2-2"/>
              <p:cNvSpPr/>
              <p:nvPr/>
            </p:nvSpPr>
            <p:spPr>
              <a:xfrm>
                <a:off x="392111" y="760412"/>
                <a:ext cx="3825875" cy="382587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8" name="Aitds3"/>
            <p:cNvSpPr/>
            <p:nvPr/>
          </p:nvSpPr>
          <p:spPr>
            <a:xfrm>
              <a:off x="1255575" y="2718603"/>
              <a:ext cx="843571" cy="676985"/>
            </a:xfrm>
            <a:prstGeom prst="rect">
              <a:avLst/>
            </a:prstGeom>
          </p:spPr>
          <p:txBody>
            <a:bodyPr wrap="square" lIns="121798" tIns="60899" rIns="121798" bIns="60899">
              <a:spAutoFit/>
            </a:bodyPr>
            <a:lstStyle/>
            <a:p>
              <a:pPr algn="ctr">
                <a:defRPr/>
              </a:pPr>
              <a:r>
                <a:rPr lang="zh-CN" altLang="en-US" b="1"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b="1"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Aitds4"/>
            <p:cNvSpPr>
              <a:spLocks noChangeArrowheads="1"/>
            </p:cNvSpPr>
            <p:nvPr/>
          </p:nvSpPr>
          <p:spPr bwMode="auto">
            <a:xfrm>
              <a:off x="978248" y="2365121"/>
              <a:ext cx="1387330" cy="1387330"/>
            </a:xfrm>
            <a:prstGeom prst="ellipse">
              <a:avLst/>
            </a:prstGeom>
            <a:noFill/>
            <a:ln w="9525" cmpd="sng">
              <a:solidFill>
                <a:srgbClr val="C00000"/>
              </a:solidFill>
              <a:prstDash val="dash"/>
              <a:round/>
            </a:ln>
            <a:extLst>
              <a:ext uri="{909E8E84-426E-40DD-AFC4-6F175D3DCCD1}">
                <a14:hiddenFill xmlns:a14="http://schemas.microsoft.com/office/drawing/2010/main">
                  <a:solidFill>
                    <a:srgbClr val="FFFFFF"/>
                  </a:solidFill>
                </a14:hiddenFill>
              </a:ext>
            </a:extLst>
          </p:spPr>
          <p:txBody>
            <a:bodyPr lIns="91417" tIns="45709" rIns="91417" bIns="4570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400" kern="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0" name="Aitds8"/>
            <p:cNvGrpSpPr/>
            <p:nvPr/>
          </p:nvGrpSpPr>
          <p:grpSpPr>
            <a:xfrm>
              <a:off x="1854813" y="2041217"/>
              <a:ext cx="599844" cy="518745"/>
              <a:chOff x="2681832" y="2265475"/>
              <a:chExt cx="599844" cy="518745"/>
            </a:xfrm>
          </p:grpSpPr>
          <p:grpSp>
            <p:nvGrpSpPr>
              <p:cNvPr id="15" name="Group 15"/>
              <p:cNvGrpSpPr/>
              <p:nvPr/>
            </p:nvGrpSpPr>
            <p:grpSpPr bwMode="auto">
              <a:xfrm>
                <a:off x="2681832" y="2265475"/>
                <a:ext cx="517914" cy="518745"/>
                <a:chOff x="0" y="0"/>
                <a:chExt cx="763788" cy="763788"/>
              </a:xfrm>
            </p:grpSpPr>
            <p:sp>
              <p:nvSpPr>
                <p:cNvPr id="17" name="Aitds8-1"/>
                <p:cNvSpPr>
                  <a:spLocks noChangeArrowheads="1"/>
                </p:cNvSpPr>
                <p:nvPr/>
              </p:nvSpPr>
              <p:spPr bwMode="auto">
                <a:xfrm>
                  <a:off x="0" y="0"/>
                  <a:ext cx="763788" cy="763788"/>
                </a:xfrm>
                <a:prstGeom prst="ellipse">
                  <a:avLst/>
                </a:prstGeom>
                <a:solidFill>
                  <a:srgbClr val="FFFFFF"/>
                </a:solidFill>
                <a:ln w="9525">
                  <a:noFill/>
                  <a:round/>
                </a:ln>
              </p:spPr>
              <p:txBody>
                <a:bodyPr anchor="ctr"/>
                <a:lstStyle/>
                <a:p>
                  <a:pPr algn="ctr" defTabSz="913130" fontAlgn="base">
                    <a:spcBef>
                      <a:spcPct val="0"/>
                    </a:spcBef>
                    <a:spcAft>
                      <a:spcPct val="0"/>
                    </a:spcAft>
                    <a:buFont typeface="Arial" panose="020B0604020202020204" pitchFamily="34" charset="0"/>
                    <a:buNone/>
                    <a:defRPr/>
                  </a:pPr>
                  <a:endParaRPr lang="zh-CN" altLang="zh-CN" sz="2400" kern="0" dirty="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8" name="Aitds8-2"/>
                <p:cNvSpPr>
                  <a:spLocks noChangeArrowheads="1"/>
                </p:cNvSpPr>
                <p:nvPr/>
              </p:nvSpPr>
              <p:spPr bwMode="auto">
                <a:xfrm>
                  <a:off x="83367" y="83233"/>
                  <a:ext cx="597054" cy="597321"/>
                </a:xfrm>
                <a:prstGeom prst="ellipse">
                  <a:avLst/>
                </a:prstGeom>
                <a:solidFill>
                  <a:srgbClr val="C00000"/>
                </a:solidFill>
                <a:ln w="38100">
                  <a:solidFill>
                    <a:srgbClr val="FFC000"/>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914400">
                    <a:spcBef>
                      <a:spcPct val="0"/>
                    </a:spcBef>
                    <a:buFont typeface="Arial" panose="020B0604020202020204" pitchFamily="34" charset="0"/>
                    <a:buNone/>
                    <a:defRPr/>
                  </a:pPr>
                  <a:endParaRPr lang="zh-CN" altLang="zh-CN" sz="2400" kern="0" dirty="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16" name="Aitds8-3"/>
              <p:cNvSpPr txBox="1"/>
              <p:nvPr/>
            </p:nvSpPr>
            <p:spPr>
              <a:xfrm>
                <a:off x="2785787" y="2317990"/>
                <a:ext cx="495889" cy="400110"/>
              </a:xfrm>
              <a:prstGeom prst="rect">
                <a:avLst/>
              </a:prstGeom>
              <a:noFill/>
            </p:spPr>
            <p:txBody>
              <a:bodyPr wrap="square" rtlCol="0">
                <a:spAutoFit/>
              </a:bodyPr>
              <a:lstStyle/>
              <a:p>
                <a:r>
                  <a:rPr lang="en-US" altLang="zh-CN" sz="20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a:t>
                </a:r>
                <a:endParaRPr lang="zh-CN" altLang="en-US" sz="20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11" name="Aitds10"/>
            <p:cNvSpPr/>
            <p:nvPr/>
          </p:nvSpPr>
          <p:spPr>
            <a:xfrm>
              <a:off x="2833820" y="2559962"/>
              <a:ext cx="5757522" cy="1288553"/>
            </a:xfrm>
            <a:prstGeom prst="roundRect">
              <a:avLst>
                <a:gd name="adj" fmla="val 50000"/>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85">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Aitds12"/>
            <p:cNvSpPr>
              <a:spLocks noChangeShapeType="1"/>
            </p:cNvSpPr>
            <p:nvPr/>
          </p:nvSpPr>
          <p:spPr bwMode="auto">
            <a:xfrm flipH="1">
              <a:off x="2322913" y="3061808"/>
              <a:ext cx="641411" cy="0"/>
            </a:xfrm>
            <a:prstGeom prst="line">
              <a:avLst/>
            </a:prstGeom>
            <a:noFill/>
            <a:ln w="12700" cap="flat">
              <a:solidFill>
                <a:srgbClr val="C00000"/>
              </a:solidFill>
              <a:prstDash val="solid"/>
              <a:miter lim="800000"/>
              <a:headEnd type="oval"/>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defRPr/>
              </a:pPr>
              <a:endParaRPr lang="zh-CN" altLang="en-US"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Aitds16"/>
            <p:cNvSpPr/>
            <p:nvPr/>
          </p:nvSpPr>
          <p:spPr>
            <a:xfrm>
              <a:off x="3144102" y="1906374"/>
              <a:ext cx="1415772" cy="461665"/>
            </a:xfrm>
            <a:prstGeom prst="rect">
              <a:avLst/>
            </a:prstGeom>
          </p:spPr>
          <p:txBody>
            <a:bodyPr wrap="none">
              <a:spAutoFit/>
            </a:bodyPr>
            <a:lstStyle/>
            <a:p>
              <a:pPr lvl="0">
                <a:defRPr/>
              </a:pPr>
              <a:r>
                <a:rPr lang="zh-CN" altLang="en-US" sz="2400" b="1" kern="0"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kern="0"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4" name="Aitds11"/>
            <p:cNvSpPr/>
            <p:nvPr/>
          </p:nvSpPr>
          <p:spPr>
            <a:xfrm>
              <a:off x="3171673" y="2746461"/>
              <a:ext cx="5156504" cy="752930"/>
            </a:xfrm>
            <a:prstGeom prst="rect">
              <a:avLst/>
            </a:prstGeom>
          </p:spPr>
          <p:txBody>
            <a:bodyPr wrap="square" lIns="105571" tIns="52784" rIns="105571" bIns="52784">
              <a:spAutoFit/>
            </a:bodyPr>
            <a:lstStyle/>
            <a:p>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30</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日，中共中央政治局召开会议，决定</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月在北京召开中国共产党第二十届中央委员会第三次全体会议。</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21" name="组合 20"/>
          <p:cNvGrpSpPr/>
          <p:nvPr/>
        </p:nvGrpSpPr>
        <p:grpSpPr>
          <a:xfrm>
            <a:off x="599869" y="3733931"/>
            <a:ext cx="7693033" cy="2096812"/>
            <a:chOff x="981218" y="4028870"/>
            <a:chExt cx="7693033" cy="2096812"/>
          </a:xfrm>
        </p:grpSpPr>
        <p:grpSp>
          <p:nvGrpSpPr>
            <p:cNvPr id="22" name="Aitds5"/>
            <p:cNvGrpSpPr/>
            <p:nvPr/>
          </p:nvGrpSpPr>
          <p:grpSpPr>
            <a:xfrm>
              <a:off x="1090023" y="4503732"/>
              <a:ext cx="1182145" cy="1182573"/>
              <a:chOff x="304800" y="673100"/>
              <a:chExt cx="4000500" cy="4000500"/>
            </a:xfrm>
            <a:effectLst/>
          </p:grpSpPr>
          <p:sp>
            <p:nvSpPr>
              <p:cNvPr id="34" name="Aitds5-1"/>
              <p:cNvSpPr/>
              <p:nvPr/>
            </p:nvSpPr>
            <p:spPr>
              <a:xfrm>
                <a:off x="304800" y="673100"/>
                <a:ext cx="4000500" cy="4000500"/>
              </a:xfrm>
              <a:prstGeom prst="donut">
                <a:avLst>
                  <a:gd name="adj" fmla="val 48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5" name="Aitds5-2"/>
              <p:cNvSpPr/>
              <p:nvPr/>
            </p:nvSpPr>
            <p:spPr>
              <a:xfrm>
                <a:off x="392111" y="760412"/>
                <a:ext cx="3825875" cy="382587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4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23" name="Aitds6"/>
            <p:cNvSpPr/>
            <p:nvPr/>
          </p:nvSpPr>
          <p:spPr>
            <a:xfrm>
              <a:off x="1258545" y="4787801"/>
              <a:ext cx="843571" cy="676985"/>
            </a:xfrm>
            <a:prstGeom prst="rect">
              <a:avLst/>
            </a:prstGeom>
          </p:spPr>
          <p:txBody>
            <a:bodyPr wrap="square" lIns="121798" tIns="60899" rIns="121798" bIns="60899">
              <a:spAutoFit/>
            </a:bodyPr>
            <a:lstStyle/>
            <a:p>
              <a:pPr algn="ctr">
                <a:defRPr/>
              </a:pPr>
              <a:r>
                <a:rPr lang="zh-CN" altLang="en-US" b="1"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b="1"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4" name="Aitds7"/>
            <p:cNvSpPr>
              <a:spLocks noChangeArrowheads="1"/>
            </p:cNvSpPr>
            <p:nvPr/>
          </p:nvSpPr>
          <p:spPr bwMode="auto">
            <a:xfrm>
              <a:off x="981218" y="4403043"/>
              <a:ext cx="1387330" cy="1387330"/>
            </a:xfrm>
            <a:prstGeom prst="ellipse">
              <a:avLst/>
            </a:prstGeom>
            <a:noFill/>
            <a:ln w="9525" cmpd="sng">
              <a:solidFill>
                <a:srgbClr val="C00000"/>
              </a:solidFill>
              <a:prstDash val="dash"/>
              <a:round/>
            </a:ln>
            <a:extLst>
              <a:ext uri="{909E8E84-426E-40DD-AFC4-6F175D3DCCD1}">
                <a14:hiddenFill xmlns:a14="http://schemas.microsoft.com/office/drawing/2010/main">
                  <a:solidFill>
                    <a:srgbClr val="FFFFFF"/>
                  </a:solidFill>
                </a14:hiddenFill>
              </a:ext>
            </a:extLst>
          </p:spPr>
          <p:txBody>
            <a:bodyPr lIns="91417" tIns="45709" rIns="91417" bIns="4570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400" kern="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25" name="Aitds9"/>
            <p:cNvGrpSpPr/>
            <p:nvPr/>
          </p:nvGrpSpPr>
          <p:grpSpPr>
            <a:xfrm>
              <a:off x="1865576" y="4079139"/>
              <a:ext cx="599844" cy="518745"/>
              <a:chOff x="2681832" y="2265475"/>
              <a:chExt cx="599844" cy="518745"/>
            </a:xfrm>
          </p:grpSpPr>
          <p:grpSp>
            <p:nvGrpSpPr>
              <p:cNvPr id="30" name="Group 15"/>
              <p:cNvGrpSpPr/>
              <p:nvPr/>
            </p:nvGrpSpPr>
            <p:grpSpPr bwMode="auto">
              <a:xfrm>
                <a:off x="2681832" y="2265475"/>
                <a:ext cx="517914" cy="518745"/>
                <a:chOff x="0" y="0"/>
                <a:chExt cx="763788" cy="763788"/>
              </a:xfrm>
            </p:grpSpPr>
            <p:sp>
              <p:nvSpPr>
                <p:cNvPr id="32" name="Aitds9-1"/>
                <p:cNvSpPr>
                  <a:spLocks noChangeArrowheads="1"/>
                </p:cNvSpPr>
                <p:nvPr/>
              </p:nvSpPr>
              <p:spPr bwMode="auto">
                <a:xfrm>
                  <a:off x="0" y="0"/>
                  <a:ext cx="763788" cy="763788"/>
                </a:xfrm>
                <a:prstGeom prst="ellipse">
                  <a:avLst/>
                </a:prstGeom>
                <a:solidFill>
                  <a:srgbClr val="FFFFFF"/>
                </a:solidFill>
                <a:ln w="9525">
                  <a:noFill/>
                  <a:round/>
                </a:ln>
              </p:spPr>
              <p:txBody>
                <a:bodyPr anchor="ctr"/>
                <a:lstStyle/>
                <a:p>
                  <a:pPr algn="ctr" defTabSz="913130" fontAlgn="base">
                    <a:spcBef>
                      <a:spcPct val="0"/>
                    </a:spcBef>
                    <a:spcAft>
                      <a:spcPct val="0"/>
                    </a:spcAft>
                    <a:buFont typeface="Arial" panose="020B0604020202020204" pitchFamily="34" charset="0"/>
                    <a:buNone/>
                    <a:defRPr/>
                  </a:pPr>
                  <a:endParaRPr lang="zh-CN" altLang="zh-CN" sz="2400" kern="0" dirty="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3" name="Aitds9-2"/>
                <p:cNvSpPr>
                  <a:spLocks noChangeArrowheads="1"/>
                </p:cNvSpPr>
                <p:nvPr/>
              </p:nvSpPr>
              <p:spPr bwMode="auto">
                <a:xfrm>
                  <a:off x="83367" y="83233"/>
                  <a:ext cx="597054" cy="597321"/>
                </a:xfrm>
                <a:prstGeom prst="ellipse">
                  <a:avLst/>
                </a:prstGeom>
                <a:solidFill>
                  <a:srgbClr val="C00000"/>
                </a:solidFill>
                <a:ln w="38100">
                  <a:solidFill>
                    <a:srgbClr val="FFC000"/>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914400">
                    <a:spcBef>
                      <a:spcPct val="0"/>
                    </a:spcBef>
                    <a:buFont typeface="Arial" panose="020B0604020202020204" pitchFamily="34" charset="0"/>
                    <a:buNone/>
                    <a:defRPr/>
                  </a:pPr>
                  <a:endParaRPr lang="zh-CN" altLang="zh-CN" sz="2400" kern="0" dirty="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31" name="Aitds9-3"/>
              <p:cNvSpPr txBox="1"/>
              <p:nvPr/>
            </p:nvSpPr>
            <p:spPr>
              <a:xfrm>
                <a:off x="2785787" y="2317990"/>
                <a:ext cx="495889" cy="400110"/>
              </a:xfrm>
              <a:prstGeom prst="rect">
                <a:avLst/>
              </a:prstGeom>
              <a:noFill/>
            </p:spPr>
            <p:txBody>
              <a:bodyPr wrap="square" rtlCol="0">
                <a:spAutoFit/>
              </a:bodyPr>
              <a:lstStyle/>
              <a:p>
                <a:r>
                  <a:rPr lang="en-US" altLang="zh-CN" sz="20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a:t>
                </a:r>
                <a:endParaRPr lang="zh-CN" altLang="en-US" sz="2000"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26" name="Aitds13"/>
            <p:cNvSpPr/>
            <p:nvPr/>
          </p:nvSpPr>
          <p:spPr>
            <a:xfrm>
              <a:off x="2840389" y="4597884"/>
              <a:ext cx="5833862" cy="1527798"/>
            </a:xfrm>
            <a:prstGeom prst="roundRect">
              <a:avLst>
                <a:gd name="adj" fmla="val 50000"/>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85">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7" name="Aitds15"/>
            <p:cNvSpPr>
              <a:spLocks noChangeShapeType="1"/>
            </p:cNvSpPr>
            <p:nvPr/>
          </p:nvSpPr>
          <p:spPr bwMode="auto">
            <a:xfrm flipH="1">
              <a:off x="2322913" y="5146260"/>
              <a:ext cx="641411" cy="0"/>
            </a:xfrm>
            <a:prstGeom prst="line">
              <a:avLst/>
            </a:prstGeom>
            <a:noFill/>
            <a:ln w="12700" cap="flat">
              <a:solidFill>
                <a:srgbClr val="C00000"/>
              </a:solidFill>
              <a:prstDash val="solid"/>
              <a:miter lim="800000"/>
              <a:headEnd type="oval"/>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defRPr/>
              </a:pPr>
              <a:endParaRPr lang="zh-CN" altLang="en-US" dirty="0">
                <a:solidFill>
                  <a:prstClr val="white"/>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8" name="Aitds17"/>
            <p:cNvSpPr/>
            <p:nvPr/>
          </p:nvSpPr>
          <p:spPr>
            <a:xfrm>
              <a:off x="3144101" y="4028870"/>
              <a:ext cx="1415772" cy="461665"/>
            </a:xfrm>
            <a:prstGeom prst="rect">
              <a:avLst/>
            </a:prstGeom>
          </p:spPr>
          <p:txBody>
            <a:bodyPr wrap="none">
              <a:spAutoFit/>
            </a:bodyPr>
            <a:lstStyle/>
            <a:p>
              <a:pPr lvl="0">
                <a:defRPr/>
              </a:pPr>
              <a:r>
                <a:rPr lang="zh-CN" altLang="en-US" sz="2400" b="1" kern="0"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kern="0"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9" name="Aitds11"/>
            <p:cNvSpPr/>
            <p:nvPr/>
          </p:nvSpPr>
          <p:spPr>
            <a:xfrm>
              <a:off x="3126773" y="4663009"/>
              <a:ext cx="5279404" cy="1399261"/>
            </a:xfrm>
            <a:prstGeom prst="rect">
              <a:avLst/>
            </a:prstGeom>
          </p:spPr>
          <p:txBody>
            <a:bodyPr wrap="square" lIns="105571" tIns="52784" rIns="105571" bIns="52784">
              <a:spAutoFit/>
            </a:bodyPr>
            <a:lstStyle/>
            <a:p>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5</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决定稿下发中国共产党党内一定范围征求意见，征求党内老同志意见，专门听取各民主党派中央、全国工商联负责人和无党派人士代表意见，听取相关企业和专家学者意见。</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pic>
        <p:nvPicPr>
          <p:cNvPr id="36" name="图片 35"/>
          <p:cNvPicPr>
            <a:picLocks noChangeAspect="1"/>
          </p:cNvPicPr>
          <p:nvPr/>
        </p:nvPicPr>
        <p:blipFill rotWithShape="1">
          <a:blip r:embed="rId1" cstate="print">
            <a:extLst>
              <a:ext uri="{28A0092B-C50C-407E-A947-70E740481C1C}">
                <a14:useLocalDpi xmlns:a14="http://schemas.microsoft.com/office/drawing/2010/main" val="0"/>
              </a:ext>
            </a:extLst>
          </a:blip>
          <a:srcRect l="31833" r="29894"/>
          <a:stretch>
            <a:fillRect/>
          </a:stretch>
        </p:blipFill>
        <p:spPr>
          <a:xfrm>
            <a:off x="8372442" y="737175"/>
            <a:ext cx="3716737"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1000"/>
                                        <p:tgtEl>
                                          <p:spTgt spid="36"/>
                                        </p:tgtEl>
                                      </p:cBhvr>
                                    </p:animEffect>
                                    <p:anim calcmode="lin" valueType="num">
                                      <p:cBhvr>
                                        <p:cTn id="20" dur="1000" fill="hold"/>
                                        <p:tgtEl>
                                          <p:spTgt spid="36"/>
                                        </p:tgtEl>
                                        <p:attrNameLst>
                                          <p:attrName>ppt_x</p:attrName>
                                        </p:attrNameLst>
                                      </p:cBhvr>
                                      <p:tavLst>
                                        <p:tav tm="0">
                                          <p:val>
                                            <p:strVal val="#ppt_x"/>
                                          </p:val>
                                        </p:tav>
                                        <p:tav tm="100000">
                                          <p:val>
                                            <p:strVal val="#ppt_x"/>
                                          </p:val>
                                        </p:tav>
                                      </p:tavLst>
                                    </p:anim>
                                    <p:anim calcmode="lin" valueType="num">
                                      <p:cBhvr>
                                        <p:cTn id="2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500" fill="hold"/>
                                        <p:tgtEl>
                                          <p:spTgt spid="21"/>
                                        </p:tgtEl>
                                        <p:attrNameLst>
                                          <p:attrName>ppt_w</p:attrName>
                                        </p:attrNameLst>
                                      </p:cBhvr>
                                      <p:tavLst>
                                        <p:tav tm="0">
                                          <p:val>
                                            <p:fltVal val="0"/>
                                          </p:val>
                                        </p:tav>
                                        <p:tav tm="100000">
                                          <p:val>
                                            <p:strVal val="#ppt_w"/>
                                          </p:val>
                                        </p:tav>
                                      </p:tavLst>
                                    </p:anim>
                                    <p:anim calcmode="lin" valueType="num">
                                      <p:cBhvr>
                                        <p:cTn id="34" dur="500" fill="hold"/>
                                        <p:tgtEl>
                                          <p:spTgt spid="21"/>
                                        </p:tgtEl>
                                        <p:attrNameLst>
                                          <p:attrName>ppt_h</p:attrName>
                                        </p:attrNameLst>
                                      </p:cBhvr>
                                      <p:tavLst>
                                        <p:tav tm="0">
                                          <p:val>
                                            <p:fltVal val="0"/>
                                          </p:val>
                                        </p:tav>
                                        <p:tav tm="100000">
                                          <p:val>
                                            <p:strVal val="#ppt_h"/>
                                          </p:val>
                                        </p:tav>
                                      </p:tavLst>
                                    </p:anim>
                                    <p:animEffect transition="in" filter="fad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红色精神的意义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1294118" y="1556794"/>
            <a:ext cx="9661821" cy="1493145"/>
            <a:chOff x="1313234" y="1415439"/>
            <a:chExt cx="9661821" cy="1493145"/>
          </a:xfrm>
        </p:grpSpPr>
        <p:grpSp>
          <p:nvGrpSpPr>
            <p:cNvPr id="3" name="组合 2"/>
            <p:cNvGrpSpPr/>
            <p:nvPr/>
          </p:nvGrpSpPr>
          <p:grpSpPr>
            <a:xfrm>
              <a:off x="1313234" y="1415439"/>
              <a:ext cx="1150691" cy="1150691"/>
              <a:chOff x="1313234" y="1415439"/>
              <a:chExt cx="1150691" cy="1150691"/>
            </a:xfrm>
            <a:solidFill>
              <a:srgbClr val="C00000"/>
            </a:solidFill>
          </p:grpSpPr>
          <p:sp>
            <p:nvSpPr>
              <p:cNvPr id="11" name="星形: 五角 10"/>
              <p:cNvSpPr/>
              <p:nvPr/>
            </p:nvSpPr>
            <p:spPr>
              <a:xfrm>
                <a:off x="1313234" y="1415439"/>
                <a:ext cx="1150691" cy="1150691"/>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文本框 11"/>
              <p:cNvSpPr txBox="1"/>
              <p:nvPr/>
            </p:nvSpPr>
            <p:spPr>
              <a:xfrm>
                <a:off x="1602829" y="1729174"/>
                <a:ext cx="571500" cy="461665"/>
              </a:xfrm>
              <a:prstGeom prst="rect">
                <a:avLst/>
              </a:prstGeom>
              <a:noFill/>
            </p:spPr>
            <p:txBody>
              <a:bodyPr wrap="square" rtlCol="0">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01</a:t>
                </a:r>
                <a:endParaRPr lang="zh-CN" altLang="en-US"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8" name="组合 7"/>
            <p:cNvGrpSpPr/>
            <p:nvPr/>
          </p:nvGrpSpPr>
          <p:grpSpPr>
            <a:xfrm>
              <a:off x="2935073" y="1492812"/>
              <a:ext cx="8039982" cy="1415772"/>
              <a:chOff x="5698464" y="1968713"/>
              <a:chExt cx="8039982" cy="1415772"/>
            </a:xfrm>
          </p:grpSpPr>
          <p:sp>
            <p:nvSpPr>
              <p:cNvPr id="9" name="文本框 8"/>
              <p:cNvSpPr txBox="1"/>
              <p:nvPr/>
            </p:nvSpPr>
            <p:spPr>
              <a:xfrm>
                <a:off x="5698464" y="1968713"/>
                <a:ext cx="1505783" cy="461665"/>
              </a:xfrm>
              <a:prstGeom prst="rect">
                <a:avLst/>
              </a:prstGeom>
              <a:noFill/>
            </p:spPr>
            <p:txBody>
              <a:bodyPr wrap="square" rtlCol="0">
                <a:spAutoFit/>
              </a:bodyPr>
              <a:lstStyle/>
              <a:p>
                <a:pPr algn="dist"/>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文本框 9"/>
              <p:cNvSpPr txBox="1"/>
              <p:nvPr/>
            </p:nvSpPr>
            <p:spPr>
              <a:xfrm>
                <a:off x="5698464" y="2430378"/>
                <a:ext cx="8039982" cy="954107"/>
              </a:xfrm>
              <a:prstGeom prst="rect">
                <a:avLst/>
              </a:prstGeom>
              <a:noFill/>
            </p:spPr>
            <p:txBody>
              <a:bodyPr wrap="square" rtlCol="0">
                <a:spAutoFit/>
              </a:bodyPr>
              <a:lstStyle/>
              <a:p>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5</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中共中央在中南海召开党外人士座谈会，就中共中央关于进一步全面深化改革、推进中国式现代化的决定听取各民主党派中央、全国工商联负责人和无党派人士代表的意见建议。中共中央总书记习近平主持座谈会并发表重要讲话。</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grpSp>
        <p:nvGrpSpPr>
          <p:cNvPr id="13" name="组合 12"/>
          <p:cNvGrpSpPr/>
          <p:nvPr/>
        </p:nvGrpSpPr>
        <p:grpSpPr>
          <a:xfrm>
            <a:off x="1294118" y="3158665"/>
            <a:ext cx="9661821" cy="1150691"/>
            <a:chOff x="1313234" y="3207515"/>
            <a:chExt cx="9661821" cy="1150691"/>
          </a:xfrm>
        </p:grpSpPr>
        <p:grpSp>
          <p:nvGrpSpPr>
            <p:cNvPr id="14" name="组合 13"/>
            <p:cNvGrpSpPr/>
            <p:nvPr/>
          </p:nvGrpSpPr>
          <p:grpSpPr>
            <a:xfrm>
              <a:off x="1313234" y="3207515"/>
              <a:ext cx="1150691" cy="1150691"/>
              <a:chOff x="1313234" y="3207515"/>
              <a:chExt cx="1150691" cy="1150691"/>
            </a:xfrm>
            <a:solidFill>
              <a:srgbClr val="C00000"/>
            </a:solidFill>
          </p:grpSpPr>
          <p:sp>
            <p:nvSpPr>
              <p:cNvPr id="18" name="星形: 五角 17"/>
              <p:cNvSpPr/>
              <p:nvPr/>
            </p:nvSpPr>
            <p:spPr>
              <a:xfrm>
                <a:off x="1313234" y="3207515"/>
                <a:ext cx="1150691" cy="1150691"/>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9" name="文本框 18"/>
              <p:cNvSpPr txBox="1"/>
              <p:nvPr/>
            </p:nvSpPr>
            <p:spPr>
              <a:xfrm>
                <a:off x="1602829" y="3521250"/>
                <a:ext cx="571500" cy="461665"/>
              </a:xfrm>
              <a:prstGeom prst="rect">
                <a:avLst/>
              </a:prstGeom>
              <a:noFill/>
            </p:spPr>
            <p:txBody>
              <a:bodyPr wrap="square" rtlCol="0">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02</a:t>
                </a:r>
                <a:endParaRPr lang="zh-CN" altLang="en-US"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5" name="组合 14"/>
            <p:cNvGrpSpPr/>
            <p:nvPr/>
          </p:nvGrpSpPr>
          <p:grpSpPr>
            <a:xfrm>
              <a:off x="2935073" y="3287652"/>
              <a:ext cx="8039982" cy="984885"/>
              <a:chOff x="5698464" y="1968713"/>
              <a:chExt cx="8039982" cy="984885"/>
            </a:xfrm>
          </p:grpSpPr>
          <p:sp>
            <p:nvSpPr>
              <p:cNvPr id="16" name="文本框 15"/>
              <p:cNvSpPr txBox="1"/>
              <p:nvPr/>
            </p:nvSpPr>
            <p:spPr>
              <a:xfrm>
                <a:off x="5698464" y="1968713"/>
                <a:ext cx="1505783" cy="461665"/>
              </a:xfrm>
              <a:prstGeom prst="rect">
                <a:avLst/>
              </a:prstGeom>
              <a:noFill/>
            </p:spPr>
            <p:txBody>
              <a:bodyPr wrap="square" rtlCol="0">
                <a:spAutoFit/>
              </a:bodyPr>
              <a:lstStyle/>
              <a:p>
                <a:pPr algn="dist"/>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7" name="文本框 16"/>
              <p:cNvSpPr txBox="1"/>
              <p:nvPr/>
            </p:nvSpPr>
            <p:spPr>
              <a:xfrm>
                <a:off x="5698464" y="2430378"/>
                <a:ext cx="8039982" cy="523220"/>
              </a:xfrm>
              <a:prstGeom prst="rect">
                <a:avLst/>
              </a:prstGeom>
              <a:noFill/>
            </p:spPr>
            <p:txBody>
              <a:bodyPr wrap="square" rtlCol="0">
                <a:spAutoFit/>
              </a:bodyPr>
              <a:lstStyle/>
              <a:p>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6</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日，中共中央政治局召开会议，研究进一步全面深化改革、推进中国式现代化问题。中共中央总书记习近平主持会议。</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grpSp>
        <p:nvGrpSpPr>
          <p:cNvPr id="20" name="组合 19"/>
          <p:cNvGrpSpPr/>
          <p:nvPr/>
        </p:nvGrpSpPr>
        <p:grpSpPr>
          <a:xfrm>
            <a:off x="1294118" y="4633528"/>
            <a:ext cx="9661821" cy="1150691"/>
            <a:chOff x="1313234" y="4999590"/>
            <a:chExt cx="9661821" cy="1150691"/>
          </a:xfrm>
        </p:grpSpPr>
        <p:grpSp>
          <p:nvGrpSpPr>
            <p:cNvPr id="21" name="组合 20"/>
            <p:cNvGrpSpPr/>
            <p:nvPr/>
          </p:nvGrpSpPr>
          <p:grpSpPr>
            <a:xfrm>
              <a:off x="1313234" y="4999590"/>
              <a:ext cx="1150691" cy="1150691"/>
              <a:chOff x="1313234" y="4999590"/>
              <a:chExt cx="1150691" cy="1150691"/>
            </a:xfrm>
            <a:solidFill>
              <a:srgbClr val="C00000"/>
            </a:solidFill>
          </p:grpSpPr>
          <p:sp>
            <p:nvSpPr>
              <p:cNvPr id="25" name="星形: 五角 24"/>
              <p:cNvSpPr/>
              <p:nvPr/>
            </p:nvSpPr>
            <p:spPr>
              <a:xfrm>
                <a:off x="1313234" y="4999590"/>
                <a:ext cx="1150691" cy="1150691"/>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6" name="文本框 25"/>
              <p:cNvSpPr txBox="1"/>
              <p:nvPr/>
            </p:nvSpPr>
            <p:spPr>
              <a:xfrm>
                <a:off x="1602829" y="5313325"/>
                <a:ext cx="571500" cy="461665"/>
              </a:xfrm>
              <a:prstGeom prst="rect">
                <a:avLst/>
              </a:prstGeom>
              <a:noFill/>
            </p:spPr>
            <p:txBody>
              <a:bodyPr wrap="square" rtlCol="0">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03</a:t>
                </a:r>
                <a:endParaRPr lang="zh-CN" altLang="en-US" sz="240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22" name="组合 21"/>
            <p:cNvGrpSpPr/>
            <p:nvPr/>
          </p:nvGrpSpPr>
          <p:grpSpPr>
            <a:xfrm>
              <a:off x="2935073" y="5082492"/>
              <a:ext cx="8039982" cy="984885"/>
              <a:chOff x="5698464" y="1968713"/>
              <a:chExt cx="8039982" cy="984885"/>
            </a:xfrm>
          </p:grpSpPr>
          <p:sp>
            <p:nvSpPr>
              <p:cNvPr id="23" name="文本框 22"/>
              <p:cNvSpPr txBox="1"/>
              <p:nvPr/>
            </p:nvSpPr>
            <p:spPr>
              <a:xfrm>
                <a:off x="5698464" y="1968713"/>
                <a:ext cx="1505783" cy="461665"/>
              </a:xfrm>
              <a:prstGeom prst="rect">
                <a:avLst/>
              </a:prstGeom>
              <a:noFill/>
            </p:spPr>
            <p:txBody>
              <a:bodyPr wrap="square" rtlCol="0">
                <a:spAutoFit/>
              </a:bodyPr>
              <a:lstStyle/>
              <a:p>
                <a:pPr algn="dist"/>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精神意义</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4" name="文本框 23"/>
              <p:cNvSpPr txBox="1"/>
              <p:nvPr/>
            </p:nvSpPr>
            <p:spPr>
              <a:xfrm>
                <a:off x="5698464" y="2430378"/>
                <a:ext cx="8039982" cy="523220"/>
              </a:xfrm>
              <a:prstGeom prst="rect">
                <a:avLst/>
              </a:prstGeom>
              <a:noFill/>
            </p:spPr>
            <p:txBody>
              <a:bodyPr wrap="square" rtlCol="0">
                <a:spAutoFit/>
              </a:bodyPr>
              <a:lstStyle/>
              <a:p>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会议决定，中国共产党第二十届中央委员会第三次全体会议于</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15</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日至</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18</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日在北京召开。</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0-#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3" name="文本框 2"/>
          <p:cNvSpPr txBox="1"/>
          <p:nvPr/>
        </p:nvSpPr>
        <p:spPr>
          <a:xfrm>
            <a:off x="4007767" y="1340768"/>
            <a:ext cx="4176464" cy="1107996"/>
          </a:xfrm>
          <a:prstGeom prst="rect">
            <a:avLst/>
          </a:prstGeom>
          <a:noFill/>
          <a:ln>
            <a:noFill/>
          </a:ln>
        </p:spPr>
        <p:txBody>
          <a:bodyPr wrap="square" rtlCol="0">
            <a:spAutoFit/>
          </a:bodyPr>
          <a:lstStyle/>
          <a:p>
            <a:pPr algn="dist"/>
            <a:r>
              <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第三部分</a:t>
            </a:r>
            <a:endPar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4" name="文本框 3"/>
          <p:cNvSpPr txBox="1"/>
          <p:nvPr/>
        </p:nvSpPr>
        <p:spPr>
          <a:xfrm>
            <a:off x="2267167" y="2684821"/>
            <a:ext cx="7776863" cy="1323439"/>
          </a:xfrm>
          <a:prstGeom prst="rect">
            <a:avLst/>
          </a:prstGeom>
          <a:noFill/>
          <a:ln>
            <a:noFill/>
          </a:ln>
        </p:spPr>
        <p:txBody>
          <a:bodyPr wrap="square" rtlCol="0">
            <a:spAutoFit/>
          </a:bodyPr>
          <a:lstStyle>
            <a:defPPr>
              <a:defRPr lang="zh-CN"/>
            </a:defPPr>
            <a:lvl1pPr algn="dist">
              <a:defRPr sz="66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sz="8000" dirty="0">
                <a:sym typeface="微软雅黑" panose="020B0503020204020204" pitchFamily="34" charset="-122"/>
              </a:rPr>
              <a:t>红色精神的释义</a:t>
            </a:r>
            <a:endParaRPr lang="zh-CN" altLang="en-US" sz="8000" dirty="0">
              <a:sym typeface="微软雅黑" panose="020B0503020204020204" pitchFamily="34" charset="-122"/>
            </a:endParaRPr>
          </a:p>
        </p:txBody>
      </p:sp>
      <p:sp>
        <p:nvSpPr>
          <p:cNvPr id="10" name="文本框 9"/>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2" name="图片 11"/>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694475" y="158062"/>
            <a:ext cx="4803048" cy="5336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红色精神的释义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空心弧 1"/>
          <p:cNvSpPr/>
          <p:nvPr/>
        </p:nvSpPr>
        <p:spPr>
          <a:xfrm rot="5400000">
            <a:off x="1861029" y="2083008"/>
            <a:ext cx="2857500" cy="2857500"/>
          </a:xfrm>
          <a:prstGeom prst="blockArc">
            <a:avLst>
              <a:gd name="adj1" fmla="val 10800000"/>
              <a:gd name="adj2" fmla="val 16728"/>
              <a:gd name="adj3" fmla="val 4332"/>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 name="椭圆 2"/>
          <p:cNvSpPr/>
          <p:nvPr/>
        </p:nvSpPr>
        <p:spPr>
          <a:xfrm>
            <a:off x="3043093" y="1846704"/>
            <a:ext cx="618663" cy="618663"/>
          </a:xfrm>
          <a:prstGeom prst="ellipse">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a:t>
            </a:r>
            <a:endParaRPr lang="zh-CN" altLang="en-US"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8" name="椭圆 7"/>
          <p:cNvSpPr/>
          <p:nvPr/>
        </p:nvSpPr>
        <p:spPr>
          <a:xfrm>
            <a:off x="4297853" y="3202426"/>
            <a:ext cx="618663" cy="618663"/>
          </a:xfrm>
          <a:prstGeom prst="ellipse">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a:t>
            </a:r>
            <a:endParaRPr lang="zh-CN" altLang="en-US"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椭圆 8"/>
          <p:cNvSpPr/>
          <p:nvPr/>
        </p:nvSpPr>
        <p:spPr>
          <a:xfrm>
            <a:off x="3043093" y="4558154"/>
            <a:ext cx="618663" cy="618663"/>
          </a:xfrm>
          <a:prstGeom prst="ellipse">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3</a:t>
            </a:r>
            <a:endParaRPr lang="zh-CN" altLang="en-US" sz="2400" dirty="0">
              <a:ln w="19050">
                <a:noFill/>
              </a:ln>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矩形 9"/>
          <p:cNvSpPr/>
          <p:nvPr/>
        </p:nvSpPr>
        <p:spPr>
          <a:xfrm>
            <a:off x="4517822" y="1780389"/>
            <a:ext cx="6584997" cy="978729"/>
          </a:xfrm>
          <a:prstGeom prst="rect">
            <a:avLst/>
          </a:prstGeom>
        </p:spPr>
        <p:txBody>
          <a:bodyPr wrap="square">
            <a:spAutoFit/>
          </a:bodyPr>
          <a:lstStyle/>
          <a:p>
            <a:pPr lvl="0">
              <a:lnSpc>
                <a:spcPct val="120000"/>
              </a:lnSpc>
              <a:buClr>
                <a:schemeClr val="accent1"/>
              </a:buClr>
              <a:defRPr/>
            </a:pP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中共中央政治局听取了</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稿在党内外一定范围征求意见的情况报告，决定根据这次会议讨论的意见进行修改后将文件稿提请二十届三中全会审议。</a:t>
            </a:r>
            <a:endPar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4517822" y="1411020"/>
            <a:ext cx="3128703" cy="4339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algn="l">
              <a:lnSpc>
                <a:spcPct val="90000"/>
              </a:lnSpc>
            </a:pP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矩形 11"/>
          <p:cNvSpPr/>
          <p:nvPr/>
        </p:nvSpPr>
        <p:spPr>
          <a:xfrm>
            <a:off x="5289670" y="3355497"/>
            <a:ext cx="5813151" cy="683264"/>
          </a:xfrm>
          <a:prstGeom prst="rect">
            <a:avLst/>
          </a:prstGeom>
        </p:spPr>
        <p:txBody>
          <a:bodyPr wrap="square">
            <a:spAutoFit/>
          </a:bodyPr>
          <a:lstStyle/>
          <a:p>
            <a:pPr lvl="0">
              <a:lnSpc>
                <a:spcPct val="120000"/>
              </a:lnSpc>
              <a:buClr>
                <a:schemeClr val="accent1"/>
              </a:buClr>
              <a:defRPr/>
            </a:pP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15</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日上午，中国共产党第二十届中央委员会第三次全体会议在北京开始举行。</a:t>
            </a:r>
            <a:endPar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文本框 12"/>
          <p:cNvSpPr txBox="1"/>
          <p:nvPr/>
        </p:nvSpPr>
        <p:spPr>
          <a:xfrm>
            <a:off x="5289670" y="2948780"/>
            <a:ext cx="3128703" cy="4339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algn="l">
              <a:lnSpc>
                <a:spcPct val="90000"/>
              </a:lnSpc>
            </a:pP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4" name="矩形 13"/>
          <p:cNvSpPr/>
          <p:nvPr/>
        </p:nvSpPr>
        <p:spPr>
          <a:xfrm>
            <a:off x="4428437" y="5078256"/>
            <a:ext cx="6276075" cy="978729"/>
          </a:xfrm>
          <a:prstGeom prst="rect">
            <a:avLst/>
          </a:prstGeom>
        </p:spPr>
        <p:txBody>
          <a:bodyPr wrap="square">
            <a:spAutoFit/>
          </a:bodyPr>
          <a:lstStyle/>
          <a:p>
            <a:pPr lvl="0">
              <a:lnSpc>
                <a:spcPct val="120000"/>
              </a:lnSpc>
              <a:buClr>
                <a:schemeClr val="accent1"/>
              </a:buClr>
              <a:defRPr/>
            </a:pP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中央委员会总书记习近平代表中央政治局向全会作工作报告，并就</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中共中央关于进一步全面深化改革、推进中国式现代化的决定（讨论稿）</a:t>
            </a:r>
            <a:r>
              <a:rPr lang="en-US" altLang="zh-CN"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向全会作了说明。</a:t>
            </a:r>
            <a:endParaRPr lang="zh-CN" altLang="en-US" sz="1600" dirty="0">
              <a:solidFill>
                <a:prstClr val="black"/>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5" name="文本框 14"/>
          <p:cNvSpPr txBox="1"/>
          <p:nvPr/>
        </p:nvSpPr>
        <p:spPr>
          <a:xfrm>
            <a:off x="4428437" y="4689509"/>
            <a:ext cx="4720472" cy="4339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algn="l">
              <a:lnSpc>
                <a:spcPct val="90000"/>
              </a:lnSpc>
            </a:pP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6" name="组合 15"/>
          <p:cNvGrpSpPr/>
          <p:nvPr/>
        </p:nvGrpSpPr>
        <p:grpSpPr>
          <a:xfrm>
            <a:off x="1441567" y="2465367"/>
            <a:ext cx="2119487" cy="2119487"/>
            <a:chOff x="1441566" y="2465365"/>
            <a:chExt cx="2119487" cy="2119487"/>
          </a:xfrm>
        </p:grpSpPr>
        <p:sp>
          <p:nvSpPr>
            <p:cNvPr id="17" name="椭圆 16"/>
            <p:cNvSpPr/>
            <p:nvPr/>
          </p:nvSpPr>
          <p:spPr>
            <a:xfrm>
              <a:off x="1441566" y="2465365"/>
              <a:ext cx="2119487" cy="2119487"/>
            </a:xfrm>
            <a:prstGeom prst="ellipse">
              <a:avLst/>
            </a:prstGeom>
            <a:gradFill>
              <a:gsLst>
                <a:gs pos="0">
                  <a:srgbClr val="C30F0F">
                    <a:lumMod val="90000"/>
                    <a:lumOff val="10000"/>
                  </a:srgbClr>
                </a:gs>
                <a:gs pos="45000">
                  <a:srgbClr val="C30F0F"/>
                </a:gs>
              </a:gsLst>
              <a:lin ang="5400000" scaled="1"/>
            </a:gradFill>
            <a:ln w="15875">
              <a:solidFill>
                <a:schemeClr val="bg1"/>
              </a:solid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8" name="星形: 五角 17"/>
            <p:cNvSpPr/>
            <p:nvPr/>
          </p:nvSpPr>
          <p:spPr>
            <a:xfrm>
              <a:off x="1695519" y="2701670"/>
              <a:ext cx="1594259" cy="1594259"/>
            </a:xfrm>
            <a:prstGeom prst="star5">
              <a:avLst/>
            </a:prstGeom>
            <a:solidFill>
              <a:schemeClr val="accent4">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P spid="8" grpId="0" animBg="1"/>
      <p:bldP spid="9" grpId="0" animBg="1"/>
      <p:bldP spid="10" grpId="0"/>
      <p:bldP spid="11" grpId="0"/>
      <p:bldP spid="12" grpId="0"/>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红色精神的释义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4578015" y="2093142"/>
            <a:ext cx="3035971" cy="3035970"/>
            <a:chOff x="4578015" y="2308739"/>
            <a:chExt cx="3035970" cy="3035970"/>
          </a:xfrm>
        </p:grpSpPr>
        <p:grpSp>
          <p:nvGrpSpPr>
            <p:cNvPr id="3" name="组合 2"/>
            <p:cNvGrpSpPr/>
            <p:nvPr/>
          </p:nvGrpSpPr>
          <p:grpSpPr>
            <a:xfrm rot="19344978">
              <a:off x="4578015" y="2308739"/>
              <a:ext cx="3035970" cy="3035970"/>
              <a:chOff x="4578015" y="2308739"/>
              <a:chExt cx="3035970" cy="3035970"/>
            </a:xfrm>
          </p:grpSpPr>
          <p:sp>
            <p:nvSpPr>
              <p:cNvPr id="11" name="椭圆 10"/>
              <p:cNvSpPr/>
              <p:nvPr/>
            </p:nvSpPr>
            <p:spPr>
              <a:xfrm>
                <a:off x="4578015" y="2308739"/>
                <a:ext cx="3035970" cy="303597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cxnSp>
            <p:nvCxnSpPr>
              <p:cNvPr id="12" name="直接连接符 11"/>
              <p:cNvCxnSpPr>
                <a:stCxn id="11" idx="0"/>
              </p:cNvCxnSpPr>
              <p:nvPr/>
            </p:nvCxnSpPr>
            <p:spPr>
              <a:xfrm>
                <a:off x="6096000" y="2308739"/>
                <a:ext cx="0" cy="151798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11" idx="3"/>
              </p:cNvCxnSpPr>
              <p:nvPr/>
            </p:nvCxnSpPr>
            <p:spPr>
              <a:xfrm flipH="1">
                <a:off x="5022623" y="3826724"/>
                <a:ext cx="1073377"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11" idx="5"/>
              </p:cNvCxnSpPr>
              <p:nvPr/>
            </p:nvCxnSpPr>
            <p:spPr>
              <a:xfrm>
                <a:off x="6095998" y="3826724"/>
                <a:ext cx="1073379"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5981700" y="2721589"/>
              <a:ext cx="964909" cy="830997"/>
            </a:xfrm>
            <a:prstGeom prst="rect">
              <a:avLst/>
            </a:prstGeom>
            <a:noFill/>
          </p:spPr>
          <p:txBody>
            <a:bodyPr wrap="square" rtlCol="0">
              <a:spAutoFit/>
            </a:bodyPr>
            <a:lstStyle/>
            <a:p>
              <a:pPr lvl="0" algn="r">
                <a:defRPr/>
              </a:pPr>
              <a:r>
                <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文本框 8"/>
            <p:cNvSpPr txBox="1"/>
            <p:nvPr/>
          </p:nvSpPr>
          <p:spPr>
            <a:xfrm>
              <a:off x="4844568" y="3552586"/>
              <a:ext cx="964909" cy="830997"/>
            </a:xfrm>
            <a:prstGeom prst="rect">
              <a:avLst/>
            </a:prstGeom>
            <a:noFill/>
          </p:spPr>
          <p:txBody>
            <a:bodyPr wrap="square" rtlCol="0">
              <a:spAutoFit/>
            </a:bodyPr>
            <a:lstStyle/>
            <a:p>
              <a:pPr lvl="0" algn="r">
                <a:defRPr/>
              </a:pPr>
              <a:r>
                <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文本框 9"/>
            <p:cNvSpPr txBox="1"/>
            <p:nvPr/>
          </p:nvSpPr>
          <p:spPr>
            <a:xfrm>
              <a:off x="6177631" y="4069933"/>
              <a:ext cx="964909" cy="830997"/>
            </a:xfrm>
            <a:prstGeom prst="rect">
              <a:avLst/>
            </a:prstGeom>
            <a:noFill/>
          </p:spPr>
          <p:txBody>
            <a:bodyPr wrap="square" rtlCol="0">
              <a:spAutoFit/>
            </a:bodyPr>
            <a:lstStyle/>
            <a:p>
              <a:pPr lvl="0" algn="r">
                <a:defRPr/>
              </a:pPr>
              <a:r>
                <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bg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5" name="组合 14"/>
          <p:cNvGrpSpPr/>
          <p:nvPr/>
        </p:nvGrpSpPr>
        <p:grpSpPr>
          <a:xfrm>
            <a:off x="7603995" y="1619229"/>
            <a:ext cx="4381072" cy="984885"/>
            <a:chOff x="5698464" y="1968713"/>
            <a:chExt cx="4381072" cy="984885"/>
          </a:xfrm>
        </p:grpSpPr>
        <p:sp>
          <p:nvSpPr>
            <p:cNvPr id="16" name="文本框 15"/>
            <p:cNvSpPr txBox="1"/>
            <p:nvPr/>
          </p:nvSpPr>
          <p:spPr>
            <a:xfrm>
              <a:off x="5698464" y="1968713"/>
              <a:ext cx="1505783" cy="461665"/>
            </a:xfrm>
            <a:prstGeom prst="rect">
              <a:avLst/>
            </a:prstGeom>
            <a:noFill/>
          </p:spPr>
          <p:txBody>
            <a:bodyPr wrap="square" rtlCol="0">
              <a:spAutoFit/>
            </a:bodyPr>
            <a:lstStyle/>
            <a:p>
              <a:pPr lvl="0" algn="r">
                <a:defRPr/>
              </a:pPr>
              <a:r>
                <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7" name="文本框 16"/>
            <p:cNvSpPr txBox="1"/>
            <p:nvPr/>
          </p:nvSpPr>
          <p:spPr>
            <a:xfrm>
              <a:off x="5698464" y="2430378"/>
              <a:ext cx="4381072" cy="523220"/>
            </a:xfrm>
            <a:prstGeom prst="rect">
              <a:avLst/>
            </a:prstGeom>
            <a:noFill/>
          </p:spPr>
          <p:txBody>
            <a:bodyPr wrap="square" rtlCol="0">
              <a:spAutoFit/>
            </a:bodyPr>
            <a:lstStyle/>
            <a:p>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全会审议通过</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8" name="组合 17"/>
          <p:cNvGrpSpPr/>
          <p:nvPr/>
        </p:nvGrpSpPr>
        <p:grpSpPr>
          <a:xfrm>
            <a:off x="7450388" y="4578523"/>
            <a:ext cx="4381072" cy="1631216"/>
            <a:chOff x="5698464" y="1968713"/>
            <a:chExt cx="4381072" cy="1631216"/>
          </a:xfrm>
        </p:grpSpPr>
        <p:sp>
          <p:nvSpPr>
            <p:cNvPr id="19" name="文本框 18"/>
            <p:cNvSpPr txBox="1"/>
            <p:nvPr/>
          </p:nvSpPr>
          <p:spPr>
            <a:xfrm>
              <a:off x="5698464" y="1968713"/>
              <a:ext cx="1505783" cy="461665"/>
            </a:xfrm>
            <a:prstGeom prst="rect">
              <a:avLst/>
            </a:prstGeom>
            <a:noFill/>
          </p:spPr>
          <p:txBody>
            <a:bodyPr wrap="square" rtlCol="0">
              <a:spAutoFit/>
            </a:bodyPr>
            <a:lstStyle/>
            <a:p>
              <a:pPr lvl="0" algn="r">
                <a:defRPr/>
              </a:pPr>
              <a:r>
                <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0" name="文本框 19"/>
            <p:cNvSpPr txBox="1"/>
            <p:nvPr/>
          </p:nvSpPr>
          <p:spPr>
            <a:xfrm>
              <a:off x="5698464" y="2430378"/>
              <a:ext cx="4381072" cy="1169551"/>
            </a:xfrm>
            <a:prstGeom prst="rect">
              <a:avLst/>
            </a:prstGeom>
            <a:noFill/>
          </p:spPr>
          <p:txBody>
            <a:bodyPr wrap="square" rtlCol="0">
              <a:spAutoFit/>
            </a:bodyPr>
            <a:lstStyle/>
            <a:p>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出席这次全会的有，中央委员</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199</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人，候补中央委员</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165</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人。中央纪律检查委员会常务委员会委员和有关方面负责同志列席会议。党的二十大代表中部分基层同志和专家学者也列席了会议。</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21" name="组合 20"/>
          <p:cNvGrpSpPr/>
          <p:nvPr/>
        </p:nvGrpSpPr>
        <p:grpSpPr>
          <a:xfrm>
            <a:off x="383304" y="1606527"/>
            <a:ext cx="4381075" cy="1415772"/>
            <a:chOff x="5698464" y="1968713"/>
            <a:chExt cx="4381074" cy="1415772"/>
          </a:xfrm>
        </p:grpSpPr>
        <p:sp>
          <p:nvSpPr>
            <p:cNvPr id="22" name="文本框 21"/>
            <p:cNvSpPr txBox="1"/>
            <p:nvPr/>
          </p:nvSpPr>
          <p:spPr>
            <a:xfrm>
              <a:off x="8573755" y="1968713"/>
              <a:ext cx="1505783" cy="461665"/>
            </a:xfrm>
            <a:prstGeom prst="rect">
              <a:avLst/>
            </a:prstGeom>
            <a:noFill/>
          </p:spPr>
          <p:txBody>
            <a:bodyPr wrap="square" rtlCol="0">
              <a:spAutoFit/>
            </a:bodyPr>
            <a:lstStyle/>
            <a:p>
              <a:pPr lvl="0" algn="r">
                <a:defRPr/>
              </a:pPr>
              <a:r>
                <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3" name="文本框 22"/>
            <p:cNvSpPr txBox="1"/>
            <p:nvPr/>
          </p:nvSpPr>
          <p:spPr>
            <a:xfrm>
              <a:off x="5698464" y="2430378"/>
              <a:ext cx="4381071" cy="954107"/>
            </a:xfrm>
            <a:prstGeom prst="rect">
              <a:avLst/>
            </a:prstGeom>
            <a:noFill/>
          </p:spPr>
          <p:txBody>
            <a:bodyPr wrap="square" rtlCol="0">
              <a:spAutoFit/>
            </a:bodyPr>
            <a:lstStyle/>
            <a:p>
              <a:pPr algn="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18</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日，中国共产党第二十届中央委员会第三次全体会议通过</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中国共产党第二十届中央委员会第三次全体会议公报</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24" name="组合 23"/>
          <p:cNvGrpSpPr/>
          <p:nvPr/>
        </p:nvGrpSpPr>
        <p:grpSpPr>
          <a:xfrm>
            <a:off x="510012" y="4744586"/>
            <a:ext cx="4381075" cy="1200329"/>
            <a:chOff x="5698464" y="1968713"/>
            <a:chExt cx="4381074" cy="1200329"/>
          </a:xfrm>
        </p:grpSpPr>
        <p:sp>
          <p:nvSpPr>
            <p:cNvPr id="25" name="文本框 24"/>
            <p:cNvSpPr txBox="1"/>
            <p:nvPr/>
          </p:nvSpPr>
          <p:spPr>
            <a:xfrm>
              <a:off x="8573755" y="1968713"/>
              <a:ext cx="1505783" cy="461665"/>
            </a:xfrm>
            <a:prstGeom prst="rect">
              <a:avLst/>
            </a:prstGeom>
            <a:noFill/>
          </p:spPr>
          <p:txBody>
            <a:bodyPr wrap="square" rtlCol="0">
              <a:spAutoFit/>
            </a:bodyPr>
            <a:lstStyle/>
            <a:p>
              <a:pPr lvl="0" algn="r">
                <a:defRPr/>
              </a:pPr>
              <a:r>
                <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b="1" kern="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6" name="文本框 25"/>
            <p:cNvSpPr txBox="1"/>
            <p:nvPr/>
          </p:nvSpPr>
          <p:spPr>
            <a:xfrm>
              <a:off x="5698464" y="2430378"/>
              <a:ext cx="4381072" cy="738664"/>
            </a:xfrm>
            <a:prstGeom prst="rect">
              <a:avLst/>
            </a:prstGeom>
            <a:noFill/>
          </p:spPr>
          <p:txBody>
            <a:bodyPr wrap="square" rtlCol="0">
              <a:spAutoFit/>
            </a:bodyPr>
            <a:lstStyle/>
            <a:p>
              <a:pPr algn="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中国共产党第二十届中央委员会第三次全体会议，于</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2024</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7</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15</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日至</a:t>
              </a:r>
              <a:r>
                <a:rPr lang="en-US" altLang="zh-CN"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18</a:t>
              </a:r>
              <a:r>
                <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日在北京举行。</a:t>
              </a:r>
              <a:endParaRPr lang="zh-CN" altLang="en-US" sz="1400" spc="400"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p:tgtEl>
                                          <p:spTgt spid="15"/>
                                        </p:tgtEl>
                                        <p:attrNameLst>
                                          <p:attrName>ppt_x</p:attrName>
                                        </p:attrNameLst>
                                      </p:cBhvr>
                                      <p:tavLst>
                                        <p:tav tm="0">
                                          <p:val>
                                            <p:strVal val="#ppt_x-#ppt_w*1.125000"/>
                                          </p:val>
                                        </p:tav>
                                        <p:tav tm="100000">
                                          <p:val>
                                            <p:strVal val="#ppt_x"/>
                                          </p:val>
                                        </p:tav>
                                      </p:tavLst>
                                    </p:anim>
                                    <p:animEffect transition="in" filter="wipe(righ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p:tgtEl>
                                          <p:spTgt spid="18"/>
                                        </p:tgtEl>
                                        <p:attrNameLst>
                                          <p:attrName>ppt_x</p:attrName>
                                        </p:attrNameLst>
                                      </p:cBhvr>
                                      <p:tavLst>
                                        <p:tav tm="0">
                                          <p:val>
                                            <p:strVal val="#ppt_x-#ppt_w*1.125000"/>
                                          </p:val>
                                        </p:tav>
                                        <p:tav tm="100000">
                                          <p:val>
                                            <p:strVal val="#ppt_x"/>
                                          </p:val>
                                        </p:tav>
                                      </p:tavLst>
                                    </p:anim>
                                    <p:animEffect transition="in" filter="wipe(right)">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additive="base">
                                        <p:cTn id="38" dur="500"/>
                                        <p:tgtEl>
                                          <p:spTgt spid="21"/>
                                        </p:tgtEl>
                                        <p:attrNameLst>
                                          <p:attrName>ppt_x</p:attrName>
                                        </p:attrNameLst>
                                      </p:cBhvr>
                                      <p:tavLst>
                                        <p:tav tm="0">
                                          <p:val>
                                            <p:strVal val="#ppt_x-#ppt_w*1.125000"/>
                                          </p:val>
                                        </p:tav>
                                        <p:tav tm="100000">
                                          <p:val>
                                            <p:strVal val="#ppt_x"/>
                                          </p:val>
                                        </p:tav>
                                      </p:tavLst>
                                    </p:anim>
                                    <p:animEffect transition="in" filter="wipe(righ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500"/>
                                        <p:tgtEl>
                                          <p:spTgt spid="24"/>
                                        </p:tgtEl>
                                        <p:attrNameLst>
                                          <p:attrName>ppt_x</p:attrName>
                                        </p:attrNameLst>
                                      </p:cBhvr>
                                      <p:tavLst>
                                        <p:tav tm="0">
                                          <p:val>
                                            <p:strVal val="#ppt_x-#ppt_w*1.125000"/>
                                          </p:val>
                                        </p:tav>
                                        <p:tav tm="100000">
                                          <p:val>
                                            <p:strVal val="#ppt_x"/>
                                          </p:val>
                                        </p:tav>
                                      </p:tavLst>
                                    </p:anim>
                                    <p:animEffect transition="in" filter="wipe(right)">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红色精神的释义</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1081683" y="1916832"/>
            <a:ext cx="4787900" cy="1371600"/>
            <a:chOff x="1092200" y="1969406"/>
            <a:chExt cx="4787900" cy="1371600"/>
          </a:xfrm>
        </p:grpSpPr>
        <p:sp>
          <p:nvSpPr>
            <p:cNvPr id="3" name="矩形: 圆角 2"/>
            <p:cNvSpPr/>
            <p:nvPr/>
          </p:nvSpPr>
          <p:spPr>
            <a:xfrm>
              <a:off x="1092200" y="1969406"/>
              <a:ext cx="4787900" cy="1371600"/>
            </a:xfrm>
            <a:prstGeom prst="roundRect">
              <a:avLst>
                <a:gd name="adj" fmla="val 740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8" name="组合 7"/>
            <p:cNvGrpSpPr/>
            <p:nvPr/>
          </p:nvGrpSpPr>
          <p:grpSpPr>
            <a:xfrm>
              <a:off x="1162719" y="2163395"/>
              <a:ext cx="4635487" cy="935510"/>
              <a:chOff x="6130060" y="1859137"/>
              <a:chExt cx="4903345" cy="935510"/>
            </a:xfrm>
          </p:grpSpPr>
          <p:sp>
            <p:nvSpPr>
              <p:cNvPr id="9" name="文本框 8"/>
              <p:cNvSpPr txBox="1"/>
              <p:nvPr/>
            </p:nvSpPr>
            <p:spPr>
              <a:xfrm>
                <a:off x="6130060" y="1859137"/>
                <a:ext cx="1611086" cy="461665"/>
              </a:xfrm>
              <a:prstGeom prst="rect">
                <a:avLst/>
              </a:prstGeom>
              <a:noFill/>
            </p:spPr>
            <p:txBody>
              <a:bodyPr wrap="square" rtlCol="0">
                <a:spAutoFit/>
              </a:bodyPr>
              <a:lstStyle/>
              <a:p>
                <a:r>
                  <a:rPr lang="zh-CN" altLang="en-US"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文本框 9"/>
              <p:cNvSpPr txBox="1"/>
              <p:nvPr/>
            </p:nvSpPr>
            <p:spPr>
              <a:xfrm>
                <a:off x="6142091" y="2271427"/>
                <a:ext cx="4891314" cy="523220"/>
              </a:xfrm>
              <a:prstGeom prst="rect">
                <a:avLst/>
              </a:prstGeom>
              <a:noFill/>
            </p:spPr>
            <p:txBody>
              <a:bodyPr wrap="square" rtlCol="0">
                <a:spAutoFit/>
              </a:bodyPr>
              <a:lstStyle/>
              <a:p>
                <a:r>
                  <a:rPr lang="zh-CN" altLang="en-US" sz="1400" spc="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全会由中央政治局主持。中央委员会总书记习近平作了重要讲话。</a:t>
                </a:r>
                <a:endParaRPr lang="zh-CN" altLang="en-US" sz="1400" spc="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grpSp>
        <p:nvGrpSpPr>
          <p:cNvPr id="11" name="组合 10"/>
          <p:cNvGrpSpPr/>
          <p:nvPr/>
        </p:nvGrpSpPr>
        <p:grpSpPr>
          <a:xfrm>
            <a:off x="1056283" y="3783733"/>
            <a:ext cx="4787900" cy="1393055"/>
            <a:chOff x="1092200" y="1969406"/>
            <a:chExt cx="4787900" cy="1393055"/>
          </a:xfrm>
        </p:grpSpPr>
        <p:sp>
          <p:nvSpPr>
            <p:cNvPr id="12" name="矩形: 圆角 11"/>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3" name="组合 12"/>
            <p:cNvGrpSpPr/>
            <p:nvPr/>
          </p:nvGrpSpPr>
          <p:grpSpPr>
            <a:xfrm>
              <a:off x="1162719" y="2163395"/>
              <a:ext cx="4646863" cy="1199066"/>
              <a:chOff x="6130060" y="1859137"/>
              <a:chExt cx="4915378" cy="1199066"/>
            </a:xfrm>
          </p:grpSpPr>
          <p:sp>
            <p:nvSpPr>
              <p:cNvPr id="14" name="文本框 13"/>
              <p:cNvSpPr txBox="1"/>
              <p:nvPr/>
            </p:nvSpPr>
            <p:spPr>
              <a:xfrm>
                <a:off x="6130060" y="1859137"/>
                <a:ext cx="1611086" cy="461665"/>
              </a:xfrm>
              <a:prstGeom prst="rect">
                <a:avLst/>
              </a:prstGeom>
              <a:noFill/>
            </p:spPr>
            <p:txBody>
              <a:bodyPr wrap="square" rtlCol="0">
                <a:spAutoFit/>
              </a:bodyPr>
              <a:lstStyle/>
              <a:p>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5" name="文本框 14"/>
              <p:cNvSpPr txBox="1"/>
              <p:nvPr/>
            </p:nvSpPr>
            <p:spPr>
              <a:xfrm>
                <a:off x="6154124" y="2319539"/>
                <a:ext cx="4891314" cy="738664"/>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审议通过了</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中共中央关于进一步全面深化改革、推进中国式现代化的决定</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。习近平就</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决定（讨论稿）</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向全会作了说明。</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grpSp>
        <p:nvGrpSpPr>
          <p:cNvPr id="16" name="组合 15"/>
          <p:cNvGrpSpPr/>
          <p:nvPr/>
        </p:nvGrpSpPr>
        <p:grpSpPr>
          <a:xfrm>
            <a:off x="6406611" y="1916832"/>
            <a:ext cx="4787900" cy="1371600"/>
            <a:chOff x="1092200" y="1969406"/>
            <a:chExt cx="4787900" cy="1371600"/>
          </a:xfrm>
        </p:grpSpPr>
        <p:sp>
          <p:nvSpPr>
            <p:cNvPr id="17" name="矩形: 圆角 16"/>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18" name="组合 17"/>
            <p:cNvGrpSpPr/>
            <p:nvPr/>
          </p:nvGrpSpPr>
          <p:grpSpPr>
            <a:xfrm>
              <a:off x="1162719" y="2163395"/>
              <a:ext cx="4646863" cy="983622"/>
              <a:chOff x="6130060" y="1859137"/>
              <a:chExt cx="4915378" cy="983622"/>
            </a:xfrm>
          </p:grpSpPr>
          <p:sp>
            <p:nvSpPr>
              <p:cNvPr id="19" name="文本框 18"/>
              <p:cNvSpPr txBox="1"/>
              <p:nvPr/>
            </p:nvSpPr>
            <p:spPr>
              <a:xfrm>
                <a:off x="6130060" y="1859137"/>
                <a:ext cx="1611086" cy="461665"/>
              </a:xfrm>
              <a:prstGeom prst="rect">
                <a:avLst/>
              </a:prstGeom>
              <a:noFill/>
            </p:spPr>
            <p:txBody>
              <a:bodyPr wrap="square" rtlCol="0">
                <a:spAutoFit/>
              </a:bodyPr>
              <a:lstStyle/>
              <a:p>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0" name="文本框 19"/>
              <p:cNvSpPr txBox="1"/>
              <p:nvPr/>
            </p:nvSpPr>
            <p:spPr>
              <a:xfrm>
                <a:off x="6154124" y="2319539"/>
                <a:ext cx="4891314" cy="523220"/>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全会听取和讨论了习近平受中央政治局委托所作的工作报告，</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grpSp>
        <p:nvGrpSpPr>
          <p:cNvPr id="21" name="组合 20"/>
          <p:cNvGrpSpPr/>
          <p:nvPr/>
        </p:nvGrpSpPr>
        <p:grpSpPr>
          <a:xfrm>
            <a:off x="6453785" y="3783732"/>
            <a:ext cx="4787900" cy="1371600"/>
            <a:chOff x="1092200" y="1969406"/>
            <a:chExt cx="4787900" cy="1371600"/>
          </a:xfrm>
        </p:grpSpPr>
        <p:sp>
          <p:nvSpPr>
            <p:cNvPr id="22" name="矩形: 圆角 21"/>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nvGrpSpPr>
            <p:cNvPr id="23" name="组合 22"/>
            <p:cNvGrpSpPr/>
            <p:nvPr/>
          </p:nvGrpSpPr>
          <p:grpSpPr>
            <a:xfrm>
              <a:off x="1162719" y="2163395"/>
              <a:ext cx="4646863" cy="983622"/>
              <a:chOff x="6130060" y="1859137"/>
              <a:chExt cx="4915378" cy="983622"/>
            </a:xfrm>
          </p:grpSpPr>
          <p:sp>
            <p:nvSpPr>
              <p:cNvPr id="24" name="文本框 23"/>
              <p:cNvSpPr txBox="1"/>
              <p:nvPr/>
            </p:nvSpPr>
            <p:spPr>
              <a:xfrm>
                <a:off x="6130060" y="1859137"/>
                <a:ext cx="1611086" cy="461665"/>
              </a:xfrm>
              <a:prstGeom prst="rect">
                <a:avLst/>
              </a:prstGeom>
              <a:noFill/>
            </p:spPr>
            <p:txBody>
              <a:bodyPr wrap="square" rtlCol="0">
                <a:spAutoFit/>
              </a:bodyPr>
              <a:lstStyle/>
              <a:p>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精神释义</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25" name="文本框 24"/>
              <p:cNvSpPr txBox="1"/>
              <p:nvPr/>
            </p:nvSpPr>
            <p:spPr>
              <a:xfrm>
                <a:off x="6154124" y="2319539"/>
                <a:ext cx="4891314" cy="523220"/>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全会充分肯定党的二十届二中全会以来中央政治局的工作。</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fltVal val="0"/>
                                          </p:val>
                                        </p:tav>
                                        <p:tav tm="100000">
                                          <p:val>
                                            <p:strVal val="#ppt_h"/>
                                          </p:val>
                                        </p:tav>
                                      </p:tavLst>
                                    </p:anim>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p:cTn id="40" dur="500" fill="hold"/>
                                        <p:tgtEl>
                                          <p:spTgt spid="21"/>
                                        </p:tgtEl>
                                        <p:attrNameLst>
                                          <p:attrName>ppt_w</p:attrName>
                                        </p:attrNameLst>
                                      </p:cBhvr>
                                      <p:tavLst>
                                        <p:tav tm="0">
                                          <p:val>
                                            <p:fltVal val="0"/>
                                          </p:val>
                                        </p:tav>
                                        <p:tav tm="100000">
                                          <p:val>
                                            <p:strVal val="#ppt_w"/>
                                          </p:val>
                                        </p:tav>
                                      </p:tavLst>
                                    </p:anim>
                                    <p:anim calcmode="lin" valueType="num">
                                      <p:cBhvr>
                                        <p:cTn id="41" dur="500" fill="hold"/>
                                        <p:tgtEl>
                                          <p:spTgt spid="21"/>
                                        </p:tgtEl>
                                        <p:attrNameLst>
                                          <p:attrName>ppt_h</p:attrName>
                                        </p:attrNameLst>
                                      </p:cBhvr>
                                      <p:tavLst>
                                        <p:tav tm="0">
                                          <p:val>
                                            <p:fltVal val="0"/>
                                          </p:val>
                                        </p:tav>
                                        <p:tav tm="100000">
                                          <p:val>
                                            <p:strVal val="#ppt_h"/>
                                          </p:val>
                                        </p:tav>
                                      </p:tavLst>
                                    </p:anim>
                                    <p:animEffect transition="in" filter="fade">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3" name="文本框 2"/>
          <p:cNvSpPr txBox="1"/>
          <p:nvPr/>
        </p:nvSpPr>
        <p:spPr>
          <a:xfrm>
            <a:off x="4007767" y="1340768"/>
            <a:ext cx="4176464" cy="1107996"/>
          </a:xfrm>
          <a:prstGeom prst="rect">
            <a:avLst/>
          </a:prstGeom>
          <a:noFill/>
          <a:ln>
            <a:noFill/>
          </a:ln>
        </p:spPr>
        <p:txBody>
          <a:bodyPr wrap="square" rtlCol="0">
            <a:spAutoFit/>
          </a:bodyPr>
          <a:lstStyle/>
          <a:p>
            <a:pPr algn="dist"/>
            <a:r>
              <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第四部分</a:t>
            </a:r>
            <a:endParaRPr lang="zh-CN" altLang="en-US" sz="66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4" name="文本框 3"/>
          <p:cNvSpPr txBox="1"/>
          <p:nvPr/>
        </p:nvSpPr>
        <p:spPr>
          <a:xfrm>
            <a:off x="2267167" y="2684821"/>
            <a:ext cx="7776863" cy="1323439"/>
          </a:xfrm>
          <a:prstGeom prst="rect">
            <a:avLst/>
          </a:prstGeom>
          <a:noFill/>
          <a:ln>
            <a:noFill/>
          </a:ln>
        </p:spPr>
        <p:txBody>
          <a:bodyPr wrap="square" rtlCol="0">
            <a:spAutoFit/>
          </a:bodyPr>
          <a:lstStyle>
            <a:defPPr>
              <a:defRPr lang="zh-CN"/>
            </a:defPPr>
            <a:lvl1pPr algn="dist">
              <a:defRPr sz="66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sz="8000" dirty="0">
                <a:sym typeface="微软雅黑" panose="020B0503020204020204" pitchFamily="34" charset="-122"/>
              </a:rPr>
              <a:t>红色精神的传承</a:t>
            </a:r>
            <a:endParaRPr lang="zh-CN" altLang="en-US" sz="8000" dirty="0">
              <a:sym typeface="微软雅黑" panose="020B0503020204020204" pitchFamily="34" charset="-122"/>
            </a:endParaRPr>
          </a:p>
        </p:txBody>
      </p:sp>
      <p:sp>
        <p:nvSpPr>
          <p:cNvPr id="10" name="文本框 9"/>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2" name="图片 11"/>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694475" y="158062"/>
            <a:ext cx="4803048" cy="5336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04</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红色精神的传承</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84735" y="1983331"/>
            <a:ext cx="5099667" cy="33779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28" name="组合 27"/>
          <p:cNvGrpSpPr/>
          <p:nvPr/>
        </p:nvGrpSpPr>
        <p:grpSpPr>
          <a:xfrm>
            <a:off x="6159970" y="1606249"/>
            <a:ext cx="5117629" cy="1164495"/>
            <a:chOff x="6159971" y="1682200"/>
            <a:chExt cx="5117629" cy="1164495"/>
          </a:xfrm>
        </p:grpSpPr>
        <p:sp>
          <p:nvSpPr>
            <p:cNvPr id="29" name="文本框 28"/>
            <p:cNvSpPr txBox="1"/>
            <p:nvPr/>
          </p:nvSpPr>
          <p:spPr>
            <a:xfrm>
              <a:off x="6159971" y="2108031"/>
              <a:ext cx="5117629" cy="738664"/>
            </a:xfrm>
            <a:prstGeom prst="rect">
              <a:avLst/>
            </a:prstGeom>
            <a:noFill/>
          </p:spPr>
          <p:txBody>
            <a:bodyPr wrap="square">
              <a:spAutoFit/>
            </a:bodyPr>
            <a:lstStyle/>
            <a:p>
              <a:pPr marL="285750" indent="-285750">
                <a:buClr>
                  <a:srgbClr val="BD2B27"/>
                </a:buClr>
                <a:buFont typeface="Wingdings" panose="05000000000000000000" pitchFamily="2" charset="2"/>
                <a:buChar char="u"/>
              </a:pPr>
              <a:r>
                <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一致认为，面对严峻复杂的国际环境和艰巨繁重的国内改革发展稳定任务，中央政治局认真落实党的二十大和二十届一中、二中全会精神，</a:t>
              </a:r>
              <a:endPar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0" name="文本框 29"/>
            <p:cNvSpPr txBox="1"/>
            <p:nvPr/>
          </p:nvSpPr>
          <p:spPr>
            <a:xfrm>
              <a:off x="6159971" y="1682200"/>
              <a:ext cx="1713900" cy="461665"/>
            </a:xfrm>
            <a:prstGeom prst="rect">
              <a:avLst/>
            </a:prstGeom>
            <a:noFill/>
          </p:spPr>
          <p:txBody>
            <a:bodyPr wrap="squar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31" name="组合 30"/>
          <p:cNvGrpSpPr/>
          <p:nvPr/>
        </p:nvGrpSpPr>
        <p:grpSpPr>
          <a:xfrm>
            <a:off x="6159970" y="2953377"/>
            <a:ext cx="5117629" cy="1200329"/>
            <a:chOff x="6159971" y="2810860"/>
            <a:chExt cx="5117629" cy="1200329"/>
          </a:xfrm>
        </p:grpSpPr>
        <p:sp>
          <p:nvSpPr>
            <p:cNvPr id="32" name="文本框 31"/>
            <p:cNvSpPr txBox="1"/>
            <p:nvPr/>
          </p:nvSpPr>
          <p:spPr>
            <a:xfrm>
              <a:off x="6159971" y="3272525"/>
              <a:ext cx="5117629" cy="738664"/>
            </a:xfrm>
            <a:prstGeom prst="rect">
              <a:avLst/>
            </a:prstGeom>
            <a:noFill/>
          </p:spPr>
          <p:txBody>
            <a:bodyPr wrap="square">
              <a:spAutoFit/>
            </a:bodyPr>
            <a:lstStyle/>
            <a:p>
              <a:pPr marL="285750" indent="-285750">
                <a:buClr>
                  <a:srgbClr val="BD2B27"/>
                </a:buClr>
                <a:buFont typeface="Wingdings" panose="05000000000000000000" pitchFamily="2" charset="2"/>
                <a:buChar char="u"/>
              </a:pPr>
              <a:r>
                <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完整准确全面贯彻新发展理念，坚持稳中求进工作总基调，统筹推进“五位一体”总体布局、协调推进“四个全面”战略布局，</a:t>
              </a:r>
              <a:endPar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3" name="文本框 32"/>
            <p:cNvSpPr txBox="1"/>
            <p:nvPr/>
          </p:nvSpPr>
          <p:spPr>
            <a:xfrm>
              <a:off x="6208252" y="2810860"/>
              <a:ext cx="1713900" cy="461665"/>
            </a:xfrm>
            <a:prstGeom prst="rect">
              <a:avLst/>
            </a:prstGeom>
            <a:noFill/>
          </p:spPr>
          <p:txBody>
            <a:bodyPr wrap="squar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34" name="组合 33"/>
          <p:cNvGrpSpPr/>
          <p:nvPr/>
        </p:nvGrpSpPr>
        <p:grpSpPr>
          <a:xfrm>
            <a:off x="6159970" y="4336342"/>
            <a:ext cx="5117629" cy="1395327"/>
            <a:chOff x="6159971" y="3995800"/>
            <a:chExt cx="5117629" cy="1395327"/>
          </a:xfrm>
        </p:grpSpPr>
        <p:sp>
          <p:nvSpPr>
            <p:cNvPr id="35" name="文本框 34"/>
            <p:cNvSpPr txBox="1"/>
            <p:nvPr/>
          </p:nvSpPr>
          <p:spPr>
            <a:xfrm>
              <a:off x="6159971" y="4437020"/>
              <a:ext cx="5117629" cy="954107"/>
            </a:xfrm>
            <a:prstGeom prst="rect">
              <a:avLst/>
            </a:prstGeom>
            <a:noFill/>
          </p:spPr>
          <p:txBody>
            <a:bodyPr wrap="square">
              <a:spAutoFit/>
            </a:bodyPr>
            <a:lstStyle/>
            <a:p>
              <a:pPr marL="285750" indent="-285750">
                <a:buClr>
                  <a:srgbClr val="BD2B27"/>
                </a:buClr>
                <a:buFont typeface="Wingdings" panose="05000000000000000000" pitchFamily="2" charset="2"/>
                <a:buChar char="u"/>
              </a:pPr>
              <a:r>
                <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统筹国内国际两个大局，统筹发展和安全，着力推动高质量发展，进一步推动和谋划全面深化改革，扎实推进社会主义民主法治建设，不断加强宣传思想文化工作，</a:t>
              </a:r>
              <a:endParaRPr lang="zh-CN" altLang="en-US" sz="1400" spc="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6" name="文本框 35"/>
            <p:cNvSpPr txBox="1"/>
            <p:nvPr/>
          </p:nvSpPr>
          <p:spPr>
            <a:xfrm>
              <a:off x="6177934" y="3995800"/>
              <a:ext cx="1713900" cy="461665"/>
            </a:xfrm>
            <a:prstGeom prst="rect">
              <a:avLst/>
            </a:prstGeom>
            <a:noFill/>
          </p:spPr>
          <p:txBody>
            <a:bodyPr wrap="squar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sz="2400" b="1" dirty="0">
                <a:solidFill>
                  <a:srgbClr val="C00000"/>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Effect transition="in" filter="fade">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randombar(horizontal)">
                                      <p:cBhvr>
                                        <p:cTn id="26" dur="500"/>
                                        <p:tgtEl>
                                          <p:spTgt spid="31"/>
                                        </p:tgtEl>
                                      </p:cBhvr>
                                    </p:animEffect>
                                  </p:childTnLst>
                                </p:cTn>
                              </p:par>
                              <p:par>
                                <p:cTn id="27" presetID="14" presetClass="entr" presetSubtype="1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randombar(horizontal)">
                                      <p:cBhvr>
                                        <p:cTn id="29" dur="500"/>
                                        <p:tgtEl>
                                          <p:spTgt spid="34"/>
                                        </p:tgtEl>
                                      </p:cBhvr>
                                    </p:animEffect>
                                  </p:childTnLst>
                                </p:cTn>
                              </p:par>
                              <p:par>
                                <p:cTn id="30" presetID="14" presetClass="entr" presetSubtype="1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randombar(horizontal)">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04</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红色精神的传承</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1377462" y="1725263"/>
            <a:ext cx="9437079" cy="2506493"/>
          </a:xfrm>
          <a:prstGeom prst="rect">
            <a:avLst/>
          </a:prstGeom>
          <a:solidFill>
            <a:schemeClr val="bg1">
              <a:lumMod val="95000"/>
              <a:alpha val="80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3" name="Rectangle 11"/>
          <p:cNvSpPr>
            <a:spLocks noChangeArrowheads="1"/>
          </p:cNvSpPr>
          <p:nvPr/>
        </p:nvSpPr>
        <p:spPr bwMode="auto">
          <a:xfrm>
            <a:off x="4107701" y="1935422"/>
            <a:ext cx="3976595" cy="565924"/>
          </a:xfrm>
          <a:prstGeom prst="roundRect">
            <a:avLst>
              <a:gd name="adj" fmla="val 45512"/>
            </a:avLst>
          </a:prstGeom>
          <a:gradFill>
            <a:gsLst>
              <a:gs pos="0">
                <a:srgbClr val="C30F0F">
                  <a:lumMod val="90000"/>
                  <a:lumOff val="10000"/>
                </a:srgbClr>
              </a:gs>
              <a:gs pos="45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8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红色精神传承</a:t>
            </a:r>
            <a:endParaRPr lang="zh-CN" altLang="en-US" sz="2800" dirty="0">
              <a:ln w="19050">
                <a:noFill/>
              </a:ln>
              <a:gradFill>
                <a:gsLst>
                  <a:gs pos="100000">
                    <a:srgbClr val="E9BE61"/>
                  </a:gs>
                  <a:gs pos="49000">
                    <a:srgbClr val="FEEFAC"/>
                  </a:gs>
                </a:gsLst>
                <a:lin ang="5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8" name="矩形 7"/>
          <p:cNvSpPr/>
          <p:nvPr/>
        </p:nvSpPr>
        <p:spPr>
          <a:xfrm>
            <a:off x="2010876" y="2647540"/>
            <a:ext cx="8170245" cy="1384995"/>
          </a:xfrm>
          <a:prstGeom prst="rect">
            <a:avLst/>
          </a:prstGeom>
        </p:spPr>
        <p:txBody>
          <a:bodyPr wrap="square">
            <a:spAutoFit/>
          </a:bodyPr>
          <a:lstStyle/>
          <a:p>
            <a:pPr lvl="0" algn="ctr">
              <a:lnSpc>
                <a:spcPct val="200000"/>
              </a:lnSpc>
              <a:buClr>
                <a:schemeClr val="accent1"/>
              </a:buCl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切实抓好民生保障和生态环境保护，坚决维护国家安全和社会稳定，有力推进国防和军队建设，继续推进港澳工作和对台工作，深入推进中国特色大国外交，一以贯之推进全面从严治党，实现经济回升向好，全面建设社会主义现代化国家迈出坚实步伐。</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9" name="椭圆 8"/>
          <p:cNvSpPr/>
          <p:nvPr/>
        </p:nvSpPr>
        <p:spPr>
          <a:xfrm>
            <a:off x="1904997" y="4524140"/>
            <a:ext cx="944507" cy="944506"/>
          </a:xfrm>
          <a:prstGeom prst="ellipse">
            <a:avLst/>
          </a:prstGeom>
          <a:gradFill>
            <a:gsLst>
              <a:gs pos="0">
                <a:srgbClr val="C30F0F">
                  <a:lumMod val="90000"/>
                  <a:lumOff val="10000"/>
                </a:srgbClr>
              </a:gs>
              <a:gs pos="6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0" name="文本框 9"/>
          <p:cNvSpPr txBox="1"/>
          <p:nvPr/>
        </p:nvSpPr>
        <p:spPr>
          <a:xfrm>
            <a:off x="1680881" y="4611675"/>
            <a:ext cx="1392743" cy="769441"/>
          </a:xfrm>
          <a:prstGeom prst="rect">
            <a:avLst/>
          </a:prstGeom>
          <a:noFill/>
          <a:ln>
            <a:noFill/>
          </a:ln>
          <a:effectLst/>
        </p:spPr>
        <p:txBody>
          <a:bodyPr wrap="square" rtlCol="0">
            <a:spAutoFit/>
          </a:bodyPr>
          <a:lstStyle>
            <a:defPPr>
              <a:defRPr lang="zh-CN"/>
            </a:defPPr>
            <a:lvl1pPr algn="ctr">
              <a:defRPr sz="6600" i="1" spc="-300">
                <a:ln w="19050">
                  <a:noFill/>
                </a:ln>
                <a:gradFill>
                  <a:gsLst>
                    <a:gs pos="100000">
                      <a:srgbClr val="E9BE61"/>
                    </a:gs>
                    <a:gs pos="49000">
                      <a:srgbClr val="FEEFAC"/>
                    </a:gs>
                  </a:gsLst>
                  <a:lin ang="5400000" scaled="0"/>
                </a:gradFill>
                <a:effectLst>
                  <a:outerShdw blurRad="254000" dist="114300" dir="5400000" algn="ctr" rotWithShape="0">
                    <a:srgbClr val="000000">
                      <a:alpha val="23000"/>
                    </a:srgbClr>
                  </a:outerShdw>
                </a:effectLst>
                <a:latin typeface="字魂143号-正酷超级黑" panose="00000500000000000000" pitchFamily="2" charset="-122"/>
                <a:ea typeface="字魂143号-正酷超级黑" panose="00000500000000000000" pitchFamily="2" charset="-122"/>
              </a:defRPr>
            </a:lvl1pPr>
          </a:lstStyle>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努力</a:t>
            </a:r>
            <a:endParaRPr lang="en-US" altLang="zh-CN"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改进</a:t>
            </a:r>
            <a:endPar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椭圆 10"/>
          <p:cNvSpPr/>
          <p:nvPr/>
        </p:nvSpPr>
        <p:spPr>
          <a:xfrm>
            <a:off x="9342493" y="4524140"/>
            <a:ext cx="944507" cy="944506"/>
          </a:xfrm>
          <a:prstGeom prst="ellipse">
            <a:avLst/>
          </a:prstGeom>
          <a:gradFill>
            <a:gsLst>
              <a:gs pos="0">
                <a:srgbClr val="C30F0F">
                  <a:lumMod val="90000"/>
                  <a:lumOff val="10000"/>
                </a:srgbClr>
              </a:gs>
              <a:gs pos="6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2" name="文本框 11"/>
          <p:cNvSpPr txBox="1"/>
          <p:nvPr/>
        </p:nvSpPr>
        <p:spPr>
          <a:xfrm>
            <a:off x="9118378" y="4611675"/>
            <a:ext cx="1392743" cy="769441"/>
          </a:xfrm>
          <a:prstGeom prst="rect">
            <a:avLst/>
          </a:prstGeom>
          <a:noFill/>
          <a:ln>
            <a:noFill/>
          </a:ln>
          <a:effectLst/>
        </p:spPr>
        <p:txBody>
          <a:bodyPr wrap="square" rtlCol="0">
            <a:spAutoFit/>
          </a:bodyPr>
          <a:lstStyle>
            <a:defPPr>
              <a:defRPr lang="zh-CN"/>
            </a:defPPr>
            <a:lvl1pPr algn="ctr">
              <a:defRPr sz="6600" i="1" spc="-300">
                <a:ln w="19050">
                  <a:noFill/>
                </a:ln>
                <a:gradFill>
                  <a:gsLst>
                    <a:gs pos="100000">
                      <a:srgbClr val="E9BE61"/>
                    </a:gs>
                    <a:gs pos="49000">
                      <a:srgbClr val="FEEFAC"/>
                    </a:gs>
                  </a:gsLst>
                  <a:lin ang="5400000" scaled="0"/>
                </a:gradFill>
                <a:effectLst>
                  <a:outerShdw blurRad="254000" dist="114300" dir="5400000" algn="ctr" rotWithShape="0">
                    <a:srgbClr val="000000">
                      <a:alpha val="23000"/>
                    </a:srgbClr>
                  </a:outerShdw>
                </a:effectLst>
                <a:latin typeface="字魂143号-正酷超级黑" panose="00000500000000000000" pitchFamily="2" charset="-122"/>
                <a:ea typeface="字魂143号-正酷超级黑" panose="00000500000000000000" pitchFamily="2" charset="-122"/>
              </a:defRPr>
            </a:lvl1pPr>
          </a:lstStyle>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指导</a:t>
            </a:r>
            <a:endParaRPr lang="en-US" altLang="zh-CN"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帮助</a:t>
            </a:r>
            <a:endPar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3" name="椭圆 12"/>
          <p:cNvSpPr/>
          <p:nvPr/>
        </p:nvSpPr>
        <p:spPr>
          <a:xfrm>
            <a:off x="6858501" y="4524140"/>
            <a:ext cx="944507" cy="944506"/>
          </a:xfrm>
          <a:prstGeom prst="ellipse">
            <a:avLst/>
          </a:prstGeom>
          <a:gradFill>
            <a:gsLst>
              <a:gs pos="0">
                <a:srgbClr val="C30F0F">
                  <a:lumMod val="90000"/>
                  <a:lumOff val="10000"/>
                </a:srgbClr>
              </a:gs>
              <a:gs pos="6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4" name="文本框 13"/>
          <p:cNvSpPr txBox="1"/>
          <p:nvPr/>
        </p:nvSpPr>
        <p:spPr>
          <a:xfrm>
            <a:off x="6634383" y="4673230"/>
            <a:ext cx="1392743" cy="646331"/>
          </a:xfrm>
          <a:prstGeom prst="rect">
            <a:avLst/>
          </a:prstGeom>
          <a:noFill/>
          <a:ln>
            <a:noFill/>
          </a:ln>
          <a:effectLst/>
        </p:spPr>
        <p:txBody>
          <a:bodyPr wrap="square" rtlCol="0">
            <a:spAutoFit/>
          </a:bodyPr>
          <a:lstStyle>
            <a:defPPr>
              <a:defRPr lang="zh-CN"/>
            </a:defPPr>
            <a:lvl1pPr algn="ctr">
              <a:defRPr sz="6600" i="1" spc="-300">
                <a:ln w="19050">
                  <a:noFill/>
                </a:ln>
                <a:gradFill>
                  <a:gsLst>
                    <a:gs pos="100000">
                      <a:srgbClr val="E9BE61"/>
                    </a:gs>
                    <a:gs pos="49000">
                      <a:srgbClr val="FEEFAC"/>
                    </a:gs>
                  </a:gsLst>
                  <a:lin ang="5400000" scaled="0"/>
                </a:gradFill>
                <a:effectLst>
                  <a:outerShdw blurRad="254000" dist="114300" dir="5400000" algn="ctr" rotWithShape="0">
                    <a:srgbClr val="000000">
                      <a:alpha val="23000"/>
                    </a:srgbClr>
                  </a:outerShdw>
                </a:effectLst>
                <a:latin typeface="字魂143号-正酷超级黑" panose="00000500000000000000" pitchFamily="2" charset="-122"/>
                <a:ea typeface="字魂143号-正酷超级黑" panose="00000500000000000000" pitchFamily="2" charset="-122"/>
              </a:defRPr>
            </a:lvl1pPr>
          </a:lstStyle>
          <a:p>
            <a:r>
              <a:rPr lang="zh-CN" altLang="en-US" sz="18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发挥专</a:t>
            </a:r>
            <a:endParaRPr lang="en-US" altLang="zh-CN" sz="18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a:p>
            <a:r>
              <a:rPr lang="zh-CN" altLang="en-US" sz="18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业特长</a:t>
            </a:r>
            <a:endParaRPr lang="zh-CN" altLang="en-US" sz="18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5" name="椭圆 14"/>
          <p:cNvSpPr/>
          <p:nvPr/>
        </p:nvSpPr>
        <p:spPr>
          <a:xfrm>
            <a:off x="4388991" y="4524140"/>
            <a:ext cx="944507" cy="944506"/>
          </a:xfrm>
          <a:prstGeom prst="ellipse">
            <a:avLst/>
          </a:prstGeom>
          <a:gradFill>
            <a:gsLst>
              <a:gs pos="0">
                <a:srgbClr val="C30F0F">
                  <a:lumMod val="90000"/>
                  <a:lumOff val="10000"/>
                </a:srgbClr>
              </a:gs>
              <a:gs pos="6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6" name="文本框 15"/>
          <p:cNvSpPr txBox="1"/>
          <p:nvPr/>
        </p:nvSpPr>
        <p:spPr>
          <a:xfrm>
            <a:off x="4164874" y="4611675"/>
            <a:ext cx="1392743" cy="769441"/>
          </a:xfrm>
          <a:prstGeom prst="rect">
            <a:avLst/>
          </a:prstGeom>
          <a:noFill/>
          <a:ln>
            <a:noFill/>
          </a:ln>
          <a:effectLst/>
        </p:spPr>
        <p:txBody>
          <a:bodyPr wrap="square" rtlCol="0">
            <a:spAutoFit/>
          </a:bodyPr>
          <a:lstStyle>
            <a:defPPr>
              <a:defRPr lang="zh-CN"/>
            </a:defPPr>
            <a:lvl1pPr algn="ctr">
              <a:defRPr sz="6600" i="1" spc="-300">
                <a:ln w="19050">
                  <a:noFill/>
                </a:ln>
                <a:gradFill>
                  <a:gsLst>
                    <a:gs pos="100000">
                      <a:srgbClr val="E9BE61"/>
                    </a:gs>
                    <a:gs pos="49000">
                      <a:srgbClr val="FEEFAC"/>
                    </a:gs>
                  </a:gsLst>
                  <a:lin ang="5400000" scaled="0"/>
                </a:gradFill>
                <a:effectLst>
                  <a:outerShdw blurRad="254000" dist="114300" dir="5400000" algn="ctr" rotWithShape="0">
                    <a:srgbClr val="000000">
                      <a:alpha val="23000"/>
                    </a:srgbClr>
                  </a:outerShdw>
                </a:effectLst>
                <a:latin typeface="字魂143号-正酷超级黑" panose="00000500000000000000" pitchFamily="2" charset="-122"/>
                <a:ea typeface="字魂143号-正酷超级黑" panose="00000500000000000000" pitchFamily="2" charset="-122"/>
              </a:defRPr>
            </a:lvl1pPr>
          </a:lstStyle>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踏实</a:t>
            </a:r>
            <a:endParaRPr lang="en-US" altLang="zh-CN"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a:p>
            <a:r>
              <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肯干</a:t>
            </a:r>
            <a:endParaRPr lang="zh-CN" altLang="en-US" sz="2200" i="0" spc="0" dirty="0">
              <a:effectLst/>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outVertical)">
                                      <p:cBhvr>
                                        <p:cTn id="19" dur="500"/>
                                        <p:tgtEl>
                                          <p:spTgt spid="2"/>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P spid="8" grpId="0"/>
      <p:bldP spid="9" grpId="0" animBg="1"/>
      <p:bldP spid="10" grpId="0"/>
      <p:bldP spid="11" grpId="0" animBg="1"/>
      <p:bldP spid="12" grpId="0"/>
      <p:bldP spid="13" grpId="0" animBg="1"/>
      <p:bldP spid="14" grpId="0"/>
      <p:bldP spid="15" grpId="0" animBg="1"/>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27759" y="301880"/>
            <a:ext cx="1147764" cy="584775"/>
            <a:chOff x="528636" y="686484"/>
            <a:chExt cx="1147764" cy="584775"/>
          </a:xfrm>
        </p:grpSpPr>
        <p:sp>
          <p:nvSpPr>
            <p:cNvPr id="5" name="矩形 4"/>
            <p:cNvSpPr/>
            <p:nvPr/>
          </p:nvSpPr>
          <p:spPr>
            <a:xfrm>
              <a:off x="528636" y="774700"/>
              <a:ext cx="1147764" cy="469900"/>
            </a:xfrm>
            <a:prstGeom prst="rect">
              <a:avLst/>
            </a:prstGeom>
            <a:gradFill>
              <a:gsLst>
                <a:gs pos="63000">
                  <a:srgbClr val="F70001"/>
                </a:gs>
                <a:gs pos="14000">
                  <a:srgbClr val="FE5E5E"/>
                </a:gs>
                <a:gs pos="94000">
                  <a:srgbClr val="CE0203"/>
                </a:gs>
              </a:gsLst>
              <a:lin ang="2700000" scaled="1"/>
            </a:gradFill>
            <a:ln>
              <a:no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708819" y="686484"/>
              <a:ext cx="7874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04</a:t>
              </a:r>
              <a:endParaRPr lang="zh-CN" altLang="en-US" sz="3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文本框 6"/>
          <p:cNvSpPr txBox="1"/>
          <p:nvPr/>
        </p:nvSpPr>
        <p:spPr>
          <a:xfrm>
            <a:off x="1775523" y="416352"/>
            <a:ext cx="3168352" cy="523220"/>
          </a:xfrm>
          <a:prstGeom prst="rect">
            <a:avLst/>
          </a:prstGeom>
          <a:noFill/>
        </p:spPr>
        <p:txBody>
          <a:bodyPr wrap="square" rtlCol="0">
            <a:spAutoFit/>
          </a:bodyPr>
          <a:lstStyle/>
          <a:p>
            <a:pPr algn="dist"/>
            <a:r>
              <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rPr>
              <a:t>红色精神的传承</a:t>
            </a:r>
            <a:endParaRPr lang="zh-CN" altLang="en-US" sz="2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1496219" y="1969478"/>
            <a:ext cx="2255167" cy="584775"/>
            <a:chOff x="1496218" y="1969477"/>
            <a:chExt cx="2255167" cy="584775"/>
          </a:xfrm>
        </p:grpSpPr>
        <p:sp>
          <p:nvSpPr>
            <p:cNvPr id="3" name="矩形 2"/>
            <p:cNvSpPr/>
            <p:nvPr/>
          </p:nvSpPr>
          <p:spPr>
            <a:xfrm>
              <a:off x="1496218" y="1969477"/>
              <a:ext cx="2255167" cy="584775"/>
            </a:xfrm>
            <a:prstGeom prst="rect">
              <a:avLst/>
            </a:prstGeom>
            <a:solidFill>
              <a:srgbClr val="BD2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8" name="文本框 7"/>
            <p:cNvSpPr txBox="1"/>
            <p:nvPr/>
          </p:nvSpPr>
          <p:spPr>
            <a:xfrm>
              <a:off x="1697677" y="2031032"/>
              <a:ext cx="1852248" cy="461665"/>
            </a:xfrm>
            <a:prstGeom prst="rect">
              <a:avLst/>
            </a:prstGeom>
            <a:noFill/>
          </p:spPr>
          <p:txBody>
            <a:bodyPr wrap="square" rtlCol="0">
              <a:spAutoFit/>
            </a:bodyPr>
            <a:lstStyle>
              <a:defPPr>
                <a:defRPr lang="zh-CN"/>
              </a:defPPr>
              <a:lvl1pPr algn="ctr">
                <a:defRPr sz="240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defRPr>
              </a:lvl1pPr>
            </a:lstStyle>
            <a:p>
              <a:pPr algn="dist"/>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9" name="组合 8"/>
          <p:cNvGrpSpPr/>
          <p:nvPr/>
        </p:nvGrpSpPr>
        <p:grpSpPr>
          <a:xfrm>
            <a:off x="1496219" y="3354065"/>
            <a:ext cx="2255167" cy="584775"/>
            <a:chOff x="1496218" y="3354064"/>
            <a:chExt cx="2255167" cy="584775"/>
          </a:xfrm>
        </p:grpSpPr>
        <p:sp>
          <p:nvSpPr>
            <p:cNvPr id="10" name="矩形 9"/>
            <p:cNvSpPr/>
            <p:nvPr/>
          </p:nvSpPr>
          <p:spPr>
            <a:xfrm>
              <a:off x="1496218" y="3354064"/>
              <a:ext cx="2255167" cy="584775"/>
            </a:xfrm>
            <a:prstGeom prst="rect">
              <a:avLst/>
            </a:prstGeom>
            <a:solidFill>
              <a:srgbClr val="BD2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1" name="文本框 10"/>
            <p:cNvSpPr txBox="1"/>
            <p:nvPr/>
          </p:nvSpPr>
          <p:spPr>
            <a:xfrm>
              <a:off x="1697677" y="3415619"/>
              <a:ext cx="1852248" cy="461665"/>
            </a:xfrm>
            <a:prstGeom prst="rect">
              <a:avLst/>
            </a:prstGeom>
            <a:noFill/>
          </p:spPr>
          <p:txBody>
            <a:bodyPr wrap="square" rtlCol="0">
              <a:spAutoFit/>
            </a:bodyPr>
            <a:lstStyle>
              <a:defPPr>
                <a:defRPr lang="zh-CN"/>
              </a:defPPr>
              <a:lvl1pPr algn="ctr">
                <a:defRPr sz="240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defRPr>
              </a:lvl1pPr>
            </a:lstStyle>
            <a:p>
              <a:pPr algn="dist"/>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grpSp>
        <p:nvGrpSpPr>
          <p:cNvPr id="12" name="组合 11"/>
          <p:cNvGrpSpPr/>
          <p:nvPr/>
        </p:nvGrpSpPr>
        <p:grpSpPr>
          <a:xfrm>
            <a:off x="1496219" y="4738653"/>
            <a:ext cx="2255167" cy="584775"/>
            <a:chOff x="1496218" y="4738652"/>
            <a:chExt cx="2255167" cy="584775"/>
          </a:xfrm>
        </p:grpSpPr>
        <p:sp>
          <p:nvSpPr>
            <p:cNvPr id="13" name="矩形 12"/>
            <p:cNvSpPr/>
            <p:nvPr/>
          </p:nvSpPr>
          <p:spPr>
            <a:xfrm>
              <a:off x="1496218" y="4738652"/>
              <a:ext cx="2255167" cy="584775"/>
            </a:xfrm>
            <a:prstGeom prst="rect">
              <a:avLst/>
            </a:prstGeom>
            <a:solidFill>
              <a:srgbClr val="BD2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4" name="文本框 13"/>
            <p:cNvSpPr txBox="1"/>
            <p:nvPr/>
          </p:nvSpPr>
          <p:spPr>
            <a:xfrm>
              <a:off x="1697677" y="4800207"/>
              <a:ext cx="1852248" cy="461665"/>
            </a:xfrm>
            <a:prstGeom prst="rect">
              <a:avLst/>
            </a:prstGeom>
            <a:noFill/>
          </p:spPr>
          <p:txBody>
            <a:bodyPr wrap="square" rtlCol="0">
              <a:spAutoFit/>
            </a:bodyPr>
            <a:lstStyle>
              <a:defPPr>
                <a:defRPr lang="zh-CN"/>
              </a:defPPr>
              <a:lvl1pPr algn="ctr">
                <a:defRPr sz="240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defRPr>
              </a:lvl1pPr>
            </a:lstStyle>
            <a:p>
              <a:pPr algn="dist"/>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精神传承</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grpSp>
      <p:sp>
        <p:nvSpPr>
          <p:cNvPr id="15" name="文本框 14"/>
          <p:cNvSpPr txBox="1"/>
          <p:nvPr/>
        </p:nvSpPr>
        <p:spPr>
          <a:xfrm>
            <a:off x="3952845" y="1810601"/>
            <a:ext cx="7242695" cy="1384995"/>
          </a:xfrm>
          <a:prstGeom prst="rect">
            <a:avLst/>
          </a:prstGeom>
          <a:noFill/>
        </p:spPr>
        <p:txBody>
          <a:bodyPr wrap="square" rtlCol="0">
            <a:spAutoFit/>
          </a:bodyPr>
          <a:lstStyle>
            <a:defPPr>
              <a:defRPr lang="zh-CN"/>
            </a:defPPr>
            <a:lvl1pPr>
              <a:defRPr sz="1400" spc="400">
                <a:solidFill>
                  <a:schemeClr val="tx1">
                    <a:lumMod val="85000"/>
                    <a:lumOff val="15000"/>
                  </a:schemeClr>
                </a:solidFill>
                <a:latin typeface="字魂58号-创中黑" panose="00000500000000000000" pitchFamily="2" charset="-122"/>
                <a:ea typeface="字魂58号-创中黑" panose="00000500000000000000" pitchFamily="2" charset="-122"/>
                <a:cs typeface="+mn-ea"/>
              </a:defRPr>
            </a:lvl1pPr>
          </a:lstStyle>
          <a:p>
            <a:pPr>
              <a:lnSpc>
                <a:spcPct val="150000"/>
              </a:lnSpc>
            </a:pPr>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全会高度评价新时代以来全面深化改革的成功实践和伟大成就，研究了进一步全面深化改革、推进中国式现代化问题，认为当前和今后一个时期是以中国式现代化全面推进强国建设、民族复兴伟业的关键时期。</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6" name="文本框 15"/>
          <p:cNvSpPr txBox="1"/>
          <p:nvPr/>
        </p:nvSpPr>
        <p:spPr>
          <a:xfrm>
            <a:off x="3952845" y="3275262"/>
            <a:ext cx="7242695" cy="738664"/>
          </a:xfrm>
          <a:prstGeom prst="rect">
            <a:avLst/>
          </a:prstGeom>
          <a:noFill/>
        </p:spPr>
        <p:txBody>
          <a:bodyPr wrap="square" rtlCol="0">
            <a:spAutoFit/>
          </a:bodyPr>
          <a:lstStyle>
            <a:defPPr>
              <a:defRPr lang="zh-CN"/>
            </a:defPPr>
            <a:lvl1pPr>
              <a:defRPr sz="1400" spc="400">
                <a:solidFill>
                  <a:schemeClr val="tx1">
                    <a:lumMod val="85000"/>
                    <a:lumOff val="15000"/>
                  </a:schemeClr>
                </a:solidFill>
                <a:latin typeface="字魂58号-创中黑" panose="00000500000000000000" pitchFamily="2" charset="-122"/>
                <a:ea typeface="字魂58号-创中黑" panose="00000500000000000000" pitchFamily="2" charset="-122"/>
                <a:cs typeface="+mn-ea"/>
              </a:defRPr>
            </a:lvl1pPr>
          </a:lstStyle>
          <a:p>
            <a:pPr>
              <a:lnSpc>
                <a:spcPct val="150000"/>
              </a:lnSpc>
            </a:pPr>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中国式现代化是在改革开放中不断推进的，也必将在改革开放中开辟广阔前景。面对纷繁复杂的国际国内形势，</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7" name="文本框 16"/>
          <p:cNvSpPr txBox="1"/>
          <p:nvPr/>
        </p:nvSpPr>
        <p:spPr>
          <a:xfrm>
            <a:off x="3952845" y="4513591"/>
            <a:ext cx="7242695" cy="1061829"/>
          </a:xfrm>
          <a:prstGeom prst="rect">
            <a:avLst/>
          </a:prstGeom>
          <a:noFill/>
        </p:spPr>
        <p:txBody>
          <a:bodyPr wrap="square" rtlCol="0">
            <a:spAutoFit/>
          </a:bodyPr>
          <a:lstStyle>
            <a:defPPr>
              <a:defRPr lang="zh-CN"/>
            </a:defPPr>
            <a:lvl1pPr>
              <a:defRPr sz="1400" spc="400">
                <a:solidFill>
                  <a:schemeClr val="tx1">
                    <a:lumMod val="85000"/>
                    <a:lumOff val="15000"/>
                  </a:schemeClr>
                </a:solidFill>
                <a:latin typeface="字魂58号-创中黑" panose="00000500000000000000" pitchFamily="2" charset="-122"/>
                <a:ea typeface="字魂58号-创中黑" panose="00000500000000000000" pitchFamily="2" charset="-122"/>
                <a:cs typeface="+mn-ea"/>
              </a:defRPr>
            </a:lvl1pPr>
          </a:lstStyle>
          <a:p>
            <a:pPr>
              <a:lnSpc>
                <a:spcPct val="150000"/>
              </a:lnSpc>
            </a:pPr>
            <a:r>
              <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面对新一轮科技革命和产业变革，面对人民群众新期待，必须自觉把改革摆在更加突出位置，紧紧围绕推进中国式现代化进一步全面深化改革。</a:t>
            </a:r>
            <a:endParaRPr lang="zh-CN" altLang="en-US" dirty="0">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outVertic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1+#ppt_w/2"/>
                                          </p:val>
                                        </p:tav>
                                        <p:tav tm="100000">
                                          <p:val>
                                            <p:strVal val="#ppt_x"/>
                                          </p:val>
                                        </p:tav>
                                      </p:tavLst>
                                    </p:anim>
                                    <p:anim calcmode="lin" valueType="num">
                                      <p:cBhvr additive="base">
                                        <p:cTn id="25"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outVertic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outVertical)">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1+#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l="5562" r="5562"/>
          <a:stretch>
            <a:fillRect/>
          </a:stretch>
        </p:blipFill>
        <p:spPr>
          <a:xfrm>
            <a:off x="-1" y="0"/>
            <a:ext cx="12192001" cy="6858000"/>
          </a:xfrm>
          <a:prstGeom prst="rect">
            <a:avLst/>
          </a:prstGeom>
        </p:spPr>
      </p:pic>
      <p:sp>
        <p:nvSpPr>
          <p:cNvPr id="6" name="文本框 5"/>
          <p:cNvSpPr txBox="1"/>
          <p:nvPr/>
        </p:nvSpPr>
        <p:spPr>
          <a:xfrm>
            <a:off x="2063553" y="1617602"/>
            <a:ext cx="5092363" cy="1446550"/>
          </a:xfrm>
          <a:prstGeom prst="rect">
            <a:avLst/>
          </a:prstGeom>
          <a:noFill/>
          <a:ln>
            <a:noFill/>
          </a:ln>
        </p:spPr>
        <p:txBody>
          <a:bodyPr wrap="square" rtlCol="0">
            <a:spAutoFit/>
          </a:bodyPr>
          <a:lstStyle/>
          <a:p>
            <a:pPr algn="dist"/>
            <a:r>
              <a:rPr lang="zh-CN" altLang="en-US" sz="8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rPr>
              <a:t>谢谢观看</a:t>
            </a:r>
            <a:endParaRPr lang="zh-CN" altLang="en-US" sz="8800" b="1" dirty="0">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sym typeface="微软雅黑" panose="020B0503020204020204" pitchFamily="34" charset="-122"/>
            </a:endParaRPr>
          </a:p>
        </p:txBody>
      </p:sp>
      <p:sp>
        <p:nvSpPr>
          <p:cNvPr id="7" name="文本框 6"/>
          <p:cNvSpPr txBox="1"/>
          <p:nvPr/>
        </p:nvSpPr>
        <p:spPr>
          <a:xfrm>
            <a:off x="4940357" y="2797606"/>
            <a:ext cx="5188091" cy="1446550"/>
          </a:xfrm>
          <a:prstGeom prst="rect">
            <a:avLst/>
          </a:prstGeom>
          <a:noFill/>
          <a:ln>
            <a:noFill/>
          </a:ln>
        </p:spPr>
        <p:txBody>
          <a:bodyPr wrap="square" rtlCol="0">
            <a:spAutoFit/>
          </a:bodyPr>
          <a:lstStyle>
            <a:defPPr>
              <a:defRPr lang="zh-CN"/>
            </a:defPPr>
            <a:lvl1pPr algn="dist">
              <a:defRPr sz="8000" b="1">
                <a:ln w="15875">
                  <a:noFill/>
                </a:ln>
                <a:gradFill>
                  <a:gsLst>
                    <a:gs pos="60000">
                      <a:srgbClr val="F70001"/>
                    </a:gs>
                    <a:gs pos="7000">
                      <a:srgbClr val="FE2624"/>
                    </a:gs>
                    <a:gs pos="94000">
                      <a:srgbClr val="CE0203"/>
                    </a:gs>
                  </a:gsLst>
                  <a:lin ang="2700000" scaled="1"/>
                </a:gradFill>
                <a:effectLst>
                  <a:outerShdw blurRad="38100" dist="38100" dir="2700000" algn="tl">
                    <a:srgbClr val="75161B">
                      <a:alpha val="43000"/>
                    </a:srgbClr>
                  </a:outerShdw>
                </a:effectLst>
                <a:latin typeface="思源宋体 CN Heavy" pitchFamily="18" charset="-122"/>
                <a:ea typeface="思源宋体 CN Heavy" pitchFamily="18" charset="-122"/>
              </a:defRPr>
            </a:lvl1pPr>
          </a:lstStyle>
          <a:p>
            <a:r>
              <a:rPr lang="zh-CN" altLang="en-US" sz="8800" dirty="0">
                <a:sym typeface="微软雅黑" panose="020B0503020204020204" pitchFamily="34" charset="-122"/>
              </a:rPr>
              <a:t>共同学习</a:t>
            </a:r>
            <a:endParaRPr lang="zh-CN" altLang="en-US" sz="8800" dirty="0">
              <a:sym typeface="微软雅黑" panose="020B0503020204020204" pitchFamily="34" charset="-122"/>
            </a:endParaRPr>
          </a:p>
        </p:txBody>
      </p:sp>
      <p:sp>
        <p:nvSpPr>
          <p:cNvPr id="8" name="文本框 7"/>
          <p:cNvSpPr txBox="1"/>
          <p:nvPr/>
        </p:nvSpPr>
        <p:spPr>
          <a:xfrm>
            <a:off x="8627757" y="2378627"/>
            <a:ext cx="3732939" cy="200055"/>
          </a:xfrm>
          <a:prstGeom prst="rect">
            <a:avLst/>
          </a:prstGeom>
          <a:noFill/>
          <a:ln>
            <a:noFill/>
          </a:ln>
        </p:spPr>
        <p:txBody>
          <a:bodyPr wrap="square" rtlCol="0">
            <a:spAutoFit/>
          </a:bodyPr>
          <a:lstStyle/>
          <a:p>
            <a:pPr rtl="0"/>
            <a:r>
              <a:rPr lang="en-US" altLang="zh-CN" sz="700" b="1" spc="200"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rPr>
              <a:t>Remain True To Our Original Aspiration</a:t>
            </a:r>
            <a:endParaRPr lang="en-US" altLang="zh-CN" sz="700" b="1" spc="200"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nvSpPr>
        <p:spPr>
          <a:xfrm>
            <a:off x="7248129" y="2207882"/>
            <a:ext cx="1379631" cy="400110"/>
          </a:xfrm>
          <a:prstGeom prst="rect">
            <a:avLst/>
          </a:prstGeom>
          <a:noFill/>
          <a:ln>
            <a:noFill/>
          </a:ln>
        </p:spPr>
        <p:txBody>
          <a:bodyPr wrap="square" rtlCol="0">
            <a:spAutoFit/>
          </a:bodyPr>
          <a:lstStyle/>
          <a:p>
            <a:pPr algn="dist" rtl="0"/>
            <a:r>
              <a:rPr lang="zh-CN" altLang="en-US" sz="2000" b="1"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rPr>
              <a:t>不忘初心</a:t>
            </a:r>
            <a:endParaRPr lang="zh-CN" altLang="en-US" sz="2000" b="1"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nvSpPr>
        <p:spPr>
          <a:xfrm>
            <a:off x="3564242" y="3361475"/>
            <a:ext cx="1379631" cy="400110"/>
          </a:xfrm>
          <a:prstGeom prst="rect">
            <a:avLst/>
          </a:prstGeom>
          <a:noFill/>
          <a:ln>
            <a:noFill/>
          </a:ln>
        </p:spPr>
        <p:txBody>
          <a:bodyPr wrap="square" rtlCol="0">
            <a:spAutoFit/>
          </a:bodyPr>
          <a:lstStyle/>
          <a:p>
            <a:pPr algn="dist" rtl="0"/>
            <a:r>
              <a:rPr lang="zh-CN" altLang="en-US" sz="2000" b="1"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rPr>
              <a:t>牢记使命</a:t>
            </a:r>
            <a:endParaRPr lang="zh-CN" altLang="en-US" sz="2000" b="1"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nvSpPr>
        <p:spPr>
          <a:xfrm>
            <a:off x="623392" y="3545561"/>
            <a:ext cx="2977008" cy="200055"/>
          </a:xfrm>
          <a:prstGeom prst="rect">
            <a:avLst/>
          </a:prstGeom>
          <a:noFill/>
          <a:ln>
            <a:noFill/>
          </a:ln>
        </p:spPr>
        <p:txBody>
          <a:bodyPr wrap="square" rtlCol="0">
            <a:spAutoFit/>
          </a:bodyPr>
          <a:lstStyle/>
          <a:p>
            <a:pPr algn="r" rtl="0"/>
            <a:r>
              <a:rPr lang="en-US" altLang="zh-CN" sz="700" b="1" spc="200"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rPr>
              <a:t>Keep The Mission Firmly In Mind</a:t>
            </a:r>
            <a:endParaRPr lang="en-US" altLang="zh-CN" sz="700" b="1" spc="200" dirty="0">
              <a:ln w="15875">
                <a:noFill/>
              </a:ln>
              <a:solidFill>
                <a:srgbClr val="FE2624">
                  <a:alpha val="85000"/>
                </a:srgb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10056440" y="6176718"/>
            <a:ext cx="2016224" cy="307777"/>
          </a:xfrm>
          <a:prstGeom prst="rect">
            <a:avLst/>
          </a:prstGeom>
          <a:noFill/>
        </p:spPr>
        <p:txBody>
          <a:bodyPr wrap="square" rtlCol="0">
            <a:spAutoFit/>
          </a:bodyPr>
          <a:lstStyle/>
          <a:p>
            <a:pPr algn="dist"/>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筑梦中国</a:t>
            </a:r>
            <a:r>
              <a:rPr lang="en-US" altLang="zh-CN"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 </a:t>
            </a:r>
            <a:r>
              <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建功新时代</a:t>
            </a:r>
            <a:endParaRPr lang="zh-CN" altLang="en-US" sz="14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sp>
        <p:nvSpPr>
          <p:cNvPr id="16" name="文本框 15"/>
          <p:cNvSpPr txBox="1"/>
          <p:nvPr/>
        </p:nvSpPr>
        <p:spPr>
          <a:xfrm>
            <a:off x="7503013" y="6484494"/>
            <a:ext cx="4569651" cy="215444"/>
          </a:xfrm>
          <a:prstGeom prst="rect">
            <a:avLst/>
          </a:prstGeom>
          <a:noFill/>
        </p:spPr>
        <p:txBody>
          <a:bodyPr wrap="square" rtlCol="0">
            <a:spAutoFit/>
          </a:bodyPr>
          <a:lstStyle/>
          <a:p>
            <a:pPr algn="dist"/>
            <a:r>
              <a:rPr lang="en-US" altLang="zh-CN"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rPr>
              <a:t>NEVER FORGET YOUR ORIGINAL INTENTION, ALWAYS REMEMBER YOUR MISSION</a:t>
            </a:r>
            <a:endParaRPr lang="zh-CN" altLang="en-US" sz="800" dirty="0">
              <a:solidFill>
                <a:schemeClr val="bg1">
                  <a:lumMod val="9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微软雅黑" panose="020B0503020204020204" pitchFamily="34" charset="-122"/>
            </a:endParaRPr>
          </a:p>
        </p:txBody>
      </p:sp>
      <p:pic>
        <p:nvPicPr>
          <p:cNvPr id="18" name="图片 17"/>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l="31691" t="13382" r="31100" b="78350"/>
          <a:stretch>
            <a:fillRect/>
          </a:stretch>
        </p:blipFill>
        <p:spPr>
          <a:xfrm>
            <a:off x="3694476" y="809056"/>
            <a:ext cx="4803048" cy="533672"/>
          </a:xfrm>
          <a:prstGeom prst="rect">
            <a:avLst/>
          </a:prstGeom>
        </p:spPr>
      </p:pic>
      <p:sp>
        <p:nvSpPr>
          <p:cNvPr id="20" name="文本框 19"/>
          <p:cNvSpPr txBox="1"/>
          <p:nvPr/>
        </p:nvSpPr>
        <p:spPr>
          <a:xfrm>
            <a:off x="4153963" y="4221089"/>
            <a:ext cx="1872208" cy="338554"/>
          </a:xfrm>
          <a:prstGeom prst="rect">
            <a:avLst/>
          </a:prstGeom>
          <a:noFill/>
        </p:spPr>
        <p:txBody>
          <a:bodyPr wrap="square" rtlCol="0">
            <a:spAutoFit/>
          </a:bodyPr>
          <a:lstStyle/>
          <a:p>
            <a:pPr algn="dist"/>
            <a:r>
              <a:rPr lang="zh-CN" altLang="en-US" sz="1600" b="1" dirty="0">
                <a:ln w="15875">
                  <a:noFill/>
                </a:ln>
                <a:solidFill>
                  <a:srgbClr val="FE5E5E"/>
                </a:solidFill>
                <a:latin typeface="微软雅黑" panose="020B0503020204020204" pitchFamily="34" charset="-122"/>
                <a:ea typeface="微软雅黑" panose="020B0503020204020204" pitchFamily="34" charset="-122"/>
                <a:sym typeface="微软雅黑" panose="020B0503020204020204" pitchFamily="34" charset="-122"/>
              </a:rPr>
              <a:t>汇报人：</a:t>
            </a:r>
            <a:r>
              <a:rPr lang="en-US" altLang="zh-CN" sz="1600" b="1" dirty="0">
                <a:ln w="15875">
                  <a:noFill/>
                </a:ln>
                <a:solidFill>
                  <a:srgbClr val="FE5E5E"/>
                </a:solidFill>
                <a:latin typeface="微软雅黑" panose="020B0503020204020204" pitchFamily="34" charset="-122"/>
                <a:ea typeface="微软雅黑" panose="020B0503020204020204" pitchFamily="34" charset="-122"/>
                <a:sym typeface="微软雅黑" panose="020B0503020204020204" pitchFamily="34" charset="-122"/>
              </a:rPr>
              <a:t>JTPPT</a:t>
            </a:r>
            <a:endParaRPr lang="zh-CN" altLang="en-US" sz="1600" b="1" dirty="0">
              <a:ln w="15875">
                <a:noFill/>
              </a:ln>
              <a:solidFill>
                <a:srgbClr val="FE5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0"/>
          <p:cNvSpPr txBox="1"/>
          <p:nvPr/>
        </p:nvSpPr>
        <p:spPr>
          <a:xfrm>
            <a:off x="6265523" y="4221089"/>
            <a:ext cx="1872208" cy="338554"/>
          </a:xfrm>
          <a:prstGeom prst="rect">
            <a:avLst/>
          </a:prstGeom>
          <a:noFill/>
        </p:spPr>
        <p:txBody>
          <a:bodyPr wrap="square" rtlCol="0">
            <a:spAutoFit/>
          </a:bodyPr>
          <a:lstStyle/>
          <a:p>
            <a:pPr algn="dist"/>
            <a:r>
              <a:rPr lang="zh-CN" altLang="en-US"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时间：</a:t>
            </a:r>
            <a:r>
              <a:rPr lang="en-US" altLang="zh-CN"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X</a:t>
            </a:r>
            <a:r>
              <a:rPr lang="zh-CN" altLang="en-US"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年</a:t>
            </a:r>
            <a:r>
              <a:rPr lang="en-US" altLang="zh-CN"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X</a:t>
            </a:r>
            <a:r>
              <a:rPr lang="zh-CN" altLang="en-US"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rPr>
              <a:t>月</a:t>
            </a:r>
            <a:endParaRPr lang="zh-CN" altLang="en-US" sz="1600" b="1" dirty="0">
              <a:solidFill>
                <a:srgbClr val="FE5E5E"/>
              </a:solidFill>
              <a:latin typeface="微软雅黑" panose="020B0503020204020204" pitchFamily="34" charset="-122"/>
              <a:ea typeface="微软雅黑" panose="020B0503020204020204" pitchFamily="34" charset="-122"/>
              <a:cs typeface="阿里巴巴普惠体 2.0 75 SemiBold" panose="00020600040101010101" pitchFamily="18"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3537</Words>
  <Application>WPS 演示</Application>
  <PresentationFormat>宽屏</PresentationFormat>
  <Paragraphs>369</Paragraphs>
  <Slides>20</Slides>
  <Notes>1</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20</vt:i4>
      </vt:variant>
    </vt:vector>
  </HeadingPairs>
  <TitlesOfParts>
    <vt:vector size="42" baseType="lpstr">
      <vt:lpstr>Arial</vt:lpstr>
      <vt:lpstr>宋体</vt:lpstr>
      <vt:lpstr>Wingdings</vt:lpstr>
      <vt:lpstr>微软雅黑</vt:lpstr>
      <vt:lpstr>思源宋体 CN Heavy</vt:lpstr>
      <vt:lpstr>阿里巴巴普惠体 2.0 55 Regular</vt:lpstr>
      <vt:lpstr>阿里巴巴普惠体 2.0 75 SemiBold</vt:lpstr>
      <vt:lpstr>阿里巴巴普惠体 2.0 95 ExtraBold</vt:lpstr>
      <vt:lpstr>阿里巴巴普惠体 2.0 65 Medium</vt:lpstr>
      <vt:lpstr>阿里巴巴普惠体 2.0 45 Light</vt:lpstr>
      <vt:lpstr>思源黑体 CN Light</vt:lpstr>
      <vt:lpstr>Calibri</vt:lpstr>
      <vt:lpstr>Arial Unicode MS</vt:lpstr>
      <vt:lpstr>等线 Light</vt:lpstr>
      <vt:lpstr>等线</vt:lpstr>
      <vt:lpstr>字魂143号-正酷超级黑</vt:lpstr>
      <vt:lpstr>字魂59号-创粗黑</vt:lpstr>
      <vt:lpstr>黑体</vt:lpstr>
      <vt:lpstr>字魂58号-创中黑</vt:lpstr>
      <vt:lpstr>第一PPT，www.1ppt.com</vt:lpstr>
      <vt:lpstr>自定义设计方案</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2024-09-24T12:29:00Z</dcterms:created>
  <dcterms:modified xsi:type="dcterms:W3CDTF">2025-05-09T01:53:50Z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4E975873C59F447D82A3280E3BDBC16D_12</vt:lpwstr>
  </property>
  <property fmtid="{D5CDD505-2E9C-101B-9397-08002B2CF9AE}" pid="3" name="KSOProductBuildVer">
    <vt:lpwstr>2052-12.1.0.21171</vt:lpwstr>
  </property>
</Properties>
</file>