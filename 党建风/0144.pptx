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handoutMasterIdLst>
    <p:handoutMasterId r:id="rId27"/>
  </p:handoutMasterIdLst>
  <p:sldIdLst>
    <p:sldId id="256" r:id="rId3"/>
    <p:sldId id="310" r:id="rId4"/>
    <p:sldId id="258" r:id="rId5"/>
    <p:sldId id="261" r:id="rId6"/>
    <p:sldId id="324" r:id="rId7"/>
    <p:sldId id="328" r:id="rId8"/>
    <p:sldId id="326" r:id="rId9"/>
    <p:sldId id="327" r:id="rId10"/>
    <p:sldId id="329" r:id="rId11"/>
    <p:sldId id="262" r:id="rId12"/>
    <p:sldId id="333" r:id="rId13"/>
    <p:sldId id="334" r:id="rId14"/>
    <p:sldId id="335" r:id="rId15"/>
    <p:sldId id="336" r:id="rId16"/>
    <p:sldId id="263" r:id="rId17"/>
    <p:sldId id="330" r:id="rId18"/>
    <p:sldId id="331" r:id="rId19"/>
    <p:sldId id="332" r:id="rId20"/>
    <p:sldId id="264" r:id="rId21"/>
    <p:sldId id="271" r:id="rId22"/>
    <p:sldId id="322" r:id="rId23"/>
    <p:sldId id="323" r:id="rId24"/>
    <p:sldId id="273" r:id="rId25"/>
  </p:sldIdLst>
  <p:sldSz cx="12192000" cy="6858000"/>
  <p:notesSz cx="6858000" cy="9144000"/>
  <p:embeddedFontLst>
    <p:embeddedFont>
      <p:font typeface="微软雅黑" panose="020B0503020204020204" pitchFamily="34" charset="-122"/>
      <p:regular r:id="rId31"/>
    </p:embeddedFont>
    <p:embeddedFont>
      <p:font typeface="Impact" panose="020B0806030902050204" pitchFamily="34" charset="0"/>
      <p:regular r:id="rId32"/>
    </p:embeddedFont>
    <p:embeddedFont>
      <p:font typeface="等线" panose="02010600030101010101" charset="-122"/>
      <p:regular r:id="rId33"/>
    </p:embeddedFont>
    <p:embeddedFont>
      <p:font typeface="等线 Light" panose="02010600030101010101" charset="-122"/>
      <p:regular r:id="rId34"/>
    </p:embeddedFont>
    <p:embeddedFont>
      <p:font typeface="Calibri" panose="020F0502020204030204" charset="0"/>
      <p:regular r:id="rId35"/>
      <p:bold r:id="rId36"/>
      <p:italic r:id="rId37"/>
      <p:boldItalic r:id="rId38"/>
    </p:embeddedFont>
    <p:embeddedFont>
      <p:font typeface="胡晓波男神体" panose="02010600030101010101" pitchFamily="2" charset="-122"/>
      <p:regular r:id="rId3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0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9852" autoAdjust="0"/>
  </p:normalViewPr>
  <p:slideViewPr>
    <p:cSldViewPr snapToGrid="0" showGuides="1">
      <p:cViewPr varScale="1">
        <p:scale>
          <a:sx n="72" d="100"/>
          <a:sy n="72" d="100"/>
        </p:scale>
        <p:origin x="63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font" Target="fonts/font9.fntdata"/><Relationship Id="rId38" Type="http://schemas.openxmlformats.org/officeDocument/2006/relationships/font" Target="fonts/font8.fntdata"/><Relationship Id="rId37" Type="http://schemas.openxmlformats.org/officeDocument/2006/relationships/font" Target="fonts/font7.fntdata"/><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08F3BBC-92ED-4896-AE35-E6CC81F29F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47099-CF53-4456-A00B-BB2D03AAA3EC}" type="slidenum">
              <a:rPr lang="zh-CN" altLang="en-US" smtClean="0"/>
            </a:fld>
            <a:endParaRPr lang="zh-CN" altLang="en-US"/>
          </a:p>
        </p:txBody>
      </p:sp>
    </p:spTree>
  </p:cSld>
  <p:clrMapOvr>
    <a:masterClrMapping/>
  </p:clrMapOvr>
  <p:transition>
    <p:push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8F3BBC-92ED-4896-AE35-E6CC81F29FA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547099-CF53-4456-A00B-BB2D03AAA3E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microsoft.com/office/2007/relationships/hdphoto" Target="../media/image5.wdp"/><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7.wdp"/><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microsoft.com/office/2007/relationships/hdphoto" Target="../media/image5.wdp"/><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4720" y="-479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52404" y="138321"/>
            <a:ext cx="11898321" cy="6714889"/>
            <a:chOff x="152405" y="138321"/>
            <a:chExt cx="11898320" cy="6714889"/>
          </a:xfrm>
        </p:grpSpPr>
        <p:sp>
          <p:nvSpPr>
            <p:cNvPr id="12" name="任意多边形: 形状 11"/>
            <p:cNvSpPr/>
            <p:nvPr/>
          </p:nvSpPr>
          <p:spPr>
            <a:xfrm>
              <a:off x="152405" y="138321"/>
              <a:ext cx="11898320"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8" name="任意多边形: 形状 7"/>
            <p:cNvSpPr/>
            <p:nvPr/>
          </p:nvSpPr>
          <p:spPr>
            <a:xfrm>
              <a:off x="152405" y="6481493"/>
              <a:ext cx="11898319" cy="311958"/>
            </a:xfrm>
            <a:custGeom>
              <a:avLst/>
              <a:gdLst>
                <a:gd name="connsiteX0" fmla="*/ 0 w 4573721"/>
                <a:gd name="connsiteY0" fmla="*/ 0 h 240110"/>
                <a:gd name="connsiteX1" fmla="*/ 4573722 w 4573721"/>
                <a:gd name="connsiteY1" fmla="*/ 0 h 240110"/>
                <a:gd name="connsiteX2" fmla="*/ 4573722 w 4573721"/>
                <a:gd name="connsiteY2" fmla="*/ 240111 h 240110"/>
                <a:gd name="connsiteX3" fmla="*/ 0 w 4573721"/>
                <a:gd name="connsiteY3" fmla="*/ 240111 h 240110"/>
              </a:gdLst>
              <a:ahLst/>
              <a:cxnLst>
                <a:cxn ang="0">
                  <a:pos x="connsiteX0" y="connsiteY0"/>
                </a:cxn>
                <a:cxn ang="0">
                  <a:pos x="connsiteX1" y="connsiteY1"/>
                </a:cxn>
                <a:cxn ang="0">
                  <a:pos x="connsiteX2" y="connsiteY2"/>
                </a:cxn>
                <a:cxn ang="0">
                  <a:pos x="connsiteX3" y="connsiteY3"/>
                </a:cxn>
              </a:cxnLst>
              <a:rect l="l" t="t" r="r" b="b"/>
              <a:pathLst>
                <a:path w="4573721" h="240110">
                  <a:moveTo>
                    <a:pt x="0" y="0"/>
                  </a:moveTo>
                  <a:lnTo>
                    <a:pt x="4573722" y="0"/>
                  </a:lnTo>
                  <a:lnTo>
                    <a:pt x="4573722" y="240111"/>
                  </a:lnTo>
                  <a:lnTo>
                    <a:pt x="0" y="240111"/>
                  </a:lnTo>
                  <a:close/>
                </a:path>
              </a:pathLst>
            </a:custGeom>
            <a:solidFill>
              <a:srgbClr val="840300"/>
            </a:solidFill>
            <a:ln w="5379" cap="flat">
              <a:noFill/>
              <a:prstDash val="solid"/>
              <a:miter/>
            </a:ln>
          </p:spPr>
          <p:txBody>
            <a:bodyPr rtlCol="0" anchor="ctr"/>
            <a:lstStyle/>
            <a:p>
              <a:endParaRPr lang="zh-CN" altLang="en-US"/>
            </a:p>
          </p:txBody>
        </p:sp>
        <p:pic>
          <p:nvPicPr>
            <p:cNvPr id="9" name="图片 8"/>
            <p:cNvPicPr>
              <a:picLocks noChangeAspect="1"/>
            </p:cNvPicPr>
            <p:nvPr/>
          </p:nvPicPr>
          <p:blipFill>
            <a:blip r:embed="rId1"/>
            <a:stretch>
              <a:fillRect/>
            </a:stretch>
          </p:blipFill>
          <p:spPr>
            <a:xfrm>
              <a:off x="2908301" y="4949370"/>
              <a:ext cx="6375397" cy="1595016"/>
            </a:xfrm>
            <a:custGeom>
              <a:avLst/>
              <a:gdLst>
                <a:gd name="connsiteX0" fmla="*/ -756 w 4573721"/>
                <a:gd name="connsiteY0" fmla="*/ 809 h 1227662"/>
                <a:gd name="connsiteX1" fmla="*/ 4572966 w 4573721"/>
                <a:gd name="connsiteY1" fmla="*/ 809 h 1227662"/>
                <a:gd name="connsiteX2" fmla="*/ 4572966 w 4573721"/>
                <a:gd name="connsiteY2" fmla="*/ 1228471 h 1227662"/>
                <a:gd name="connsiteX3" fmla="*/ -756 w 4573721"/>
                <a:gd name="connsiteY3" fmla="*/ 1228471 h 1227662"/>
              </a:gdLst>
              <a:ahLst/>
              <a:cxnLst>
                <a:cxn ang="0">
                  <a:pos x="connsiteX0" y="connsiteY0"/>
                </a:cxn>
                <a:cxn ang="0">
                  <a:pos x="connsiteX1" y="connsiteY1"/>
                </a:cxn>
                <a:cxn ang="0">
                  <a:pos x="connsiteX2" y="connsiteY2"/>
                </a:cxn>
                <a:cxn ang="0">
                  <a:pos x="connsiteX3" y="connsiteY3"/>
                </a:cxn>
              </a:cxnLst>
              <a:rect l="l" t="t" r="r" b="b"/>
              <a:pathLst>
                <a:path w="4573721" h="1227662">
                  <a:moveTo>
                    <a:pt x="-756" y="809"/>
                  </a:moveTo>
                  <a:lnTo>
                    <a:pt x="4572966" y="809"/>
                  </a:lnTo>
                  <a:lnTo>
                    <a:pt x="4572966" y="1228471"/>
                  </a:lnTo>
                  <a:lnTo>
                    <a:pt x="-756" y="1228471"/>
                  </a:lnTo>
                  <a:close/>
                </a:path>
              </a:pathLst>
            </a:custGeom>
          </p:spPr>
        </p:pic>
        <p:sp>
          <p:nvSpPr>
            <p:cNvPr id="7" name="任意多边形: 形状 6"/>
            <p:cNvSpPr/>
            <p:nvPr/>
          </p:nvSpPr>
          <p:spPr>
            <a:xfrm>
              <a:off x="5941377" y="6481493"/>
              <a:ext cx="309244" cy="371717"/>
            </a:xfrm>
            <a:custGeom>
              <a:avLst/>
              <a:gdLst>
                <a:gd name="connsiteX0" fmla="*/ 154622 w 309244"/>
                <a:gd name="connsiteY0" fmla="*/ 0 h 371717"/>
                <a:gd name="connsiteX1" fmla="*/ 309244 w 309244"/>
                <a:gd name="connsiteY1" fmla="*/ 154622 h 371717"/>
                <a:gd name="connsiteX2" fmla="*/ 309244 w 309244"/>
                <a:gd name="connsiteY2" fmla="*/ 371717 h 371717"/>
                <a:gd name="connsiteX3" fmla="*/ 0 w 309244"/>
                <a:gd name="connsiteY3" fmla="*/ 371717 h 371717"/>
                <a:gd name="connsiteX4" fmla="*/ 0 w 309244"/>
                <a:gd name="connsiteY4" fmla="*/ 154622 h 371717"/>
                <a:gd name="connsiteX5" fmla="*/ 154622 w 309244"/>
                <a:gd name="connsiteY5" fmla="*/ 0 h 37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244" h="371717">
                  <a:moveTo>
                    <a:pt x="154622" y="0"/>
                  </a:moveTo>
                  <a:cubicBezTo>
                    <a:pt x="240017" y="0"/>
                    <a:pt x="309244" y="69227"/>
                    <a:pt x="309244" y="154622"/>
                  </a:cubicBezTo>
                  <a:lnTo>
                    <a:pt x="309244" y="371717"/>
                  </a:lnTo>
                  <a:lnTo>
                    <a:pt x="0" y="371717"/>
                  </a:lnTo>
                  <a:lnTo>
                    <a:pt x="0" y="154622"/>
                  </a:lnTo>
                  <a:cubicBezTo>
                    <a:pt x="0" y="69227"/>
                    <a:pt x="69227" y="0"/>
                    <a:pt x="154622"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31" name="组合 30"/>
          <p:cNvGrpSpPr/>
          <p:nvPr/>
        </p:nvGrpSpPr>
        <p:grpSpPr>
          <a:xfrm>
            <a:off x="1693466" y="1162961"/>
            <a:ext cx="8822134" cy="3214362"/>
            <a:chOff x="1693466" y="1143911"/>
            <a:chExt cx="8822134" cy="3214362"/>
          </a:xfrm>
        </p:grpSpPr>
        <p:grpSp>
          <p:nvGrpSpPr>
            <p:cNvPr id="26" name="组合 25"/>
            <p:cNvGrpSpPr/>
            <p:nvPr/>
          </p:nvGrpSpPr>
          <p:grpSpPr>
            <a:xfrm>
              <a:off x="1693466" y="1143911"/>
              <a:ext cx="8822134" cy="2661011"/>
              <a:chOff x="1693466" y="1277261"/>
              <a:chExt cx="8822134" cy="2661011"/>
            </a:xfrm>
          </p:grpSpPr>
          <p:grpSp>
            <p:nvGrpSpPr>
              <p:cNvPr id="22" name="组合 21"/>
              <p:cNvGrpSpPr/>
              <p:nvPr/>
            </p:nvGrpSpPr>
            <p:grpSpPr>
              <a:xfrm>
                <a:off x="1885950" y="1277261"/>
                <a:ext cx="8458871" cy="536119"/>
                <a:chOff x="1883766" y="1820631"/>
                <a:chExt cx="8458871" cy="536119"/>
              </a:xfrm>
            </p:grpSpPr>
            <p:grpSp>
              <p:nvGrpSpPr>
                <p:cNvPr id="5" name="组合 4"/>
                <p:cNvGrpSpPr/>
                <p:nvPr/>
              </p:nvGrpSpPr>
              <p:grpSpPr>
                <a:xfrm>
                  <a:off x="1883766" y="2121801"/>
                  <a:ext cx="8458871" cy="0"/>
                  <a:chOff x="1942760" y="2121801"/>
                  <a:chExt cx="8458871" cy="0"/>
                </a:xfrm>
              </p:grpSpPr>
              <p:cxnSp>
                <p:nvCxnSpPr>
                  <p:cNvPr id="3" name="直接连接符 2"/>
                  <p:cNvCxnSpPr/>
                  <p:nvPr/>
                </p:nvCxnSpPr>
                <p:spPr>
                  <a:xfrm>
                    <a:off x="1942760" y="2121801"/>
                    <a:ext cx="2778528"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622431" y="2121801"/>
                    <a:ext cx="2779200"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grpSp>
            <p:sp>
              <p:nvSpPr>
                <p:cNvPr id="6" name="星形: 五角 5"/>
                <p:cNvSpPr/>
                <p:nvPr/>
              </p:nvSpPr>
              <p:spPr>
                <a:xfrm>
                  <a:off x="5834290" y="1820631"/>
                  <a:ext cx="536119" cy="536119"/>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星形: 五角 15"/>
                <p:cNvSpPr/>
                <p:nvPr/>
              </p:nvSpPr>
              <p:spPr>
                <a:xfrm>
                  <a:off x="6440900" y="1908630"/>
                  <a:ext cx="374334" cy="374334"/>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p:cNvSpPr/>
                <p:nvPr/>
              </p:nvSpPr>
              <p:spPr>
                <a:xfrm>
                  <a:off x="6898425" y="1948389"/>
                  <a:ext cx="294816" cy="294816"/>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flipH="1">
                  <a:off x="5013290" y="1905594"/>
                  <a:ext cx="752341" cy="374334"/>
                  <a:chOff x="6593300" y="2061030"/>
                  <a:chExt cx="752341" cy="374334"/>
                </a:xfrm>
                <a:solidFill>
                  <a:srgbClr val="840300"/>
                </a:solidFill>
              </p:grpSpPr>
              <p:sp>
                <p:nvSpPr>
                  <p:cNvPr id="19" name="星形: 五角 18"/>
                  <p:cNvSpPr/>
                  <p:nvPr/>
                </p:nvSpPr>
                <p:spPr>
                  <a:xfrm>
                    <a:off x="6593300" y="2061030"/>
                    <a:ext cx="374334" cy="374334"/>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星形: 五角 19"/>
                  <p:cNvSpPr/>
                  <p:nvPr/>
                </p:nvSpPr>
                <p:spPr>
                  <a:xfrm>
                    <a:off x="7050825" y="2100789"/>
                    <a:ext cx="294816" cy="294816"/>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4" name="文本框 23"/>
              <p:cNvSpPr txBox="1"/>
              <p:nvPr/>
            </p:nvSpPr>
            <p:spPr>
              <a:xfrm>
                <a:off x="1693466" y="2171192"/>
                <a:ext cx="8822134" cy="1107996"/>
              </a:xfrm>
              <a:prstGeom prst="rect">
                <a:avLst/>
              </a:prstGeom>
              <a:noFill/>
            </p:spPr>
            <p:txBody>
              <a:bodyPr wrap="square" rtlCol="0">
                <a:spAutoFit/>
              </a:bodyPr>
              <a:lstStyle/>
              <a:p>
                <a:pPr algn="ctr"/>
                <a:r>
                  <a:rPr lang="zh-CN" altLang="en-US" sz="6600" b="1" dirty="0">
                    <a:solidFill>
                      <a:srgbClr val="840300"/>
                    </a:solidFill>
                    <a:latin typeface="微软雅黑" panose="020B0503020204020204" pitchFamily="34" charset="-122"/>
                    <a:ea typeface="微软雅黑" panose="020B0503020204020204" pitchFamily="34" charset="-122"/>
                  </a:rPr>
                  <a:t>百年党史学习教育大会</a:t>
                </a:r>
                <a:endParaRPr lang="zh-CN" altLang="en-US" sz="6600" b="1" dirty="0">
                  <a:solidFill>
                    <a:srgbClr val="840300"/>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3141907" y="3476607"/>
                <a:ext cx="5925252" cy="461665"/>
              </a:xfrm>
              <a:prstGeom prst="rect">
                <a:avLst/>
              </a:prstGeom>
              <a:noFill/>
            </p:spPr>
            <p:txBody>
              <a:bodyPr wrap="square" rtlCol="0">
                <a:spAutoFit/>
              </a:bodyPr>
              <a:lstStyle/>
              <a:p>
                <a:pPr algn="dist"/>
                <a:r>
                  <a:rPr lang="zh-CN" altLang="en-US" sz="2400" b="1" dirty="0">
                    <a:latin typeface="微软雅黑" panose="020B0503020204020204" pitchFamily="34" charset="-122"/>
                    <a:ea typeface="微软雅黑" panose="020B0503020204020204" pitchFamily="34" charset="-122"/>
                  </a:rPr>
                  <a:t>学党史</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悟思想</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办实事</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开新局</a:t>
                </a:r>
                <a:endParaRPr lang="zh-CN" altLang="en-US" sz="2400" b="1" dirty="0">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3888983" y="4004330"/>
              <a:ext cx="4766067" cy="353943"/>
              <a:chOff x="3844533" y="4004330"/>
              <a:chExt cx="4766067" cy="353943"/>
            </a:xfrm>
          </p:grpSpPr>
          <p:sp>
            <p:nvSpPr>
              <p:cNvPr id="27" name="文本框 26"/>
              <p:cNvSpPr txBox="1"/>
              <p:nvPr/>
            </p:nvSpPr>
            <p:spPr>
              <a:xfrm>
                <a:off x="3844533" y="4004330"/>
                <a:ext cx="2096843" cy="352425"/>
              </a:xfrm>
              <a:prstGeom prst="rect">
                <a:avLst/>
              </a:prstGeom>
              <a:noFill/>
            </p:spPr>
            <p:txBody>
              <a:bodyPr wrap="square" rtlCol="0">
                <a:spAutoFit/>
              </a:bodyPr>
              <a:lstStyle/>
              <a:p>
                <a:pPr algn="ctr"/>
                <a:r>
                  <a:rPr lang="zh-CN" altLang="en-US" sz="1700" b="1" dirty="0">
                    <a:solidFill>
                      <a:srgbClr val="840300"/>
                    </a:solidFill>
                    <a:latin typeface="微软雅黑" panose="020B0503020204020204" pitchFamily="34" charset="-122"/>
                    <a:ea typeface="微软雅黑" panose="020B0503020204020204" pitchFamily="34" charset="-122"/>
                  </a:rPr>
                  <a:t>汇报人：</a:t>
                </a:r>
                <a:r>
                  <a:rPr lang="en-US" altLang="zh-CN" sz="1700" b="1" dirty="0">
                    <a:solidFill>
                      <a:srgbClr val="840300"/>
                    </a:solidFill>
                    <a:latin typeface="微软雅黑" panose="020B0503020204020204" pitchFamily="34" charset="-122"/>
                    <a:ea typeface="微软雅黑" panose="020B0503020204020204" pitchFamily="34" charset="-122"/>
                  </a:rPr>
                  <a:t>XXXX</a:t>
                </a:r>
                <a:endParaRPr lang="en-US" altLang="zh-CN" sz="1700" b="1" dirty="0">
                  <a:solidFill>
                    <a:srgbClr val="840300"/>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6232893" y="4004330"/>
                <a:ext cx="2377707" cy="353943"/>
              </a:xfrm>
              <a:prstGeom prst="rect">
                <a:avLst/>
              </a:prstGeom>
              <a:noFill/>
            </p:spPr>
            <p:txBody>
              <a:bodyPr wrap="square" rtlCol="0">
                <a:spAutoFit/>
              </a:bodyPr>
              <a:lstStyle/>
              <a:p>
                <a:pPr algn="ctr"/>
                <a:r>
                  <a:rPr lang="zh-CN" altLang="en-US" sz="1700" b="1" dirty="0">
                    <a:solidFill>
                      <a:srgbClr val="840300"/>
                    </a:solidFill>
                    <a:latin typeface="微软雅黑" panose="020B0503020204020204" pitchFamily="34" charset="-122"/>
                    <a:ea typeface="微软雅黑" panose="020B0503020204020204" pitchFamily="34" charset="-122"/>
                  </a:rPr>
                  <a:t>汇报时间：</a:t>
                </a:r>
                <a:r>
                  <a:rPr lang="en-US" altLang="zh-CN" sz="1700" b="1" dirty="0">
                    <a:solidFill>
                      <a:srgbClr val="840300"/>
                    </a:solidFill>
                    <a:latin typeface="微软雅黑" panose="020B0503020204020204" pitchFamily="34" charset="-122"/>
                    <a:ea typeface="微软雅黑" panose="020B0503020204020204" pitchFamily="34" charset="-122"/>
                  </a:rPr>
                  <a:t>20XX.X</a:t>
                </a:r>
                <a:endParaRPr lang="zh-CN" altLang="en-US" sz="1700" b="1" dirty="0">
                  <a:solidFill>
                    <a:srgbClr val="840300"/>
                  </a:solidFill>
                  <a:latin typeface="微软雅黑" panose="020B0503020204020204" pitchFamily="34" charset="-122"/>
                  <a:ea typeface="微软雅黑" panose="020B0503020204020204" pitchFamily="34" charset="-122"/>
                </a:endParaRPr>
              </a:p>
            </p:txBody>
          </p:sp>
        </p:grpSp>
      </p:grpSp>
    </p:spTree>
  </p:cSld>
  <p:clrMapOvr>
    <a:masterClrMapping/>
  </p:clrMapOvr>
  <p:transition>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形状 23"/>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contrast="-20000"/>
                    </a14:imgEffect>
                  </a14:imgLayer>
                </a14:imgProps>
              </a:ext>
            </a:extLst>
          </a:blip>
          <a:stretch>
            <a:fillRect/>
          </a:stretch>
        </p:blipFill>
        <p:spPr>
          <a:xfrm>
            <a:off x="152404" y="5293056"/>
            <a:ext cx="2301400" cy="1450883"/>
          </a:xfrm>
          <a:prstGeom prst="rect">
            <a:avLst/>
          </a:prstGeom>
        </p:spPr>
      </p:pic>
      <p:pic>
        <p:nvPicPr>
          <p:cNvPr id="7" name="图片 6"/>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9583597" y="576960"/>
            <a:ext cx="2283106" cy="1463675"/>
          </a:xfrm>
          <a:prstGeom prst="rect">
            <a:avLst/>
          </a:prstGeom>
        </p:spPr>
      </p:pic>
      <p:grpSp>
        <p:nvGrpSpPr>
          <p:cNvPr id="8" name="组合 7"/>
          <p:cNvGrpSpPr/>
          <p:nvPr/>
        </p:nvGrpSpPr>
        <p:grpSpPr>
          <a:xfrm>
            <a:off x="1467300" y="1192199"/>
            <a:ext cx="9338766" cy="4100857"/>
            <a:chOff x="1467300" y="1306499"/>
            <a:chExt cx="9338766" cy="4100857"/>
          </a:xfrm>
        </p:grpSpPr>
        <p:sp>
          <p:nvSpPr>
            <p:cNvPr id="9" name="文本框 8"/>
            <p:cNvSpPr txBox="1"/>
            <p:nvPr/>
          </p:nvSpPr>
          <p:spPr>
            <a:xfrm>
              <a:off x="5284834" y="1306499"/>
              <a:ext cx="1636666" cy="830997"/>
            </a:xfrm>
            <a:prstGeom prst="rect">
              <a:avLst/>
            </a:prstGeom>
            <a:noFill/>
          </p:spPr>
          <p:txBody>
            <a:bodyPr wrap="square" rtlCol="0">
              <a:spAutoFit/>
            </a:bodyPr>
            <a:lstStyle>
              <a:defPPr>
                <a:defRPr lang="zh-CN"/>
              </a:defPPr>
              <a:lvl1pPr algn="dist">
                <a:defRPr sz="3200">
                  <a:solidFill>
                    <a:srgbClr val="AC0000"/>
                  </a:solidFill>
                  <a:latin typeface="Noto Sans S Chinese Black" panose="020B0A00000000000000" pitchFamily="34" charset="-122"/>
                  <a:ea typeface="Noto Sans S Chinese Black" panose="020B0A00000000000000" pitchFamily="34" charset="-122"/>
                </a:defRPr>
              </a:lvl1pPr>
            </a:lstStyle>
            <a:p>
              <a:r>
                <a:rPr lang="zh-CN" altLang="en-US" sz="4800" dirty="0">
                  <a:solidFill>
                    <a:srgbClr val="840300"/>
                  </a:solidFill>
                  <a:latin typeface="Noto Sans S Chinese Bold" panose="020B0800000000000000" pitchFamily="34" charset="-122"/>
                  <a:ea typeface="Noto Sans S Chinese Bold" panose="020B0800000000000000" pitchFamily="34" charset="-122"/>
                </a:rPr>
                <a:t>前言</a:t>
              </a:r>
              <a:endParaRPr lang="zh-CN" altLang="en-US" sz="4800" dirty="0">
                <a:solidFill>
                  <a:srgbClr val="840300"/>
                </a:solidFill>
                <a:latin typeface="Noto Sans S Chinese Bold" panose="020B0800000000000000" pitchFamily="34" charset="-122"/>
                <a:ea typeface="Noto Sans S Chinese Bold" panose="020B0800000000000000" pitchFamily="34" charset="-122"/>
              </a:endParaRPr>
            </a:p>
          </p:txBody>
        </p:sp>
        <p:grpSp>
          <p:nvGrpSpPr>
            <p:cNvPr id="10" name="组合 9"/>
            <p:cNvGrpSpPr/>
            <p:nvPr/>
          </p:nvGrpSpPr>
          <p:grpSpPr>
            <a:xfrm>
              <a:off x="1562100" y="2549599"/>
              <a:ext cx="9056199" cy="0"/>
              <a:chOff x="646412" y="2307771"/>
              <a:chExt cx="11165217" cy="0"/>
            </a:xfrm>
          </p:grpSpPr>
          <p:cxnSp>
            <p:nvCxnSpPr>
              <p:cNvPr id="19" name="直接连接符 18"/>
              <p:cNvCxnSpPr/>
              <p:nvPr/>
            </p:nvCxnSpPr>
            <p:spPr>
              <a:xfrm>
                <a:off x="646412" y="2307771"/>
                <a:ext cx="4438372" cy="0"/>
              </a:xfrm>
              <a:prstGeom prst="line">
                <a:avLst/>
              </a:prstGeom>
              <a:ln w="22225">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373257" y="2307771"/>
                <a:ext cx="4438372" cy="0"/>
              </a:xfrm>
              <a:prstGeom prst="line">
                <a:avLst/>
              </a:prstGeom>
              <a:ln w="22225">
                <a:solidFill>
                  <a:srgbClr val="840300"/>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5379099" y="2368042"/>
              <a:ext cx="1433801" cy="313333"/>
              <a:chOff x="5221689" y="1909763"/>
              <a:chExt cx="1767706" cy="386302"/>
            </a:xfrm>
            <a:solidFill>
              <a:srgbClr val="B41A1A"/>
            </a:solidFill>
          </p:grpSpPr>
          <p:sp>
            <p:nvSpPr>
              <p:cNvPr id="13" name="星形: 五角 12"/>
              <p:cNvSpPr/>
              <p:nvPr/>
            </p:nvSpPr>
            <p:spPr>
              <a:xfrm>
                <a:off x="5912391" y="1909763"/>
                <a:ext cx="386302" cy="386302"/>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星形: 五角 13"/>
              <p:cNvSpPr/>
              <p:nvPr/>
            </p:nvSpPr>
            <p:spPr>
              <a:xfrm>
                <a:off x="5545087" y="1971676"/>
                <a:ext cx="262477" cy="262477"/>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星形: 五角 14"/>
              <p:cNvSpPr/>
              <p:nvPr/>
            </p:nvSpPr>
            <p:spPr>
              <a:xfrm>
                <a:off x="5221689" y="2008192"/>
                <a:ext cx="189445" cy="189445"/>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flipH="1">
                <a:off x="6403520" y="1971676"/>
                <a:ext cx="585875" cy="262477"/>
                <a:chOff x="5374089" y="2124076"/>
                <a:chExt cx="585875" cy="262477"/>
              </a:xfrm>
              <a:grpFill/>
            </p:grpSpPr>
            <p:sp>
              <p:nvSpPr>
                <p:cNvPr id="17" name="星形: 五角 16"/>
                <p:cNvSpPr/>
                <p:nvPr/>
              </p:nvSpPr>
              <p:spPr>
                <a:xfrm>
                  <a:off x="5697487" y="2124076"/>
                  <a:ext cx="262477" cy="262477"/>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星形: 五角 17"/>
                <p:cNvSpPr/>
                <p:nvPr/>
              </p:nvSpPr>
              <p:spPr>
                <a:xfrm>
                  <a:off x="5374089" y="2160592"/>
                  <a:ext cx="189445" cy="189445"/>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2" name="矩形 11"/>
            <p:cNvSpPr/>
            <p:nvPr/>
          </p:nvSpPr>
          <p:spPr>
            <a:xfrm>
              <a:off x="1467300" y="2870956"/>
              <a:ext cx="9338766" cy="2536400"/>
            </a:xfrm>
            <a:prstGeom prst="rect">
              <a:avLst/>
            </a:prstGeom>
          </p:spPr>
          <p:txBody>
            <a:bodyPr wrap="square">
              <a:spAutoFit/>
            </a:bodyPr>
            <a:lstStyle/>
            <a:p>
              <a:pPr>
                <a:lnSpc>
                  <a:spcPct val="150000"/>
                </a:lnSpc>
              </a:pPr>
              <a:r>
                <a:rPr lang="en-US" altLang="zh-CN" dirty="0">
                  <a:latin typeface="Noto Sans S Chinese Regular" panose="020B0500000000000000" pitchFamily="34" charset="-122"/>
                  <a:ea typeface="Noto Sans S Chinese Regular" panose="020B0500000000000000" pitchFamily="34" charset="-122"/>
                </a:rPr>
                <a:t>      2021</a:t>
              </a:r>
              <a:r>
                <a:rPr lang="zh-CN" altLang="en-US" dirty="0">
                  <a:latin typeface="Noto Sans S Chinese Regular" panose="020B0500000000000000" pitchFamily="34" charset="-122"/>
                  <a:ea typeface="Noto Sans S Chinese Regular" panose="020B0500000000000000" pitchFamily="34" charset="-122"/>
                </a:rPr>
                <a:t>年，既是中国共产党成立百年，也是全面建设社会主义现代化国家新征程的开启之年。百年来的历史证明，中国共产党始终以人民为中心，全心全意为人民服务，带领中国和中国人民从弱小走向强大。习近平总书记出席党史学习教育动员大会并发表重要讲话，对开展好党史学习教育，推动全党深入学习领会习近平新时代中国特色社会主义思想，更好总结历史经验、认识历史规律、掌握历史主动，建设更加强大的马克思主义执政党，奋力夺取新时代中国特色社会主义伟大胜利具有重大指导意义。</a:t>
              </a:r>
              <a:endParaRPr lang="zh-CN" altLang="en-US" dirty="0">
                <a:latin typeface="Noto Sans S Chinese Regular" panose="020B0500000000000000" pitchFamily="34" charset="-122"/>
                <a:ea typeface="Noto Sans S Chinese Regular" panose="020B0500000000000000" pitchFamily="34" charset="-122"/>
              </a:endParaRPr>
            </a:p>
          </p:txBody>
        </p:sp>
      </p:grpSp>
    </p:spTree>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dirty="0"/>
          </a:p>
        </p:txBody>
      </p:sp>
      <p:pic>
        <p:nvPicPr>
          <p:cNvPr id="2" name="图片 1"/>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Layer>
                </a14:imgProps>
              </a:ext>
            </a:extLst>
          </a:blip>
          <a:stretch>
            <a:fillRect/>
          </a:stretch>
        </p:blipFill>
        <p:spPr>
          <a:xfrm>
            <a:off x="0" y="2995314"/>
            <a:ext cx="5779509" cy="3798137"/>
          </a:xfrm>
          <a:prstGeom prst="rect">
            <a:avLst/>
          </a:prstGeom>
        </p:spPr>
      </p:pic>
      <p:grpSp>
        <p:nvGrpSpPr>
          <p:cNvPr id="3" name="组合 2"/>
          <p:cNvGrpSpPr/>
          <p:nvPr/>
        </p:nvGrpSpPr>
        <p:grpSpPr>
          <a:xfrm>
            <a:off x="1632779" y="1352102"/>
            <a:ext cx="2711030" cy="1523518"/>
            <a:chOff x="1215001" y="1298854"/>
            <a:chExt cx="2711030" cy="1523518"/>
          </a:xfrm>
        </p:grpSpPr>
        <p:sp>
          <p:nvSpPr>
            <p:cNvPr id="30" name="矩形 29"/>
            <p:cNvSpPr/>
            <p:nvPr/>
          </p:nvSpPr>
          <p:spPr>
            <a:xfrm>
              <a:off x="1671850" y="1298854"/>
              <a:ext cx="1802782" cy="1015663"/>
            </a:xfrm>
            <a:prstGeom prst="rect">
              <a:avLst/>
            </a:prstGeom>
          </p:spPr>
          <p:txBody>
            <a:bodyPr wrap="square">
              <a:spAutoFit/>
            </a:bodyPr>
            <a:lstStyle/>
            <a:p>
              <a:pPr algn="ctr"/>
              <a:r>
                <a:rPr lang="zh-CN" altLang="en-US" sz="6000" b="1" dirty="0">
                  <a:solidFill>
                    <a:srgbClr val="840300"/>
                  </a:solidFill>
                  <a:latin typeface="Noto Sans S Chinese Medium" panose="020B0600000000000000" pitchFamily="34" charset="-122"/>
                  <a:ea typeface="Noto Sans S Chinese Medium" panose="020B0600000000000000" pitchFamily="34" charset="-122"/>
                </a:rPr>
                <a:t>目录</a:t>
              </a:r>
              <a:endParaRPr lang="zh-CN" altLang="en-US" sz="6000"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31" name="矩形 30"/>
            <p:cNvSpPr/>
            <p:nvPr/>
          </p:nvSpPr>
          <p:spPr>
            <a:xfrm>
              <a:off x="1215001" y="2237597"/>
              <a:ext cx="2711030" cy="584775"/>
            </a:xfrm>
            <a:prstGeom prst="rect">
              <a:avLst/>
            </a:prstGeom>
          </p:spPr>
          <p:txBody>
            <a:bodyPr wrap="square">
              <a:spAutoFit/>
            </a:bodyPr>
            <a:lstStyle/>
            <a:p>
              <a:pPr algn="ctr"/>
              <a:r>
                <a:rPr lang="en-US" altLang="zh-CN" sz="3200" dirty="0">
                  <a:solidFill>
                    <a:srgbClr val="840300"/>
                  </a:solidFill>
                  <a:latin typeface="Noto Sans S Chinese Medium" panose="020B0600000000000000" pitchFamily="34" charset="-122"/>
                  <a:ea typeface="Noto Sans S Chinese Medium" panose="020B0600000000000000" pitchFamily="34" charset="-122"/>
                </a:rPr>
                <a:t>CONTENTS</a:t>
              </a:r>
              <a:endParaRPr lang="zh-CN" altLang="en-US" sz="3200" dirty="0">
                <a:solidFill>
                  <a:srgbClr val="840300"/>
                </a:solidFill>
                <a:latin typeface="Noto Sans S Chinese Medium" panose="020B0600000000000000" pitchFamily="34" charset="-122"/>
                <a:ea typeface="Noto Sans S Chinese Medium" panose="020B0600000000000000" pitchFamily="34" charset="-122"/>
              </a:endParaRPr>
            </a:p>
          </p:txBody>
        </p:sp>
      </p:grpSp>
      <p:grpSp>
        <p:nvGrpSpPr>
          <p:cNvPr id="32" name="组合 31"/>
          <p:cNvGrpSpPr/>
          <p:nvPr/>
        </p:nvGrpSpPr>
        <p:grpSpPr>
          <a:xfrm>
            <a:off x="5584639" y="1502595"/>
            <a:ext cx="5416090" cy="576000"/>
            <a:chOff x="5886450" y="1499635"/>
            <a:chExt cx="5416090" cy="576000"/>
          </a:xfrm>
        </p:grpSpPr>
        <p:sp>
          <p:nvSpPr>
            <p:cNvPr id="33" name="矩形 32"/>
            <p:cNvSpPr/>
            <p:nvPr/>
          </p:nvSpPr>
          <p:spPr>
            <a:xfrm>
              <a:off x="5919851" y="1499635"/>
              <a:ext cx="5345049" cy="576000"/>
            </a:xfrm>
            <a:prstGeom prst="rect">
              <a:avLst/>
            </a:prstGeom>
            <a:noFill/>
            <a:ln w="28575">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p:cNvSpPr/>
            <p:nvPr/>
          </p:nvSpPr>
          <p:spPr>
            <a:xfrm>
              <a:off x="5886450" y="1578594"/>
              <a:ext cx="66801" cy="418081"/>
            </a:xfrm>
            <a:prstGeom prst="roundRect">
              <a:avLst>
                <a:gd name="adj" fmla="val 20149"/>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圆角 34"/>
            <p:cNvSpPr/>
            <p:nvPr/>
          </p:nvSpPr>
          <p:spPr>
            <a:xfrm>
              <a:off x="11235739" y="1578594"/>
              <a:ext cx="66801" cy="418081"/>
            </a:xfrm>
            <a:prstGeom prst="roundRect">
              <a:avLst>
                <a:gd name="adj" fmla="val 20149"/>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40300"/>
                </a:solidFill>
              </a:endParaRPr>
            </a:p>
          </p:txBody>
        </p:sp>
        <p:sp>
          <p:nvSpPr>
            <p:cNvPr id="36" name="矩形: 圆角 35"/>
            <p:cNvSpPr/>
            <p:nvPr/>
          </p:nvSpPr>
          <p:spPr>
            <a:xfrm>
              <a:off x="6215125" y="1499635"/>
              <a:ext cx="736172" cy="576000"/>
            </a:xfrm>
            <a:prstGeom prst="roundRect">
              <a:avLst>
                <a:gd name="adj" fmla="val 0"/>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6189351" y="1526024"/>
              <a:ext cx="725714" cy="523220"/>
            </a:xfrm>
            <a:prstGeom prst="rect">
              <a:avLst/>
            </a:prstGeom>
            <a:noFill/>
          </p:spPr>
          <p:txBody>
            <a:bodyPr wrap="square" rtlCol="0">
              <a:spAutoFit/>
            </a:bodyP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sp>
          <p:nvSpPr>
            <p:cNvPr id="38" name="矩形 37"/>
            <p:cNvSpPr/>
            <p:nvPr/>
          </p:nvSpPr>
          <p:spPr>
            <a:xfrm>
              <a:off x="7151165" y="1552692"/>
              <a:ext cx="4147136" cy="461665"/>
            </a:xfrm>
            <a:prstGeom prst="rect">
              <a:avLst/>
            </a:prstGeom>
          </p:spPr>
          <p:txBody>
            <a:bodyPr wrap="square">
              <a:spAutoFit/>
            </a:bodyPr>
            <a:lstStyle/>
            <a:p>
              <a:r>
                <a:rPr lang="zh-CN" altLang="en-US" sz="2400" b="1" dirty="0">
                  <a:solidFill>
                    <a:srgbClr val="840300"/>
                  </a:solidFill>
                  <a:latin typeface="Arial" panose="020B0604020202020204" pitchFamily="34" charset="0"/>
                </a:rPr>
                <a:t>回顾中国共产党百年辉煌</a:t>
              </a:r>
              <a:endParaRPr lang="zh-CN" altLang="en-US" sz="2400" b="1" dirty="0">
                <a:solidFill>
                  <a:srgbClr val="840300"/>
                </a:solidFill>
                <a:latin typeface="Arial" panose="020B0604020202020204" pitchFamily="34" charset="0"/>
              </a:endParaRPr>
            </a:p>
          </p:txBody>
        </p:sp>
      </p:grpSp>
      <p:grpSp>
        <p:nvGrpSpPr>
          <p:cNvPr id="39" name="组合 38"/>
          <p:cNvGrpSpPr/>
          <p:nvPr/>
        </p:nvGrpSpPr>
        <p:grpSpPr>
          <a:xfrm>
            <a:off x="5584639" y="2602794"/>
            <a:ext cx="5416090" cy="576000"/>
            <a:chOff x="5886450" y="1499635"/>
            <a:chExt cx="5416090" cy="576000"/>
          </a:xfrm>
        </p:grpSpPr>
        <p:sp>
          <p:nvSpPr>
            <p:cNvPr id="40" name="矩形 39"/>
            <p:cNvSpPr/>
            <p:nvPr/>
          </p:nvSpPr>
          <p:spPr>
            <a:xfrm>
              <a:off x="5919851" y="1499635"/>
              <a:ext cx="5345049" cy="576000"/>
            </a:xfrm>
            <a:prstGeom prst="rect">
              <a:avLst/>
            </a:prstGeom>
            <a:noFill/>
            <a:ln w="28575">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p:cNvSpPr/>
            <p:nvPr/>
          </p:nvSpPr>
          <p:spPr>
            <a:xfrm>
              <a:off x="5886450" y="1578594"/>
              <a:ext cx="66801" cy="418081"/>
            </a:xfrm>
            <a:prstGeom prst="roundRect">
              <a:avLst>
                <a:gd name="adj" fmla="val 20149"/>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11235739" y="1578594"/>
              <a:ext cx="66801" cy="418081"/>
            </a:xfrm>
            <a:prstGeom prst="roundRect">
              <a:avLst>
                <a:gd name="adj" fmla="val 20149"/>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p:nvSpPr>
          <p:spPr>
            <a:xfrm>
              <a:off x="6215125" y="1499635"/>
              <a:ext cx="736172" cy="576000"/>
            </a:xfrm>
            <a:prstGeom prst="roundRect">
              <a:avLst>
                <a:gd name="adj" fmla="val 0"/>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6189351" y="1526024"/>
              <a:ext cx="725714" cy="523220"/>
            </a:xfrm>
            <a:prstGeom prst="rect">
              <a:avLst/>
            </a:prstGeom>
            <a:noFill/>
          </p:spPr>
          <p:txBody>
            <a:bodyPr wrap="square" rtlCol="0">
              <a:spAutoFit/>
            </a:bodyP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sp>
          <p:nvSpPr>
            <p:cNvPr id="45" name="矩形 44"/>
            <p:cNvSpPr/>
            <p:nvPr/>
          </p:nvSpPr>
          <p:spPr>
            <a:xfrm>
              <a:off x="7151164" y="1552692"/>
              <a:ext cx="3656595" cy="461665"/>
            </a:xfrm>
            <a:prstGeom prst="rect">
              <a:avLst/>
            </a:prstGeom>
          </p:spPr>
          <p:txBody>
            <a:bodyPr wrap="square">
              <a:spAutoFit/>
            </a:bodyPr>
            <a:lstStyle/>
            <a:p>
              <a:r>
                <a:rPr lang="zh-CN" altLang="en-US" sz="2400" b="1" dirty="0">
                  <a:solidFill>
                    <a:srgbClr val="840300"/>
                  </a:solidFill>
                  <a:latin typeface="Arial" panose="020B0604020202020204" pitchFamily="34" charset="0"/>
                </a:rPr>
                <a:t>中国共产党百年历史总结</a:t>
              </a:r>
              <a:endParaRPr lang="zh-CN" altLang="en-US" sz="2400" b="1" dirty="0">
                <a:solidFill>
                  <a:srgbClr val="840300"/>
                </a:solidFill>
                <a:latin typeface="Arial" panose="020B0604020202020204" pitchFamily="34" charset="0"/>
              </a:endParaRPr>
            </a:p>
          </p:txBody>
        </p:sp>
      </p:grpSp>
      <p:grpSp>
        <p:nvGrpSpPr>
          <p:cNvPr id="46" name="组合 45"/>
          <p:cNvGrpSpPr/>
          <p:nvPr/>
        </p:nvGrpSpPr>
        <p:grpSpPr>
          <a:xfrm>
            <a:off x="5584639" y="3702993"/>
            <a:ext cx="5416090" cy="576000"/>
            <a:chOff x="5886450" y="1499635"/>
            <a:chExt cx="5416090" cy="576000"/>
          </a:xfrm>
        </p:grpSpPr>
        <p:sp>
          <p:nvSpPr>
            <p:cNvPr id="47" name="矩形 46"/>
            <p:cNvSpPr/>
            <p:nvPr/>
          </p:nvSpPr>
          <p:spPr>
            <a:xfrm>
              <a:off x="5919851" y="1499635"/>
              <a:ext cx="5345049" cy="576000"/>
            </a:xfrm>
            <a:prstGeom prst="rect">
              <a:avLst/>
            </a:prstGeom>
            <a:noFill/>
            <a:ln w="28575">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47"/>
            <p:cNvSpPr/>
            <p:nvPr/>
          </p:nvSpPr>
          <p:spPr>
            <a:xfrm>
              <a:off x="5886450" y="1578594"/>
              <a:ext cx="66801" cy="418081"/>
            </a:xfrm>
            <a:prstGeom prst="roundRect">
              <a:avLst>
                <a:gd name="adj" fmla="val 20149"/>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p:cNvSpPr/>
            <p:nvPr/>
          </p:nvSpPr>
          <p:spPr>
            <a:xfrm>
              <a:off x="11235739" y="1578594"/>
              <a:ext cx="66801" cy="418081"/>
            </a:xfrm>
            <a:prstGeom prst="roundRect">
              <a:avLst>
                <a:gd name="adj" fmla="val 20149"/>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圆角 49"/>
            <p:cNvSpPr/>
            <p:nvPr/>
          </p:nvSpPr>
          <p:spPr>
            <a:xfrm>
              <a:off x="6215125" y="1499635"/>
              <a:ext cx="736172" cy="576000"/>
            </a:xfrm>
            <a:prstGeom prst="roundRect">
              <a:avLst>
                <a:gd name="adj" fmla="val 0"/>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6189351" y="1526024"/>
              <a:ext cx="725714" cy="523220"/>
            </a:xfrm>
            <a:prstGeom prst="rect">
              <a:avLst/>
            </a:prstGeom>
            <a:noFill/>
          </p:spPr>
          <p:txBody>
            <a:bodyPr wrap="square" rtlCol="0">
              <a:spAutoFit/>
            </a:bodyPr>
            <a:lstStyle/>
            <a:p>
              <a:pPr algn="ctr"/>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sp>
          <p:nvSpPr>
            <p:cNvPr id="52" name="矩形 51"/>
            <p:cNvSpPr/>
            <p:nvPr/>
          </p:nvSpPr>
          <p:spPr>
            <a:xfrm>
              <a:off x="7151164" y="1552692"/>
              <a:ext cx="3980133" cy="461665"/>
            </a:xfrm>
            <a:prstGeom prst="rect">
              <a:avLst/>
            </a:prstGeom>
          </p:spPr>
          <p:txBody>
            <a:bodyPr wrap="square">
              <a:spAutoFit/>
            </a:bodyPr>
            <a:lstStyle/>
            <a:p>
              <a:r>
                <a:rPr lang="zh-CN" altLang="en-US" sz="2400" b="1" dirty="0">
                  <a:solidFill>
                    <a:srgbClr val="840300"/>
                  </a:solidFill>
                  <a:latin typeface="Arial" panose="020B0604020202020204" pitchFamily="34" charset="0"/>
                </a:rPr>
                <a:t>中国共产党百年伟大贡献</a:t>
              </a:r>
              <a:endParaRPr lang="zh-CN" altLang="en-US" sz="2400" b="1" dirty="0">
                <a:solidFill>
                  <a:srgbClr val="840300"/>
                </a:solidFill>
                <a:latin typeface="Arial" panose="020B0604020202020204" pitchFamily="34" charset="0"/>
              </a:endParaRPr>
            </a:p>
          </p:txBody>
        </p:sp>
      </p:grpSp>
      <p:grpSp>
        <p:nvGrpSpPr>
          <p:cNvPr id="53" name="组合 52"/>
          <p:cNvGrpSpPr/>
          <p:nvPr/>
        </p:nvGrpSpPr>
        <p:grpSpPr>
          <a:xfrm>
            <a:off x="5584639" y="4803192"/>
            <a:ext cx="5416090" cy="576000"/>
            <a:chOff x="5886450" y="1499635"/>
            <a:chExt cx="5416090" cy="576000"/>
          </a:xfrm>
        </p:grpSpPr>
        <p:sp>
          <p:nvSpPr>
            <p:cNvPr id="54" name="矩形 53"/>
            <p:cNvSpPr/>
            <p:nvPr/>
          </p:nvSpPr>
          <p:spPr>
            <a:xfrm>
              <a:off x="5919851" y="1499635"/>
              <a:ext cx="5345049" cy="576000"/>
            </a:xfrm>
            <a:prstGeom prst="rect">
              <a:avLst/>
            </a:prstGeom>
            <a:noFill/>
            <a:ln w="28575">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p:cNvSpPr/>
            <p:nvPr/>
          </p:nvSpPr>
          <p:spPr>
            <a:xfrm>
              <a:off x="5886450" y="1578594"/>
              <a:ext cx="66801" cy="418081"/>
            </a:xfrm>
            <a:prstGeom prst="roundRect">
              <a:avLst>
                <a:gd name="adj" fmla="val 20149"/>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矩形: 圆角 55"/>
            <p:cNvSpPr/>
            <p:nvPr/>
          </p:nvSpPr>
          <p:spPr>
            <a:xfrm>
              <a:off x="11235739" y="1578594"/>
              <a:ext cx="66801" cy="418081"/>
            </a:xfrm>
            <a:prstGeom prst="roundRect">
              <a:avLst>
                <a:gd name="adj" fmla="val 20149"/>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圆角 56"/>
            <p:cNvSpPr/>
            <p:nvPr/>
          </p:nvSpPr>
          <p:spPr>
            <a:xfrm>
              <a:off x="6215125" y="1499635"/>
              <a:ext cx="736172" cy="576000"/>
            </a:xfrm>
            <a:prstGeom prst="roundRect">
              <a:avLst>
                <a:gd name="adj" fmla="val 0"/>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文本框 57"/>
            <p:cNvSpPr txBox="1"/>
            <p:nvPr/>
          </p:nvSpPr>
          <p:spPr>
            <a:xfrm>
              <a:off x="6189351" y="1526024"/>
              <a:ext cx="725714" cy="523220"/>
            </a:xfrm>
            <a:prstGeom prst="rect">
              <a:avLst/>
            </a:prstGeom>
            <a:noFill/>
          </p:spPr>
          <p:txBody>
            <a:bodyPr wrap="square" rtlCol="0">
              <a:spAutoFit/>
            </a:bodyP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sp>
          <p:nvSpPr>
            <p:cNvPr id="59" name="矩形 58"/>
            <p:cNvSpPr/>
            <p:nvPr/>
          </p:nvSpPr>
          <p:spPr>
            <a:xfrm>
              <a:off x="7151165" y="1552692"/>
              <a:ext cx="3799596" cy="461665"/>
            </a:xfrm>
            <a:prstGeom prst="rect">
              <a:avLst/>
            </a:prstGeom>
          </p:spPr>
          <p:txBody>
            <a:bodyPr wrap="square">
              <a:spAutoFit/>
            </a:bodyPr>
            <a:lstStyle/>
            <a:p>
              <a:r>
                <a:rPr lang="zh-CN" altLang="en-US" sz="2400" b="1" dirty="0">
                  <a:solidFill>
                    <a:srgbClr val="840300"/>
                  </a:solidFill>
                  <a:latin typeface="Arial" panose="020B0604020202020204" pitchFamily="34" charset="0"/>
                </a:rPr>
                <a:t>开展党史学习的重大意义</a:t>
              </a:r>
              <a:endParaRPr lang="zh-CN" altLang="en-US" sz="2400" b="1" dirty="0">
                <a:solidFill>
                  <a:srgbClr val="840300"/>
                </a:solidFill>
                <a:latin typeface="Arial" panose="020B0604020202020204" pitchFamily="34" charset="0"/>
              </a:endParaRPr>
            </a:p>
          </p:txBody>
        </p:sp>
      </p:grpSp>
    </p:spTree>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52404" y="138321"/>
            <a:ext cx="11898321" cy="6714889"/>
            <a:chOff x="152405" y="138321"/>
            <a:chExt cx="11898320" cy="6714889"/>
          </a:xfrm>
        </p:grpSpPr>
        <p:sp>
          <p:nvSpPr>
            <p:cNvPr id="12" name="任意多边形: 形状 11"/>
            <p:cNvSpPr/>
            <p:nvPr/>
          </p:nvSpPr>
          <p:spPr>
            <a:xfrm>
              <a:off x="152405" y="138321"/>
              <a:ext cx="11898320"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8" name="任意多边形: 形状 7"/>
            <p:cNvSpPr/>
            <p:nvPr/>
          </p:nvSpPr>
          <p:spPr>
            <a:xfrm>
              <a:off x="152405" y="6481493"/>
              <a:ext cx="11898319" cy="311958"/>
            </a:xfrm>
            <a:custGeom>
              <a:avLst/>
              <a:gdLst>
                <a:gd name="connsiteX0" fmla="*/ 0 w 4573721"/>
                <a:gd name="connsiteY0" fmla="*/ 0 h 240110"/>
                <a:gd name="connsiteX1" fmla="*/ 4573722 w 4573721"/>
                <a:gd name="connsiteY1" fmla="*/ 0 h 240110"/>
                <a:gd name="connsiteX2" fmla="*/ 4573722 w 4573721"/>
                <a:gd name="connsiteY2" fmla="*/ 240111 h 240110"/>
                <a:gd name="connsiteX3" fmla="*/ 0 w 4573721"/>
                <a:gd name="connsiteY3" fmla="*/ 240111 h 240110"/>
              </a:gdLst>
              <a:ahLst/>
              <a:cxnLst>
                <a:cxn ang="0">
                  <a:pos x="connsiteX0" y="connsiteY0"/>
                </a:cxn>
                <a:cxn ang="0">
                  <a:pos x="connsiteX1" y="connsiteY1"/>
                </a:cxn>
                <a:cxn ang="0">
                  <a:pos x="connsiteX2" y="connsiteY2"/>
                </a:cxn>
                <a:cxn ang="0">
                  <a:pos x="connsiteX3" y="connsiteY3"/>
                </a:cxn>
              </a:cxnLst>
              <a:rect l="l" t="t" r="r" b="b"/>
              <a:pathLst>
                <a:path w="4573721" h="240110">
                  <a:moveTo>
                    <a:pt x="0" y="0"/>
                  </a:moveTo>
                  <a:lnTo>
                    <a:pt x="4573722" y="0"/>
                  </a:lnTo>
                  <a:lnTo>
                    <a:pt x="4573722" y="240111"/>
                  </a:lnTo>
                  <a:lnTo>
                    <a:pt x="0" y="240111"/>
                  </a:lnTo>
                  <a:close/>
                </a:path>
              </a:pathLst>
            </a:custGeom>
            <a:solidFill>
              <a:srgbClr val="840300"/>
            </a:solidFill>
            <a:ln w="5379" cap="flat">
              <a:noFill/>
              <a:prstDash val="solid"/>
              <a:miter/>
            </a:ln>
          </p:spPr>
          <p:txBody>
            <a:bodyPr rtlCol="0" anchor="ctr"/>
            <a:lstStyle/>
            <a:p>
              <a:endParaRPr lang="zh-CN" altLang="en-US"/>
            </a:p>
          </p:txBody>
        </p:sp>
        <p:pic>
          <p:nvPicPr>
            <p:cNvPr id="9" name="图片 8"/>
            <p:cNvPicPr>
              <a:picLocks noChangeAspect="1"/>
            </p:cNvPicPr>
            <p:nvPr/>
          </p:nvPicPr>
          <p:blipFill>
            <a:blip r:embed="rId1"/>
            <a:stretch>
              <a:fillRect/>
            </a:stretch>
          </p:blipFill>
          <p:spPr>
            <a:xfrm>
              <a:off x="2908301" y="4949370"/>
              <a:ext cx="6375397" cy="1595016"/>
            </a:xfrm>
            <a:custGeom>
              <a:avLst/>
              <a:gdLst>
                <a:gd name="connsiteX0" fmla="*/ -756 w 4573721"/>
                <a:gd name="connsiteY0" fmla="*/ 809 h 1227662"/>
                <a:gd name="connsiteX1" fmla="*/ 4572966 w 4573721"/>
                <a:gd name="connsiteY1" fmla="*/ 809 h 1227662"/>
                <a:gd name="connsiteX2" fmla="*/ 4572966 w 4573721"/>
                <a:gd name="connsiteY2" fmla="*/ 1228471 h 1227662"/>
                <a:gd name="connsiteX3" fmla="*/ -756 w 4573721"/>
                <a:gd name="connsiteY3" fmla="*/ 1228471 h 1227662"/>
              </a:gdLst>
              <a:ahLst/>
              <a:cxnLst>
                <a:cxn ang="0">
                  <a:pos x="connsiteX0" y="connsiteY0"/>
                </a:cxn>
                <a:cxn ang="0">
                  <a:pos x="connsiteX1" y="connsiteY1"/>
                </a:cxn>
                <a:cxn ang="0">
                  <a:pos x="connsiteX2" y="connsiteY2"/>
                </a:cxn>
                <a:cxn ang="0">
                  <a:pos x="connsiteX3" y="connsiteY3"/>
                </a:cxn>
              </a:cxnLst>
              <a:rect l="l" t="t" r="r" b="b"/>
              <a:pathLst>
                <a:path w="4573721" h="1227662">
                  <a:moveTo>
                    <a:pt x="-756" y="809"/>
                  </a:moveTo>
                  <a:lnTo>
                    <a:pt x="4572966" y="809"/>
                  </a:lnTo>
                  <a:lnTo>
                    <a:pt x="4572966" y="1228471"/>
                  </a:lnTo>
                  <a:lnTo>
                    <a:pt x="-756" y="1228471"/>
                  </a:lnTo>
                  <a:close/>
                </a:path>
              </a:pathLst>
            </a:custGeom>
          </p:spPr>
        </p:pic>
        <p:sp>
          <p:nvSpPr>
            <p:cNvPr id="7" name="任意多边形: 形状 6"/>
            <p:cNvSpPr/>
            <p:nvPr/>
          </p:nvSpPr>
          <p:spPr>
            <a:xfrm>
              <a:off x="5941377" y="6481493"/>
              <a:ext cx="309244" cy="371717"/>
            </a:xfrm>
            <a:custGeom>
              <a:avLst/>
              <a:gdLst>
                <a:gd name="connsiteX0" fmla="*/ 154622 w 309244"/>
                <a:gd name="connsiteY0" fmla="*/ 0 h 371717"/>
                <a:gd name="connsiteX1" fmla="*/ 309244 w 309244"/>
                <a:gd name="connsiteY1" fmla="*/ 154622 h 371717"/>
                <a:gd name="connsiteX2" fmla="*/ 309244 w 309244"/>
                <a:gd name="connsiteY2" fmla="*/ 371717 h 371717"/>
                <a:gd name="connsiteX3" fmla="*/ 0 w 309244"/>
                <a:gd name="connsiteY3" fmla="*/ 371717 h 371717"/>
                <a:gd name="connsiteX4" fmla="*/ 0 w 309244"/>
                <a:gd name="connsiteY4" fmla="*/ 154622 h 371717"/>
                <a:gd name="connsiteX5" fmla="*/ 154622 w 309244"/>
                <a:gd name="connsiteY5" fmla="*/ 0 h 37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244" h="371717">
                  <a:moveTo>
                    <a:pt x="154622" y="0"/>
                  </a:moveTo>
                  <a:cubicBezTo>
                    <a:pt x="240017" y="0"/>
                    <a:pt x="309244" y="69227"/>
                    <a:pt x="309244" y="154622"/>
                  </a:cubicBezTo>
                  <a:lnTo>
                    <a:pt x="309244" y="371717"/>
                  </a:lnTo>
                  <a:lnTo>
                    <a:pt x="0" y="371717"/>
                  </a:lnTo>
                  <a:lnTo>
                    <a:pt x="0" y="154622"/>
                  </a:lnTo>
                  <a:cubicBezTo>
                    <a:pt x="0" y="69227"/>
                    <a:pt x="69227" y="0"/>
                    <a:pt x="154622"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22" name="组合 21"/>
          <p:cNvGrpSpPr/>
          <p:nvPr/>
        </p:nvGrpSpPr>
        <p:grpSpPr>
          <a:xfrm>
            <a:off x="5006867" y="1618219"/>
            <a:ext cx="2179951" cy="536119"/>
            <a:chOff x="5013290" y="1820631"/>
            <a:chExt cx="2179951" cy="536119"/>
          </a:xfrm>
        </p:grpSpPr>
        <p:sp>
          <p:nvSpPr>
            <p:cNvPr id="6" name="星形: 五角 5"/>
            <p:cNvSpPr/>
            <p:nvPr/>
          </p:nvSpPr>
          <p:spPr>
            <a:xfrm>
              <a:off x="5834290" y="1820631"/>
              <a:ext cx="536119" cy="536119"/>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星形: 五角 15"/>
            <p:cNvSpPr/>
            <p:nvPr/>
          </p:nvSpPr>
          <p:spPr>
            <a:xfrm>
              <a:off x="6440900" y="1908630"/>
              <a:ext cx="374334" cy="374334"/>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p:cNvSpPr/>
            <p:nvPr/>
          </p:nvSpPr>
          <p:spPr>
            <a:xfrm>
              <a:off x="6898425" y="1948389"/>
              <a:ext cx="294816" cy="294816"/>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flipH="1">
              <a:off x="5013290" y="1905594"/>
              <a:ext cx="752341" cy="374334"/>
              <a:chOff x="6593300" y="2061030"/>
              <a:chExt cx="752341" cy="374334"/>
            </a:xfrm>
            <a:solidFill>
              <a:srgbClr val="840300"/>
            </a:solidFill>
          </p:grpSpPr>
          <p:sp>
            <p:nvSpPr>
              <p:cNvPr id="19" name="星形: 五角 18"/>
              <p:cNvSpPr/>
              <p:nvPr/>
            </p:nvSpPr>
            <p:spPr>
              <a:xfrm>
                <a:off x="6593300" y="2061030"/>
                <a:ext cx="374334" cy="374334"/>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星形: 五角 19"/>
              <p:cNvSpPr/>
              <p:nvPr/>
            </p:nvSpPr>
            <p:spPr>
              <a:xfrm>
                <a:off x="7050825" y="2100789"/>
                <a:ext cx="294816" cy="294816"/>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0" name="组合 29"/>
          <p:cNvGrpSpPr/>
          <p:nvPr/>
        </p:nvGrpSpPr>
        <p:grpSpPr>
          <a:xfrm>
            <a:off x="2641526" y="1908630"/>
            <a:ext cx="6908948" cy="2351995"/>
            <a:chOff x="2650133" y="1967722"/>
            <a:chExt cx="6908948" cy="2351995"/>
          </a:xfrm>
        </p:grpSpPr>
        <p:sp>
          <p:nvSpPr>
            <p:cNvPr id="32" name="文本框 90"/>
            <p:cNvSpPr txBox="1"/>
            <p:nvPr/>
          </p:nvSpPr>
          <p:spPr>
            <a:xfrm>
              <a:off x="2650281" y="2437851"/>
              <a:ext cx="6908800" cy="800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600" b="1" dirty="0">
                  <a:solidFill>
                    <a:srgbClr val="840300"/>
                  </a:solidFill>
                  <a:latin typeface="Noto Sans S Chinese Medium" panose="020B0600000000000000" pitchFamily="34" charset="-122"/>
                  <a:ea typeface="Noto Sans S Chinese Medium" panose="020B0600000000000000" pitchFamily="34" charset="-122"/>
                </a:rPr>
                <a:t>回顾中国共产党百年辉煌</a:t>
              </a:r>
              <a:endParaRPr lang="zh-CN" altLang="en-US" sz="4600" b="1" dirty="0">
                <a:solidFill>
                  <a:srgbClr val="840300"/>
                </a:solidFill>
                <a:latin typeface="Noto Sans S Chinese Medium" panose="020B0600000000000000" pitchFamily="34" charset="-122"/>
                <a:ea typeface="Noto Sans S Chinese Medium" panose="020B0600000000000000" pitchFamily="34" charset="-122"/>
              </a:endParaRPr>
            </a:p>
          </p:txBody>
        </p:sp>
        <p:cxnSp>
          <p:nvCxnSpPr>
            <p:cNvPr id="38" name="直接连接符 37"/>
            <p:cNvCxnSpPr/>
            <p:nvPr/>
          </p:nvCxnSpPr>
          <p:spPr>
            <a:xfrm>
              <a:off x="2650133" y="4319717"/>
              <a:ext cx="6908800"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2672297" y="3232397"/>
              <a:ext cx="6873532" cy="70487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从</a:t>
              </a:r>
              <a:r>
                <a:rPr lang="en-US" altLang="zh-CN" sz="1400" b="0" i="0" dirty="0">
                  <a:solidFill>
                    <a:srgbClr val="840300"/>
                  </a:solidFill>
                  <a:effectLst/>
                  <a:latin typeface="Noto Sans S Chinese Medium" panose="020B0600000000000000" pitchFamily="34" charset="-122"/>
                  <a:ea typeface="Noto Sans S Chinese Medium" panose="020B0600000000000000" pitchFamily="34" charset="-122"/>
                </a:rPr>
                <a:t>1921</a:t>
              </a: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年到</a:t>
              </a:r>
              <a:r>
                <a:rPr lang="en-US" altLang="zh-CN" sz="1400" b="0" i="0" dirty="0">
                  <a:solidFill>
                    <a:srgbClr val="840300"/>
                  </a:solidFill>
                  <a:effectLst/>
                  <a:latin typeface="Noto Sans S Chinese Medium" panose="020B0600000000000000" pitchFamily="34" charset="-122"/>
                  <a:ea typeface="Noto Sans S Chinese Medium" panose="020B0600000000000000" pitchFamily="34" charset="-122"/>
                </a:rPr>
                <a:t>2021</a:t>
              </a: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年，中国共产党走过了整整一百年的历程。这是苦难中铸就辉煌、挫折后毅然奋起、探索中收获成功、转折中开创新局、奋斗后赢得未来的百年。</a:t>
              </a:r>
              <a:endParaRPr lang="zh-CN" altLang="en-US" sz="1400" dirty="0">
                <a:solidFill>
                  <a:srgbClr val="840300"/>
                </a:solidFill>
                <a:latin typeface="Noto Sans S Chinese Medium" panose="020B0600000000000000" pitchFamily="34" charset="-122"/>
                <a:ea typeface="Noto Sans S Chinese Medium" panose="020B0600000000000000" pitchFamily="34" charset="-122"/>
              </a:endParaRPr>
            </a:p>
          </p:txBody>
        </p:sp>
        <p:cxnSp>
          <p:nvCxnSpPr>
            <p:cNvPr id="46" name="直接连接符 45"/>
            <p:cNvCxnSpPr/>
            <p:nvPr/>
          </p:nvCxnSpPr>
          <p:spPr>
            <a:xfrm>
              <a:off x="2650133" y="1967722"/>
              <a:ext cx="2253171"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7305762" y="1967722"/>
              <a:ext cx="2253171"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回顾中国共产党百年辉煌</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80188" y="1236001"/>
            <a:ext cx="7812912" cy="576000"/>
            <a:chOff x="1047749" y="1236000"/>
            <a:chExt cx="7812912" cy="576000"/>
          </a:xfrm>
        </p:grpSpPr>
        <p:grpSp>
          <p:nvGrpSpPr>
            <p:cNvPr id="16" name="组合 15"/>
            <p:cNvGrpSpPr/>
            <p:nvPr/>
          </p:nvGrpSpPr>
          <p:grpSpPr>
            <a:xfrm>
              <a:off x="1047749" y="1236000"/>
              <a:ext cx="7812912" cy="576000"/>
              <a:chOff x="1047749" y="1236000"/>
              <a:chExt cx="7812912" cy="576000"/>
            </a:xfrm>
          </p:grpSpPr>
          <p:sp>
            <p:nvSpPr>
              <p:cNvPr id="19" name="矩形: 圆角 18"/>
              <p:cNvSpPr/>
              <p:nvPr/>
            </p:nvSpPr>
            <p:spPr>
              <a:xfrm>
                <a:off x="1047749" y="1236000"/>
                <a:ext cx="1780796" cy="576000"/>
              </a:xfrm>
              <a:prstGeom prst="roundRect">
                <a:avLst>
                  <a:gd name="adj" fmla="val 50000"/>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2950721" y="1236000"/>
                <a:ext cx="5909940" cy="576000"/>
              </a:xfrm>
              <a:prstGeom prst="roundRect">
                <a:avLst>
                  <a:gd name="adj" fmla="val 50000"/>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2063115" y="1524000"/>
                <a:ext cx="1009650" cy="0"/>
              </a:xfrm>
              <a:prstGeom prst="line">
                <a:avLst/>
              </a:prstGeom>
              <a:ln w="38100">
                <a:solidFill>
                  <a:srgbClr val="8403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1321182" y="1326634"/>
              <a:ext cx="1233930" cy="400110"/>
            </a:xfrm>
            <a:prstGeom prst="rect">
              <a:avLst/>
            </a:prstGeom>
            <a:noFill/>
          </p:spPr>
          <p:txBody>
            <a:bodyPr wrap="square">
              <a:spAutoFit/>
            </a:bodyPr>
            <a:lstStyle>
              <a:defPPr>
                <a:defRPr lang="zh-CN"/>
              </a:defPPr>
              <a:lvl1pPr>
                <a:defRPr b="1" i="0">
                  <a:solidFill>
                    <a:srgbClr val="333333"/>
                  </a:solidFill>
                  <a:effectLst/>
                  <a:latin typeface="微软雅黑" panose="020B0503020204020204" pitchFamily="34" charset="-122"/>
                  <a:ea typeface="微软雅黑" panose="020B0503020204020204" pitchFamily="34" charset="-122"/>
                </a:defRPr>
              </a:lvl1pPr>
            </a:lstStyle>
            <a:p>
              <a:pPr algn="dist"/>
              <a:r>
                <a:rPr lang="zh-CN" altLang="en-US" sz="2000" dirty="0">
                  <a:solidFill>
                    <a:schemeClr val="bg1"/>
                  </a:solidFill>
                </a:rPr>
                <a:t>开天辟地</a:t>
              </a:r>
              <a:endParaRPr lang="zh-CN" altLang="en-US" sz="2000" dirty="0">
                <a:solidFill>
                  <a:schemeClr val="bg1"/>
                </a:solidFill>
              </a:endParaRPr>
            </a:p>
          </p:txBody>
        </p:sp>
        <p:sp>
          <p:nvSpPr>
            <p:cNvPr id="18" name="文本框 17"/>
            <p:cNvSpPr txBox="1"/>
            <p:nvPr/>
          </p:nvSpPr>
          <p:spPr>
            <a:xfrm>
              <a:off x="3335145" y="1339334"/>
              <a:ext cx="5258816" cy="369332"/>
            </a:xfrm>
            <a:prstGeom prst="rect">
              <a:avLst/>
            </a:prstGeom>
            <a:noFill/>
          </p:spPr>
          <p:txBody>
            <a:bodyPr wrap="square">
              <a:spAutoFit/>
            </a:bodyPr>
            <a:lstStyle>
              <a:defPPr>
                <a:defRPr lang="zh-CN"/>
              </a:defPPr>
              <a:lvl1pPr>
                <a:defRPr b="1" i="0">
                  <a:solidFill>
                    <a:srgbClr val="333333"/>
                  </a:solidFill>
                  <a:effectLst/>
                  <a:latin typeface="微软雅黑" panose="020B0503020204020204" pitchFamily="34" charset="-122"/>
                  <a:ea typeface="微软雅黑" panose="020B0503020204020204" pitchFamily="34" charset="-122"/>
                </a:defRPr>
              </a:lvl1pPr>
            </a:lstStyle>
            <a:p>
              <a:pPr algn="dist"/>
              <a:r>
                <a:rPr lang="zh-CN" altLang="en-US" dirty="0">
                  <a:solidFill>
                    <a:schemeClr val="tx1"/>
                  </a:solidFill>
                </a:rPr>
                <a:t>中国共产党在新民主主义革命时期完成救国大业</a:t>
              </a:r>
              <a:endParaRPr lang="zh-CN" altLang="en-US" dirty="0">
                <a:solidFill>
                  <a:schemeClr val="tx1"/>
                </a:solidFill>
              </a:endParaRPr>
            </a:p>
          </p:txBody>
        </p:sp>
      </p:grpSp>
      <p:sp>
        <p:nvSpPr>
          <p:cNvPr id="22" name="矩形: 圆角 21"/>
          <p:cNvSpPr/>
          <p:nvPr/>
        </p:nvSpPr>
        <p:spPr>
          <a:xfrm>
            <a:off x="487792" y="2100000"/>
            <a:ext cx="11232000" cy="4117085"/>
          </a:xfrm>
          <a:prstGeom prst="roundRect">
            <a:avLst>
              <a:gd name="adj" fmla="val 2931"/>
            </a:avLst>
          </a:prstGeom>
          <a:noFill/>
          <a:ln w="1270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60852" y="2282068"/>
            <a:ext cx="10485879" cy="3737754"/>
          </a:xfrm>
          <a:prstGeom prst="rect">
            <a:avLst/>
          </a:prstGeom>
        </p:spPr>
        <p:txBody>
          <a:bodyPr wrap="square">
            <a:spAutoFit/>
          </a:bodyPr>
          <a:lstStyle/>
          <a:p>
            <a:pPr>
              <a:lnSpc>
                <a:spcPct val="150000"/>
              </a:lnSpc>
            </a:pPr>
            <a:r>
              <a:rPr lang="zh-CN" altLang="en-US" sz="2000" dirty="0">
                <a:latin typeface="Noto Sans S Chinese Regular" panose="020B0500000000000000" pitchFamily="34" charset="-122"/>
                <a:ea typeface="Noto Sans S Chinese Regular" panose="020B0500000000000000" pitchFamily="34" charset="-122"/>
              </a:rPr>
              <a:t>        </a:t>
            </a:r>
            <a:r>
              <a:rPr lang="en-US" altLang="zh-CN" sz="2000" dirty="0">
                <a:latin typeface="Noto Sans S Chinese Regular" panose="020B0500000000000000" pitchFamily="34" charset="-122"/>
                <a:ea typeface="Noto Sans S Chinese Regular" panose="020B0500000000000000" pitchFamily="34" charset="-122"/>
              </a:rPr>
              <a:t>1921</a:t>
            </a:r>
            <a:r>
              <a:rPr lang="zh-CN" altLang="en-US" sz="2000" dirty="0">
                <a:latin typeface="Noto Sans S Chinese Regular" panose="020B0500000000000000" pitchFamily="34" charset="-122"/>
                <a:ea typeface="Noto Sans S Chinese Regular" panose="020B0500000000000000" pitchFamily="34" charset="-122"/>
              </a:rPr>
              <a:t>年</a:t>
            </a:r>
            <a:r>
              <a:rPr lang="en-US" altLang="zh-CN" sz="2000" dirty="0">
                <a:latin typeface="Noto Sans S Chinese Regular" panose="020B0500000000000000" pitchFamily="34" charset="-122"/>
                <a:ea typeface="Noto Sans S Chinese Regular" panose="020B0500000000000000" pitchFamily="34" charset="-122"/>
              </a:rPr>
              <a:t>7</a:t>
            </a:r>
            <a:r>
              <a:rPr lang="zh-CN" altLang="en-US" sz="2000" dirty="0">
                <a:latin typeface="Noto Sans S Chinese Regular" panose="020B0500000000000000" pitchFamily="34" charset="-122"/>
                <a:ea typeface="Noto Sans S Chinese Regular" panose="020B0500000000000000" pitchFamily="34" charset="-122"/>
              </a:rPr>
              <a:t>月</a:t>
            </a:r>
            <a:r>
              <a:rPr lang="en-US" altLang="zh-CN" sz="2000" dirty="0">
                <a:latin typeface="Noto Sans S Chinese Regular" panose="020B0500000000000000" pitchFamily="34" charset="-122"/>
                <a:ea typeface="Noto Sans S Chinese Regular" panose="020B0500000000000000" pitchFamily="34" charset="-122"/>
              </a:rPr>
              <a:t>23</a:t>
            </a:r>
            <a:r>
              <a:rPr lang="zh-CN" altLang="en-US" sz="2000" dirty="0">
                <a:latin typeface="Noto Sans S Chinese Regular" panose="020B0500000000000000" pitchFamily="34" charset="-122"/>
                <a:ea typeface="Noto Sans S Chinese Regular" panose="020B0500000000000000" pitchFamily="34" charset="-122"/>
              </a:rPr>
              <a:t>日，党的一大在上海召开，几天后在浙江嘉兴南湖的红船上结束。一大的召开标志着中国共产党的正式建立。在这之前各地建立的党组织，都是党的早期组织。与以往中国其他政党和政治组织不同的是，中国共产党一经成立就把实现共产主义作为最高理想和最终目标，确立起为中国人民谋幸福、为中华民族谋复兴的初心和使命。</a:t>
            </a:r>
            <a:endParaRPr lang="en-US" altLang="zh-CN" sz="2000" dirty="0">
              <a:latin typeface="Noto Sans S Chinese Regular" panose="020B0500000000000000" pitchFamily="34" charset="-122"/>
              <a:ea typeface="Noto Sans S Chinese Regular" panose="020B0500000000000000" pitchFamily="34" charset="-122"/>
            </a:endParaRPr>
          </a:p>
          <a:p>
            <a:pPr>
              <a:lnSpc>
                <a:spcPct val="150000"/>
              </a:lnSpc>
            </a:pPr>
            <a:r>
              <a:rPr lang="zh-CN" altLang="en-US" sz="2000" dirty="0">
                <a:latin typeface="Noto Sans S Chinese Regular" panose="020B0500000000000000" pitchFamily="34" charset="-122"/>
                <a:ea typeface="Noto Sans S Chinese Regular" panose="020B0500000000000000" pitchFamily="34" charset="-122"/>
              </a:rPr>
              <a:t>       新中国的成立，标志着中国共产党领导的人民大众的反帝反封建的新民主主义革命的胜利，宣告中国人民从此站立起来了！它彻底结束了旧中国半殖民地半封建社会的历史，彻底结束了旧中国一盘散沙的局面，彻底废除了列强强加给中国的不平等条约和帝国主义在中国的一切特权，实现了中国从几千年封建专制政治向人民民主的伟大飞跃。</a:t>
            </a:r>
            <a:endParaRPr lang="zh-CN" altLang="en-US" sz="2000" dirty="0">
              <a:latin typeface="Noto Sans S Chinese Regular" panose="020B0500000000000000" pitchFamily="34" charset="-122"/>
              <a:ea typeface="Noto Sans S Chinese Regular" panose="020B0500000000000000" pitchFamily="34" charset="-122"/>
            </a:endParaRPr>
          </a:p>
        </p:txBody>
      </p:sp>
    </p:spTree>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dirty="0"/>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回顾中国共产党百年辉煌</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80188" y="1236001"/>
            <a:ext cx="8168512" cy="576000"/>
            <a:chOff x="1047749" y="1236000"/>
            <a:chExt cx="8168512" cy="576000"/>
          </a:xfrm>
        </p:grpSpPr>
        <p:grpSp>
          <p:nvGrpSpPr>
            <p:cNvPr id="16" name="组合 15"/>
            <p:cNvGrpSpPr/>
            <p:nvPr/>
          </p:nvGrpSpPr>
          <p:grpSpPr>
            <a:xfrm>
              <a:off x="1047749" y="1236000"/>
              <a:ext cx="8168512" cy="576000"/>
              <a:chOff x="1047749" y="1236000"/>
              <a:chExt cx="8168512" cy="576000"/>
            </a:xfrm>
          </p:grpSpPr>
          <p:sp>
            <p:nvSpPr>
              <p:cNvPr id="19" name="矩形: 圆角 18"/>
              <p:cNvSpPr/>
              <p:nvPr/>
            </p:nvSpPr>
            <p:spPr>
              <a:xfrm>
                <a:off x="1047749" y="1236000"/>
                <a:ext cx="1780796" cy="576000"/>
              </a:xfrm>
              <a:prstGeom prst="roundRect">
                <a:avLst>
                  <a:gd name="adj" fmla="val 50000"/>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2950721" y="1236000"/>
                <a:ext cx="6265540" cy="576000"/>
              </a:xfrm>
              <a:prstGeom prst="roundRect">
                <a:avLst>
                  <a:gd name="adj" fmla="val 50000"/>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2063115" y="1524000"/>
                <a:ext cx="1009650" cy="0"/>
              </a:xfrm>
              <a:prstGeom prst="line">
                <a:avLst/>
              </a:prstGeom>
              <a:ln w="38100">
                <a:solidFill>
                  <a:srgbClr val="8403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1321182" y="1326634"/>
              <a:ext cx="1233930" cy="400110"/>
            </a:xfrm>
            <a:prstGeom prst="rect">
              <a:avLst/>
            </a:prstGeom>
            <a:noFill/>
          </p:spPr>
          <p:txBody>
            <a:bodyPr wrap="square">
              <a:spAutoFit/>
            </a:bodyPr>
            <a:lstStyle>
              <a:defPPr>
                <a:defRPr lang="zh-CN"/>
              </a:defPPr>
              <a:lvl1pPr>
                <a:defRPr b="1" i="0">
                  <a:solidFill>
                    <a:srgbClr val="333333"/>
                  </a:solidFill>
                  <a:effectLst/>
                  <a:latin typeface="微软雅黑" panose="020B0503020204020204" pitchFamily="34" charset="-122"/>
                  <a:ea typeface="微软雅黑" panose="020B0503020204020204" pitchFamily="34" charset="-122"/>
                </a:defRPr>
              </a:lvl1pPr>
            </a:lstStyle>
            <a:p>
              <a:pPr algn="dist"/>
              <a:r>
                <a:rPr lang="zh-CN" altLang="en-US" sz="2000" dirty="0">
                  <a:solidFill>
                    <a:schemeClr val="bg1"/>
                  </a:solidFill>
                </a:rPr>
                <a:t>改天换地</a:t>
              </a:r>
              <a:endParaRPr lang="zh-CN" altLang="en-US" sz="2000" dirty="0">
                <a:solidFill>
                  <a:schemeClr val="bg1"/>
                </a:solidFill>
              </a:endParaRPr>
            </a:p>
          </p:txBody>
        </p:sp>
        <p:sp>
          <p:nvSpPr>
            <p:cNvPr id="18" name="文本框 17"/>
            <p:cNvSpPr txBox="1"/>
            <p:nvPr/>
          </p:nvSpPr>
          <p:spPr>
            <a:xfrm>
              <a:off x="3335145" y="1339334"/>
              <a:ext cx="5589016" cy="369332"/>
            </a:xfrm>
            <a:prstGeom prst="rect">
              <a:avLst/>
            </a:prstGeom>
            <a:noFill/>
          </p:spPr>
          <p:txBody>
            <a:bodyPr wrap="square">
              <a:spAutoFit/>
            </a:bodyPr>
            <a:lstStyle>
              <a:defPPr>
                <a:defRPr lang="zh-CN"/>
              </a:defPPr>
              <a:lvl1pPr>
                <a:defRPr b="1" i="0">
                  <a:solidFill>
                    <a:srgbClr val="333333"/>
                  </a:solidFill>
                  <a:effectLst/>
                  <a:latin typeface="微软雅黑" panose="020B0503020204020204" pitchFamily="34" charset="-122"/>
                  <a:ea typeface="微软雅黑" panose="020B0503020204020204" pitchFamily="34" charset="-122"/>
                </a:defRPr>
              </a:lvl1pPr>
            </a:lstStyle>
            <a:p>
              <a:pPr algn="dist"/>
              <a:r>
                <a:rPr lang="zh-CN" altLang="en-US" dirty="0">
                  <a:solidFill>
                    <a:schemeClr val="tx1">
                      <a:lumMod val="95000"/>
                      <a:lumOff val="5000"/>
                    </a:schemeClr>
                  </a:solidFill>
                </a:rPr>
                <a:t>中国共产党在社会主义革命和建设时期完成兴国大业</a:t>
              </a:r>
              <a:endParaRPr lang="zh-CN" altLang="en-US" dirty="0">
                <a:solidFill>
                  <a:schemeClr val="tx1"/>
                </a:solidFill>
              </a:endParaRPr>
            </a:p>
          </p:txBody>
        </p:sp>
      </p:grpSp>
      <p:sp>
        <p:nvSpPr>
          <p:cNvPr id="22" name="矩形: 圆角 21"/>
          <p:cNvSpPr/>
          <p:nvPr/>
        </p:nvSpPr>
        <p:spPr>
          <a:xfrm>
            <a:off x="487792" y="2100000"/>
            <a:ext cx="11232000" cy="4117085"/>
          </a:xfrm>
          <a:prstGeom prst="roundRect">
            <a:avLst>
              <a:gd name="adj" fmla="val 2931"/>
            </a:avLst>
          </a:prstGeom>
          <a:noFill/>
          <a:ln w="1270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60852" y="2307468"/>
            <a:ext cx="10485879" cy="3750579"/>
          </a:xfrm>
          <a:prstGeom prst="rect">
            <a:avLst/>
          </a:prstGeom>
        </p:spPr>
        <p:txBody>
          <a:bodyPr wrap="square">
            <a:spAutoFit/>
          </a:bodyPr>
          <a:lstStyle/>
          <a:p>
            <a:pPr>
              <a:lnSpc>
                <a:spcPts val="3200"/>
              </a:lnSpc>
            </a:pPr>
            <a:r>
              <a:rPr lang="en-US" altLang="zh-CN" sz="2000" dirty="0">
                <a:latin typeface="Noto Sans S Chinese Regular" panose="020B0500000000000000" pitchFamily="34" charset="-122"/>
                <a:ea typeface="Noto Sans S Chinese Regular" panose="020B0500000000000000" pitchFamily="34" charset="-122"/>
              </a:rPr>
              <a:t>       1950</a:t>
            </a:r>
            <a:r>
              <a:rPr lang="zh-CN" altLang="en-US" sz="2000" dirty="0">
                <a:latin typeface="Noto Sans S Chinese Regular" panose="020B0500000000000000" pitchFamily="34" charset="-122"/>
                <a:ea typeface="Noto Sans S Chinese Regular" panose="020B0500000000000000" pitchFamily="34" charset="-122"/>
              </a:rPr>
              <a:t>年</a:t>
            </a:r>
            <a:r>
              <a:rPr lang="en-US" altLang="zh-CN" sz="2000" dirty="0">
                <a:latin typeface="Noto Sans S Chinese Regular" panose="020B0500000000000000" pitchFamily="34" charset="-122"/>
                <a:ea typeface="Noto Sans S Chinese Regular" panose="020B0500000000000000" pitchFamily="34" charset="-122"/>
              </a:rPr>
              <a:t>6</a:t>
            </a:r>
            <a:r>
              <a:rPr lang="zh-CN" altLang="en-US" sz="2000" dirty="0">
                <a:latin typeface="Noto Sans S Chinese Regular" panose="020B0500000000000000" pitchFamily="34" charset="-122"/>
                <a:ea typeface="Noto Sans S Chinese Regular" panose="020B0500000000000000" pitchFamily="34" charset="-122"/>
              </a:rPr>
              <a:t>月</a:t>
            </a:r>
            <a:r>
              <a:rPr lang="en-US" altLang="zh-CN" sz="2000" dirty="0">
                <a:latin typeface="Noto Sans S Chinese Regular" panose="020B0500000000000000" pitchFamily="34" charset="-122"/>
                <a:ea typeface="Noto Sans S Chinese Regular" panose="020B0500000000000000" pitchFamily="34" charset="-122"/>
              </a:rPr>
              <a:t>25</a:t>
            </a:r>
            <a:r>
              <a:rPr lang="zh-CN" altLang="en-US" sz="2000" dirty="0">
                <a:latin typeface="Noto Sans S Chinese Regular" panose="020B0500000000000000" pitchFamily="34" charset="-122"/>
                <a:ea typeface="Noto Sans S Chinese Regular" panose="020B0500000000000000" pitchFamily="34" charset="-122"/>
              </a:rPr>
              <a:t>日，朝鲜内战爆发，随后美国入侵朝鲜，同时派第七舰队侵入台湾海峡。抗美援朝战争打出了新中国的国威军威，提高了中国共产党在全国人民中的威望，提高了中国人民的民族自信心和民族自豪感，维护了亚洲和世界和平，新中国站稳了脚跟。</a:t>
            </a:r>
            <a:endParaRPr lang="en-US" altLang="zh-CN" sz="2000" dirty="0">
              <a:latin typeface="Noto Sans S Chinese Regular" panose="020B0500000000000000" pitchFamily="34" charset="-122"/>
              <a:ea typeface="Noto Sans S Chinese Regular" panose="020B0500000000000000" pitchFamily="34" charset="-122"/>
            </a:endParaRPr>
          </a:p>
          <a:p>
            <a:pPr>
              <a:lnSpc>
                <a:spcPts val="3200"/>
              </a:lnSpc>
            </a:pPr>
            <a:r>
              <a:rPr lang="en-US" altLang="zh-CN" sz="2000" dirty="0">
                <a:latin typeface="Noto Sans S Chinese Regular" panose="020B0500000000000000" pitchFamily="34" charset="-122"/>
                <a:ea typeface="Noto Sans S Chinese Regular" panose="020B0500000000000000" pitchFamily="34" charset="-122"/>
              </a:rPr>
              <a:t>       1956</a:t>
            </a:r>
            <a:r>
              <a:rPr lang="zh-CN" altLang="en-US" sz="2000" dirty="0">
                <a:latin typeface="Noto Sans S Chinese Regular" panose="020B0500000000000000" pitchFamily="34" charset="-122"/>
                <a:ea typeface="Noto Sans S Chinese Regular" panose="020B0500000000000000" pitchFamily="34" charset="-122"/>
              </a:rPr>
              <a:t>年，我国社会主义改造完成，确立起社会主义基本制度，并开始大规模进行社会主义建设，取得巨大的成就。进行社会主义革命，确立社会主义基本制度，这场中华民族有史以来最为广泛而深刻的社会变革，为当代中国一切发展进步奠定了根本政治前提和制度基础，为开创中国特色社会主义提供了宝贵经验、理论准备、物质基础。</a:t>
            </a:r>
            <a:endParaRPr lang="zh-CN" altLang="en-US" sz="2000" dirty="0">
              <a:latin typeface="Noto Sans S Chinese Regular" panose="020B0500000000000000" pitchFamily="34" charset="-122"/>
              <a:ea typeface="Noto Sans S Chinese Regular" panose="020B0500000000000000" pitchFamily="34" charset="-122"/>
            </a:endParaRPr>
          </a:p>
          <a:p>
            <a:pPr>
              <a:lnSpc>
                <a:spcPts val="3200"/>
              </a:lnSpc>
            </a:pPr>
            <a:r>
              <a:rPr lang="zh-CN" altLang="en-US" sz="2000" dirty="0">
                <a:latin typeface="Noto Sans S Chinese Regular" panose="020B0500000000000000" pitchFamily="34" charset="-122"/>
                <a:ea typeface="Noto Sans S Chinese Regular" panose="020B0500000000000000" pitchFamily="34" charset="-122"/>
              </a:rPr>
              <a:t>　　中国共产党在新民主主义革命时期、社会主义革命和建设时期团结带领中国人民实现了中华民族从“东亚病夫”到站起来的伟大飞跃。</a:t>
            </a:r>
            <a:endParaRPr lang="zh-CN" altLang="en-US" sz="2000" dirty="0">
              <a:latin typeface="Noto Sans S Chinese Regular" panose="020B0500000000000000" pitchFamily="34" charset="-122"/>
              <a:ea typeface="Noto Sans S Chinese Regular" panose="020B0500000000000000" pitchFamily="34" charset="-122"/>
            </a:endParaRPr>
          </a:p>
        </p:txBody>
      </p:sp>
    </p:spTree>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回顾中国共产党百年辉煌</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80188" y="1236001"/>
            <a:ext cx="8549512" cy="576000"/>
            <a:chOff x="1047749" y="1236000"/>
            <a:chExt cx="8549512" cy="576000"/>
          </a:xfrm>
        </p:grpSpPr>
        <p:grpSp>
          <p:nvGrpSpPr>
            <p:cNvPr id="16" name="组合 15"/>
            <p:cNvGrpSpPr/>
            <p:nvPr/>
          </p:nvGrpSpPr>
          <p:grpSpPr>
            <a:xfrm>
              <a:off x="1047749" y="1236000"/>
              <a:ext cx="8549512" cy="576000"/>
              <a:chOff x="1047749" y="1236000"/>
              <a:chExt cx="8549512" cy="576000"/>
            </a:xfrm>
          </p:grpSpPr>
          <p:sp>
            <p:nvSpPr>
              <p:cNvPr id="19" name="矩形: 圆角 18"/>
              <p:cNvSpPr/>
              <p:nvPr/>
            </p:nvSpPr>
            <p:spPr>
              <a:xfrm>
                <a:off x="1047749" y="1236000"/>
                <a:ext cx="1780796" cy="576000"/>
              </a:xfrm>
              <a:prstGeom prst="roundRect">
                <a:avLst>
                  <a:gd name="adj" fmla="val 50000"/>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2950721" y="1236000"/>
                <a:ext cx="6646540" cy="576000"/>
              </a:xfrm>
              <a:prstGeom prst="roundRect">
                <a:avLst>
                  <a:gd name="adj" fmla="val 50000"/>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2063115" y="1524000"/>
                <a:ext cx="1009650" cy="0"/>
              </a:xfrm>
              <a:prstGeom prst="line">
                <a:avLst/>
              </a:prstGeom>
              <a:ln w="38100">
                <a:solidFill>
                  <a:srgbClr val="8403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1321182" y="1326634"/>
              <a:ext cx="1233930" cy="400110"/>
            </a:xfrm>
            <a:prstGeom prst="rect">
              <a:avLst/>
            </a:prstGeom>
            <a:noFill/>
          </p:spPr>
          <p:txBody>
            <a:bodyPr wrap="square">
              <a:spAutoFit/>
            </a:bodyPr>
            <a:lstStyle>
              <a:defPPr>
                <a:defRPr lang="zh-CN"/>
              </a:defPPr>
              <a:lvl1pPr>
                <a:defRPr b="1" i="0">
                  <a:solidFill>
                    <a:srgbClr val="333333"/>
                  </a:solidFill>
                  <a:effectLst/>
                  <a:latin typeface="微软雅黑" panose="020B0503020204020204" pitchFamily="34" charset="-122"/>
                  <a:ea typeface="微软雅黑" panose="020B0503020204020204" pitchFamily="34" charset="-122"/>
                </a:defRPr>
              </a:lvl1pPr>
            </a:lstStyle>
            <a:p>
              <a:pPr algn="dist"/>
              <a:r>
                <a:rPr lang="zh-CN" altLang="en-US" sz="2000" dirty="0">
                  <a:solidFill>
                    <a:schemeClr val="bg1"/>
                  </a:solidFill>
                </a:rPr>
                <a:t>翻天覆地</a:t>
              </a:r>
              <a:endParaRPr lang="zh-CN" altLang="en-US" sz="2000" dirty="0">
                <a:solidFill>
                  <a:schemeClr val="bg1"/>
                </a:solidFill>
              </a:endParaRPr>
            </a:p>
          </p:txBody>
        </p:sp>
        <p:sp>
          <p:nvSpPr>
            <p:cNvPr id="18" name="文本框 17"/>
            <p:cNvSpPr txBox="1"/>
            <p:nvPr/>
          </p:nvSpPr>
          <p:spPr>
            <a:xfrm>
              <a:off x="3335145" y="1339334"/>
              <a:ext cx="5957316" cy="369332"/>
            </a:xfrm>
            <a:prstGeom prst="rect">
              <a:avLst/>
            </a:prstGeom>
            <a:noFill/>
          </p:spPr>
          <p:txBody>
            <a:bodyPr wrap="square">
              <a:spAutoFit/>
            </a:bodyPr>
            <a:lstStyle>
              <a:defPPr>
                <a:defRPr lang="zh-CN"/>
              </a:defPPr>
              <a:lvl1pPr>
                <a:defRPr b="1" i="0">
                  <a:solidFill>
                    <a:srgbClr val="333333"/>
                  </a:solidFill>
                  <a:effectLst/>
                  <a:latin typeface="微软雅黑" panose="020B0503020204020204" pitchFamily="34" charset="-122"/>
                  <a:ea typeface="微软雅黑" panose="020B0503020204020204" pitchFamily="34" charset="-122"/>
                </a:defRPr>
              </a:lvl1pPr>
            </a:lstStyle>
            <a:p>
              <a:pPr algn="dist"/>
              <a:r>
                <a:rPr lang="zh-CN" altLang="en-US" dirty="0">
                  <a:solidFill>
                    <a:schemeClr val="tx1"/>
                  </a:solidFill>
                </a:rPr>
                <a:t>中国共产党在社会主义现代化建设新时期推进富国大业</a:t>
              </a:r>
              <a:endParaRPr lang="zh-CN" altLang="en-US" dirty="0">
                <a:solidFill>
                  <a:schemeClr val="tx1"/>
                </a:solidFill>
              </a:endParaRPr>
            </a:p>
          </p:txBody>
        </p:sp>
      </p:grpSp>
      <p:sp>
        <p:nvSpPr>
          <p:cNvPr id="22" name="矩形: 圆角 21"/>
          <p:cNvSpPr/>
          <p:nvPr/>
        </p:nvSpPr>
        <p:spPr>
          <a:xfrm>
            <a:off x="487792" y="2100000"/>
            <a:ext cx="11232000" cy="4117085"/>
          </a:xfrm>
          <a:prstGeom prst="roundRect">
            <a:avLst>
              <a:gd name="adj" fmla="val 2931"/>
            </a:avLst>
          </a:prstGeom>
          <a:noFill/>
          <a:ln w="1270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65760" y="2331963"/>
            <a:ext cx="10485879" cy="3750579"/>
          </a:xfrm>
          <a:prstGeom prst="rect">
            <a:avLst/>
          </a:prstGeom>
        </p:spPr>
        <p:txBody>
          <a:bodyPr wrap="square">
            <a:spAutoFit/>
          </a:bodyPr>
          <a:lstStyle/>
          <a:p>
            <a:pPr>
              <a:lnSpc>
                <a:spcPts val="3200"/>
              </a:lnSpc>
            </a:pPr>
            <a:r>
              <a:rPr lang="zh-CN" altLang="en-US" sz="2000" dirty="0">
                <a:latin typeface="Noto Sans S Chinese Regular" panose="020B0500000000000000" pitchFamily="34" charset="-122"/>
                <a:ea typeface="Noto Sans S Chinese Regular" panose="020B0500000000000000" pitchFamily="34" charset="-122"/>
              </a:rPr>
              <a:t>       如何结合国情，在一个经济文化落后的国家里，探索中国自己的社会主义建设道路，是一件极不容易的事情。既然是探索，就会有失误。从</a:t>
            </a:r>
            <a:r>
              <a:rPr lang="en-US" altLang="zh-CN" sz="2000" dirty="0">
                <a:latin typeface="Noto Sans S Chinese Regular" panose="020B0500000000000000" pitchFamily="34" charset="-122"/>
                <a:ea typeface="Noto Sans S Chinese Regular" panose="020B0500000000000000" pitchFamily="34" charset="-122"/>
              </a:rPr>
              <a:t>1958</a:t>
            </a:r>
            <a:r>
              <a:rPr lang="zh-CN" altLang="en-US" sz="2000" dirty="0">
                <a:latin typeface="Noto Sans S Chinese Regular" panose="020B0500000000000000" pitchFamily="34" charset="-122"/>
                <a:ea typeface="Noto Sans S Chinese Regular" panose="020B0500000000000000" pitchFamily="34" charset="-122"/>
              </a:rPr>
              <a:t>年以后也开始出现失误甚至是严重失误，发生了“大跃进”、人民公社化运动的挫折以及影响全局长达十年之久的“文化大革命”内乱。面对“左”的错误造成的严重后果，我们党进行了深刻反思。</a:t>
            </a:r>
            <a:endParaRPr lang="en-US" altLang="zh-CN" sz="2000" dirty="0">
              <a:latin typeface="Noto Sans S Chinese Regular" panose="020B0500000000000000" pitchFamily="34" charset="-122"/>
              <a:ea typeface="Noto Sans S Chinese Regular" panose="020B0500000000000000" pitchFamily="34" charset="-122"/>
            </a:endParaRPr>
          </a:p>
          <a:p>
            <a:pPr>
              <a:lnSpc>
                <a:spcPts val="3200"/>
              </a:lnSpc>
            </a:pPr>
            <a:r>
              <a:rPr lang="en-US" altLang="zh-CN" sz="2000" dirty="0">
                <a:latin typeface="Noto Sans S Chinese Regular" panose="020B0500000000000000" pitchFamily="34" charset="-122"/>
                <a:ea typeface="Noto Sans S Chinese Regular" panose="020B0500000000000000" pitchFamily="34" charset="-122"/>
              </a:rPr>
              <a:t>        1978</a:t>
            </a:r>
            <a:r>
              <a:rPr lang="zh-CN" altLang="en-US" sz="2000" dirty="0">
                <a:latin typeface="Noto Sans S Chinese Regular" panose="020B0500000000000000" pitchFamily="34" charset="-122"/>
                <a:ea typeface="Noto Sans S Chinese Regular" panose="020B0500000000000000" pitchFamily="34" charset="-122"/>
              </a:rPr>
              <a:t>年</a:t>
            </a:r>
            <a:r>
              <a:rPr lang="en-US" altLang="zh-CN" sz="2000" dirty="0">
                <a:latin typeface="Noto Sans S Chinese Regular" panose="020B0500000000000000" pitchFamily="34" charset="-122"/>
                <a:ea typeface="Noto Sans S Chinese Regular" panose="020B0500000000000000" pitchFamily="34" charset="-122"/>
              </a:rPr>
              <a:t>9</a:t>
            </a:r>
            <a:r>
              <a:rPr lang="zh-CN" altLang="en-US" sz="2000" dirty="0">
                <a:latin typeface="Noto Sans S Chinese Regular" panose="020B0500000000000000" pitchFamily="34" charset="-122"/>
                <a:ea typeface="Noto Sans S Chinese Regular" panose="020B0500000000000000" pitchFamily="34" charset="-122"/>
              </a:rPr>
              <a:t>月</a:t>
            </a:r>
            <a:r>
              <a:rPr lang="en-US" altLang="zh-CN" sz="2000" dirty="0">
                <a:latin typeface="Noto Sans S Chinese Regular" panose="020B0500000000000000" pitchFamily="34" charset="-122"/>
                <a:ea typeface="Noto Sans S Chinese Regular" panose="020B0500000000000000" pitchFamily="34" charset="-122"/>
              </a:rPr>
              <a:t>16</a:t>
            </a:r>
            <a:r>
              <a:rPr lang="zh-CN" altLang="en-US" sz="2000" dirty="0">
                <a:latin typeface="Noto Sans S Chinese Regular" panose="020B0500000000000000" pitchFamily="34" charset="-122"/>
                <a:ea typeface="Noto Sans S Chinese Regular" panose="020B0500000000000000" pitchFamily="34" charset="-122"/>
              </a:rPr>
              <a:t>日至</a:t>
            </a:r>
            <a:r>
              <a:rPr lang="en-US" altLang="zh-CN" sz="2000" dirty="0">
                <a:latin typeface="Noto Sans S Chinese Regular" panose="020B0500000000000000" pitchFamily="34" charset="-122"/>
                <a:ea typeface="Noto Sans S Chinese Regular" panose="020B0500000000000000" pitchFamily="34" charset="-122"/>
              </a:rPr>
              <a:t>18</a:t>
            </a:r>
            <a:r>
              <a:rPr lang="zh-CN" altLang="en-US" sz="2000" dirty="0">
                <a:latin typeface="Noto Sans S Chinese Regular" panose="020B0500000000000000" pitchFamily="34" charset="-122"/>
                <a:ea typeface="Noto Sans S Chinese Regular" panose="020B0500000000000000" pitchFamily="34" charset="-122"/>
              </a:rPr>
              <a:t>日，邓小平同志在东北考察时讲：“社会主义要表现出它的优越性，哪能像现在这样，搞了二十多年还这么穷，那要社会主义干什么？”同年</a:t>
            </a:r>
            <a:r>
              <a:rPr lang="en-US" altLang="zh-CN" sz="2000" dirty="0">
                <a:latin typeface="Noto Sans S Chinese Regular" panose="020B0500000000000000" pitchFamily="34" charset="-122"/>
                <a:ea typeface="Noto Sans S Chinese Regular" panose="020B0500000000000000" pitchFamily="34" charset="-122"/>
              </a:rPr>
              <a:t>12</a:t>
            </a:r>
            <a:r>
              <a:rPr lang="zh-CN" altLang="en-US" sz="2000" dirty="0">
                <a:latin typeface="Noto Sans S Chinese Regular" panose="020B0500000000000000" pitchFamily="34" charset="-122"/>
                <a:ea typeface="Noto Sans S Chinese Regular" panose="020B0500000000000000" pitchFamily="34" charset="-122"/>
              </a:rPr>
              <a:t>月</a:t>
            </a:r>
            <a:r>
              <a:rPr lang="en-US" altLang="zh-CN" sz="2000" dirty="0">
                <a:latin typeface="Noto Sans S Chinese Regular" panose="020B0500000000000000" pitchFamily="34" charset="-122"/>
                <a:ea typeface="Noto Sans S Chinese Regular" panose="020B0500000000000000" pitchFamily="34" charset="-122"/>
              </a:rPr>
              <a:t>13</a:t>
            </a:r>
            <a:r>
              <a:rPr lang="zh-CN" altLang="en-US" sz="2000" dirty="0">
                <a:latin typeface="Noto Sans S Chinese Regular" panose="020B0500000000000000" pitchFamily="34" charset="-122"/>
                <a:ea typeface="Noto Sans S Chinese Regular" panose="020B0500000000000000" pitchFamily="34" charset="-122"/>
              </a:rPr>
              <a:t>日，他强调指出：“如果现在再不实行改革，我们的现代化事业和社会主义事业就会被葬送。”这个讲话实际上成为此后召开的党的十一届三中全会的主题报告，成为新时期解放思想、实事求是的宣言书。</a:t>
            </a:r>
            <a:endParaRPr lang="zh-CN" altLang="en-US" sz="2000" dirty="0">
              <a:latin typeface="Noto Sans S Chinese Regular" panose="020B0500000000000000" pitchFamily="34" charset="-122"/>
              <a:ea typeface="Noto Sans S Chinese Regular" panose="020B0500000000000000" pitchFamily="34" charset="-122"/>
            </a:endParaRPr>
          </a:p>
        </p:txBody>
      </p:sp>
    </p:spTree>
  </p:cSld>
  <p:clrMapOvr>
    <a:masterClrMapping/>
  </p:clrMapOvr>
  <p:transition>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回顾中国共产党百年辉煌</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80188" y="1236001"/>
            <a:ext cx="8473312" cy="576000"/>
            <a:chOff x="1047749" y="1236000"/>
            <a:chExt cx="8473312" cy="576000"/>
          </a:xfrm>
        </p:grpSpPr>
        <p:grpSp>
          <p:nvGrpSpPr>
            <p:cNvPr id="16" name="组合 15"/>
            <p:cNvGrpSpPr/>
            <p:nvPr/>
          </p:nvGrpSpPr>
          <p:grpSpPr>
            <a:xfrm>
              <a:off x="1047749" y="1236000"/>
              <a:ext cx="8473312" cy="576000"/>
              <a:chOff x="1047749" y="1236000"/>
              <a:chExt cx="8473312" cy="576000"/>
            </a:xfrm>
          </p:grpSpPr>
          <p:sp>
            <p:nvSpPr>
              <p:cNvPr id="19" name="矩形: 圆角 18"/>
              <p:cNvSpPr/>
              <p:nvPr/>
            </p:nvSpPr>
            <p:spPr>
              <a:xfrm>
                <a:off x="1047749" y="1236000"/>
                <a:ext cx="1780796" cy="576000"/>
              </a:xfrm>
              <a:prstGeom prst="roundRect">
                <a:avLst>
                  <a:gd name="adj" fmla="val 50000"/>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2950721" y="1236000"/>
                <a:ext cx="6570340" cy="576000"/>
              </a:xfrm>
              <a:prstGeom prst="roundRect">
                <a:avLst>
                  <a:gd name="adj" fmla="val 50000"/>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2063115" y="1524000"/>
                <a:ext cx="1009650" cy="0"/>
              </a:xfrm>
              <a:prstGeom prst="line">
                <a:avLst/>
              </a:prstGeom>
              <a:ln w="38100">
                <a:solidFill>
                  <a:srgbClr val="8403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1321182" y="1326634"/>
              <a:ext cx="1233930" cy="400110"/>
            </a:xfrm>
            <a:prstGeom prst="rect">
              <a:avLst/>
            </a:prstGeom>
            <a:noFill/>
          </p:spPr>
          <p:txBody>
            <a:bodyPr wrap="square">
              <a:spAutoFit/>
            </a:bodyPr>
            <a:lstStyle>
              <a:defPPr>
                <a:defRPr lang="zh-CN"/>
              </a:defPPr>
              <a:lvl1pPr>
                <a:defRPr b="1" i="0">
                  <a:solidFill>
                    <a:srgbClr val="333333"/>
                  </a:solidFill>
                  <a:effectLst/>
                  <a:latin typeface="微软雅黑" panose="020B0503020204020204" pitchFamily="34" charset="-122"/>
                  <a:ea typeface="微软雅黑" panose="020B0503020204020204" pitchFamily="34" charset="-122"/>
                </a:defRPr>
              </a:lvl1pPr>
            </a:lstStyle>
            <a:p>
              <a:pPr algn="dist"/>
              <a:r>
                <a:rPr lang="zh-CN" altLang="en-US" sz="2000" dirty="0">
                  <a:solidFill>
                    <a:schemeClr val="bg1"/>
                  </a:solidFill>
                </a:rPr>
                <a:t>惊天动地</a:t>
              </a:r>
              <a:endParaRPr lang="zh-CN" altLang="en-US" sz="2000" dirty="0">
                <a:solidFill>
                  <a:schemeClr val="bg1"/>
                </a:solidFill>
              </a:endParaRPr>
            </a:p>
          </p:txBody>
        </p:sp>
        <p:sp>
          <p:nvSpPr>
            <p:cNvPr id="18" name="文本框 17"/>
            <p:cNvSpPr txBox="1"/>
            <p:nvPr/>
          </p:nvSpPr>
          <p:spPr>
            <a:xfrm>
              <a:off x="3335145" y="1339334"/>
              <a:ext cx="5843016" cy="369332"/>
            </a:xfrm>
            <a:prstGeom prst="rect">
              <a:avLst/>
            </a:prstGeom>
            <a:noFill/>
          </p:spPr>
          <p:txBody>
            <a:bodyPr wrap="square">
              <a:spAutoFit/>
            </a:bodyPr>
            <a:lstStyle>
              <a:defPPr>
                <a:defRPr lang="zh-CN"/>
              </a:defPPr>
              <a:lvl1pPr>
                <a:defRPr b="1" i="0">
                  <a:solidFill>
                    <a:srgbClr val="333333"/>
                  </a:solidFill>
                  <a:effectLst/>
                  <a:latin typeface="微软雅黑" panose="020B0503020204020204" pitchFamily="34" charset="-122"/>
                  <a:ea typeface="微软雅黑" panose="020B0503020204020204" pitchFamily="34" charset="-122"/>
                </a:defRPr>
              </a:lvl1pPr>
            </a:lstStyle>
            <a:p>
              <a:pPr algn="dist"/>
              <a:r>
                <a:rPr lang="zh-CN" altLang="en-US" dirty="0">
                  <a:solidFill>
                    <a:schemeClr val="tx1"/>
                  </a:solidFill>
                </a:rPr>
                <a:t>中国共产党在新时代推进并将在本世纪中实现强国大业</a:t>
              </a:r>
              <a:endParaRPr lang="zh-CN" altLang="en-US" dirty="0">
                <a:solidFill>
                  <a:schemeClr val="tx1"/>
                </a:solidFill>
              </a:endParaRPr>
            </a:p>
          </p:txBody>
        </p:sp>
      </p:grpSp>
      <p:sp>
        <p:nvSpPr>
          <p:cNvPr id="22" name="矩形: 圆角 21"/>
          <p:cNvSpPr/>
          <p:nvPr/>
        </p:nvSpPr>
        <p:spPr>
          <a:xfrm>
            <a:off x="487792" y="2100000"/>
            <a:ext cx="11232000" cy="4117085"/>
          </a:xfrm>
          <a:prstGeom prst="roundRect">
            <a:avLst>
              <a:gd name="adj" fmla="val 2931"/>
            </a:avLst>
          </a:prstGeom>
          <a:noFill/>
          <a:ln w="1270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65760" y="2331963"/>
            <a:ext cx="10485879" cy="3750579"/>
          </a:xfrm>
          <a:prstGeom prst="rect">
            <a:avLst/>
          </a:prstGeom>
        </p:spPr>
        <p:txBody>
          <a:bodyPr wrap="square">
            <a:spAutoFit/>
          </a:bodyPr>
          <a:lstStyle/>
          <a:p>
            <a:pPr>
              <a:lnSpc>
                <a:spcPct val="150000"/>
              </a:lnSpc>
            </a:pPr>
            <a:r>
              <a:rPr lang="zh-CN" altLang="en-US" sz="2000" dirty="0">
                <a:latin typeface="Noto Sans S Chinese Regular" panose="020B0500000000000000" pitchFamily="34" charset="-122"/>
                <a:ea typeface="Noto Sans S Chinese Regular" panose="020B0500000000000000" pitchFamily="34" charset="-122"/>
              </a:rPr>
              <a:t>       </a:t>
            </a:r>
            <a:r>
              <a:rPr lang="en-US" altLang="zh-CN" sz="2000" dirty="0">
                <a:latin typeface="Noto Sans S Chinese Regular" panose="020B0500000000000000" pitchFamily="34" charset="-122"/>
                <a:ea typeface="Noto Sans S Chinese Regular" panose="020B0500000000000000" pitchFamily="34" charset="-122"/>
              </a:rPr>
              <a:t>2012</a:t>
            </a:r>
            <a:r>
              <a:rPr lang="zh-CN" altLang="en-US" sz="2000" dirty="0">
                <a:latin typeface="Noto Sans S Chinese Regular" panose="020B0500000000000000" pitchFamily="34" charset="-122"/>
                <a:ea typeface="Noto Sans S Chinese Regular" panose="020B0500000000000000" pitchFamily="34" charset="-122"/>
              </a:rPr>
              <a:t>年党的十八大以来，以习近平同志为核心的党中央，团结带领全党全国各族人民，举旗定向，谋篇布局，从理论和实践结合上深刻回答了新时代坚持和发展什么样的中国特色社会主义、怎样坚持和发展中国特色社会主义这个重大时代课题，创立习近平新时代中国特色社会主义思想，统揽伟大斗争、伟大工程、伟大事业、伟大梦想，统筹推进“五位一体”总体布局、协调推进“四个全面”战略布局，坚持完善和发展中国特色社会主义制度，推进国家治理体系和治理能力现代化，解决了许多长期想解决而没有解决的难题，办成了许多过去想办而没有办成的大事，推动党和国家事业取得历史性成就、发生历史性变革，推动中国特色社会主义进入新时代。</a:t>
            </a:r>
            <a:endParaRPr lang="zh-CN" altLang="en-US" sz="2000" dirty="0">
              <a:latin typeface="Noto Sans S Chinese Regular" panose="020B0500000000000000" pitchFamily="34" charset="-122"/>
              <a:ea typeface="Noto Sans S Chinese Regular" panose="020B0500000000000000" pitchFamily="34" charset="-122"/>
            </a:endParaRPr>
          </a:p>
        </p:txBody>
      </p:sp>
    </p:spTree>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dirty="0"/>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回顾中国共产党百年辉煌</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65707" y="1394666"/>
            <a:ext cx="11085440" cy="1404000"/>
            <a:chOff x="565707" y="1423694"/>
            <a:chExt cx="11085440" cy="1404000"/>
          </a:xfrm>
        </p:grpSpPr>
        <p:grpSp>
          <p:nvGrpSpPr>
            <p:cNvPr id="61" name="组合 60"/>
            <p:cNvGrpSpPr/>
            <p:nvPr/>
          </p:nvGrpSpPr>
          <p:grpSpPr>
            <a:xfrm>
              <a:off x="565707" y="1423694"/>
              <a:ext cx="11085440" cy="1404000"/>
              <a:chOff x="325218" y="1461794"/>
              <a:chExt cx="11085440" cy="1404000"/>
            </a:xfrm>
          </p:grpSpPr>
          <p:grpSp>
            <p:nvGrpSpPr>
              <p:cNvPr id="65" name="组合 64"/>
              <p:cNvGrpSpPr/>
              <p:nvPr/>
            </p:nvGrpSpPr>
            <p:grpSpPr>
              <a:xfrm>
                <a:off x="325218" y="1784266"/>
                <a:ext cx="945496" cy="721898"/>
                <a:chOff x="505694" y="1476296"/>
                <a:chExt cx="835278" cy="637745"/>
              </a:xfrm>
            </p:grpSpPr>
            <p:sp>
              <p:nvSpPr>
                <p:cNvPr id="67" name="椭圆 66"/>
                <p:cNvSpPr/>
                <p:nvPr/>
              </p:nvSpPr>
              <p:spPr>
                <a:xfrm>
                  <a:off x="505694" y="1476296"/>
                  <a:ext cx="637745" cy="637745"/>
                </a:xfrm>
                <a:prstGeom prst="ellipse">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直角三角形 67"/>
                <p:cNvSpPr/>
                <p:nvPr/>
              </p:nvSpPr>
              <p:spPr>
                <a:xfrm rot="13500000">
                  <a:off x="1177330" y="1713348"/>
                  <a:ext cx="163642" cy="163642"/>
                </a:xfrm>
                <a:prstGeom prst="rtTriangle">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510136" y="1584776"/>
                  <a:ext cx="606422" cy="407848"/>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ea typeface="汉仪铁线黑-65简" panose="00020600040101010101" pitchFamily="18" charset="-122"/>
                    </a:rPr>
                    <a:t>01</a:t>
                  </a:r>
                  <a:endParaRPr lang="zh-CN" altLang="en-US" sz="2400" dirty="0">
                    <a:solidFill>
                      <a:schemeClr val="bg1"/>
                    </a:solidFill>
                    <a:latin typeface="Impact" panose="020B0806030902050204" pitchFamily="34" charset="0"/>
                    <a:ea typeface="汉仪铁线黑-65简" panose="00020600040101010101" pitchFamily="18" charset="-122"/>
                  </a:endParaRPr>
                </a:p>
              </p:txBody>
            </p:sp>
          </p:grpSp>
          <p:sp>
            <p:nvSpPr>
              <p:cNvPr id="66" name="矩形: 圆角 65"/>
              <p:cNvSpPr/>
              <p:nvPr/>
            </p:nvSpPr>
            <p:spPr>
              <a:xfrm>
                <a:off x="1446096" y="1461794"/>
                <a:ext cx="9964562" cy="1404000"/>
              </a:xfrm>
              <a:prstGeom prst="roundRect">
                <a:avLst>
                  <a:gd name="adj" fmla="val 6796"/>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0" name="矩形 89"/>
            <p:cNvSpPr/>
            <p:nvPr/>
          </p:nvSpPr>
          <p:spPr>
            <a:xfrm>
              <a:off x="1858049" y="1610007"/>
              <a:ext cx="9637266" cy="1031373"/>
            </a:xfrm>
            <a:prstGeom prst="rect">
              <a:avLst/>
            </a:prstGeom>
          </p:spPr>
          <p:txBody>
            <a:bodyPr wrap="square">
              <a:spAutoFit/>
            </a:bodyPr>
            <a:lstStyle/>
            <a:p>
              <a:pPr>
                <a:lnSpc>
                  <a:spcPts val="2500"/>
                </a:lnSpc>
              </a:pPr>
              <a:r>
                <a:rPr lang="en-US" altLang="zh-CN" sz="1700" dirty="0">
                  <a:latin typeface="Noto Sans S Chinese Regular" panose="020B0500000000000000" pitchFamily="34" charset="-122"/>
                  <a:ea typeface="Noto Sans S Chinese Regular" panose="020B0500000000000000" pitchFamily="34" charset="-122"/>
                </a:rPr>
                <a:t>1978</a:t>
              </a:r>
              <a:r>
                <a:rPr lang="zh-CN" altLang="en-US" sz="1700" dirty="0">
                  <a:latin typeface="Noto Sans S Chinese Regular" panose="020B0500000000000000" pitchFamily="34" charset="-122"/>
                  <a:ea typeface="Noto Sans S Chinese Regular" panose="020B0500000000000000" pitchFamily="34" charset="-122"/>
                </a:rPr>
                <a:t>年党的十一届三中全会后，以</a:t>
              </a:r>
              <a:r>
                <a:rPr lang="zh-CN" altLang="en-US" sz="1700" b="1" dirty="0">
                  <a:solidFill>
                    <a:srgbClr val="840300"/>
                  </a:solidFill>
                  <a:latin typeface="Noto Sans S Chinese Regular" panose="020B0500000000000000" pitchFamily="34" charset="-122"/>
                  <a:ea typeface="Noto Sans S Chinese Regular" panose="020B0500000000000000" pitchFamily="34" charset="-122"/>
                </a:rPr>
                <a:t>邓小平同志</a:t>
              </a:r>
              <a:r>
                <a:rPr lang="zh-CN" altLang="en-US" sz="1700" dirty="0">
                  <a:latin typeface="Noto Sans S Chinese Regular" panose="020B0500000000000000" pitchFamily="34" charset="-122"/>
                  <a:ea typeface="Noto Sans S Chinese Regular" panose="020B0500000000000000" pitchFamily="34" charset="-122"/>
                </a:rPr>
                <a:t>为核心的党的第二代中央领导集体，作出把党和国家工作中心转移到经济建设上来、实行改革开放的历史性决策，明确提出走自己的路、建设中国特色社会主义，制定“三步走”发展战略，确立社会主义初级阶段基本路线，深刻揭示社会主义本质。</a:t>
              </a:r>
              <a:endParaRPr lang="zh-CN" altLang="en-US" sz="1700" dirty="0">
                <a:latin typeface="Noto Sans S Chinese Regular" panose="020B0500000000000000" pitchFamily="34" charset="-122"/>
                <a:ea typeface="Noto Sans S Chinese Regular" panose="020B0500000000000000" pitchFamily="34" charset="-122"/>
              </a:endParaRPr>
            </a:p>
          </p:txBody>
        </p:sp>
      </p:grpSp>
      <p:grpSp>
        <p:nvGrpSpPr>
          <p:cNvPr id="91" name="组合 90"/>
          <p:cNvGrpSpPr/>
          <p:nvPr/>
        </p:nvGrpSpPr>
        <p:grpSpPr>
          <a:xfrm>
            <a:off x="565707" y="3112458"/>
            <a:ext cx="11085440" cy="1404000"/>
            <a:chOff x="565707" y="1423694"/>
            <a:chExt cx="11085440" cy="1404000"/>
          </a:xfrm>
        </p:grpSpPr>
        <p:grpSp>
          <p:nvGrpSpPr>
            <p:cNvPr id="92" name="组合 91"/>
            <p:cNvGrpSpPr/>
            <p:nvPr/>
          </p:nvGrpSpPr>
          <p:grpSpPr>
            <a:xfrm>
              <a:off x="565707" y="1423694"/>
              <a:ext cx="11085440" cy="1404000"/>
              <a:chOff x="325218" y="1461794"/>
              <a:chExt cx="11085440" cy="1404000"/>
            </a:xfrm>
          </p:grpSpPr>
          <p:grpSp>
            <p:nvGrpSpPr>
              <p:cNvPr id="94" name="组合 93"/>
              <p:cNvGrpSpPr/>
              <p:nvPr/>
            </p:nvGrpSpPr>
            <p:grpSpPr>
              <a:xfrm>
                <a:off x="325218" y="1784266"/>
                <a:ext cx="945496" cy="721898"/>
                <a:chOff x="505694" y="1476296"/>
                <a:chExt cx="835278" cy="637745"/>
              </a:xfrm>
            </p:grpSpPr>
            <p:sp>
              <p:nvSpPr>
                <p:cNvPr id="96" name="椭圆 95"/>
                <p:cNvSpPr/>
                <p:nvPr/>
              </p:nvSpPr>
              <p:spPr>
                <a:xfrm>
                  <a:off x="505694" y="1476296"/>
                  <a:ext cx="637745" cy="637745"/>
                </a:xfrm>
                <a:prstGeom prst="ellipse">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直角三角形 96"/>
                <p:cNvSpPr/>
                <p:nvPr/>
              </p:nvSpPr>
              <p:spPr>
                <a:xfrm rot="13500000">
                  <a:off x="1177330" y="1713348"/>
                  <a:ext cx="163642" cy="163642"/>
                </a:xfrm>
                <a:prstGeom prst="rtTriangle">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p:cNvSpPr txBox="1"/>
                <p:nvPr/>
              </p:nvSpPr>
              <p:spPr>
                <a:xfrm>
                  <a:off x="510136" y="1584776"/>
                  <a:ext cx="606422" cy="407848"/>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ea typeface="汉仪铁线黑-65简" panose="00020600040101010101" pitchFamily="18" charset="-122"/>
                    </a:rPr>
                    <a:t>02</a:t>
                  </a:r>
                  <a:endParaRPr lang="zh-CN" altLang="en-US" sz="2400" dirty="0">
                    <a:solidFill>
                      <a:schemeClr val="bg1"/>
                    </a:solidFill>
                    <a:latin typeface="Impact" panose="020B0806030902050204" pitchFamily="34" charset="0"/>
                    <a:ea typeface="汉仪铁线黑-65简" panose="00020600040101010101" pitchFamily="18" charset="-122"/>
                  </a:endParaRPr>
                </a:p>
              </p:txBody>
            </p:sp>
          </p:grpSp>
          <p:sp>
            <p:nvSpPr>
              <p:cNvPr id="95" name="矩形: 圆角 94"/>
              <p:cNvSpPr/>
              <p:nvPr/>
            </p:nvSpPr>
            <p:spPr>
              <a:xfrm>
                <a:off x="1446096" y="1461794"/>
                <a:ext cx="9964562" cy="1404000"/>
              </a:xfrm>
              <a:prstGeom prst="roundRect">
                <a:avLst>
                  <a:gd name="adj" fmla="val 6796"/>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矩形 92"/>
            <p:cNvSpPr/>
            <p:nvPr/>
          </p:nvSpPr>
          <p:spPr>
            <a:xfrm>
              <a:off x="1858049" y="1610007"/>
              <a:ext cx="9637266" cy="1031373"/>
            </a:xfrm>
            <a:prstGeom prst="rect">
              <a:avLst/>
            </a:prstGeom>
          </p:spPr>
          <p:txBody>
            <a:bodyPr wrap="square">
              <a:spAutoFit/>
            </a:bodyPr>
            <a:lstStyle/>
            <a:p>
              <a:pPr>
                <a:lnSpc>
                  <a:spcPts val="2500"/>
                </a:lnSpc>
              </a:pPr>
              <a:r>
                <a:rPr lang="en-US" altLang="zh-CN" sz="1700" dirty="0">
                  <a:latin typeface="Noto Sans S Chinese Regular" panose="020B0500000000000000" pitchFamily="34" charset="-122"/>
                  <a:ea typeface="Noto Sans S Chinese Regular" panose="020B0500000000000000" pitchFamily="34" charset="-122"/>
                </a:rPr>
                <a:t>1989</a:t>
              </a:r>
              <a:r>
                <a:rPr lang="zh-CN" altLang="en-US" sz="1700" dirty="0">
                  <a:latin typeface="Noto Sans S Chinese Regular" panose="020B0500000000000000" pitchFamily="34" charset="-122"/>
                  <a:ea typeface="Noto Sans S Chinese Regular" panose="020B0500000000000000" pitchFamily="34" charset="-122"/>
                </a:rPr>
                <a:t>年党的十三届四中全会后，以</a:t>
              </a:r>
              <a:r>
                <a:rPr lang="zh-CN" altLang="en-US" sz="1700" b="1" dirty="0">
                  <a:solidFill>
                    <a:srgbClr val="840300"/>
                  </a:solidFill>
                  <a:latin typeface="Noto Sans S Chinese Regular" panose="020B0500000000000000" pitchFamily="34" charset="-122"/>
                  <a:ea typeface="Noto Sans S Chinese Regular" panose="020B0500000000000000" pitchFamily="34" charset="-122"/>
                </a:rPr>
                <a:t>江泽民同志</a:t>
              </a:r>
              <a:r>
                <a:rPr lang="zh-CN" altLang="en-US" sz="1700" dirty="0">
                  <a:latin typeface="Noto Sans S Chinese Regular" panose="020B0500000000000000" pitchFamily="34" charset="-122"/>
                  <a:ea typeface="Noto Sans S Chinese Regular" panose="020B0500000000000000" pitchFamily="34" charset="-122"/>
                </a:rPr>
                <a:t>为核心的党的第三代中央领导集体，坚持党的基本理论、基本路线，坚定捍卫中国特色社会主义，提出依法治国基本方略，推进党的建设新的伟大工程，形成“三个代表”重要思想，开创了全面改革开放新局面，成功把中国特色社会主义推向</a:t>
              </a:r>
              <a:r>
                <a:rPr lang="en-US" altLang="zh-CN" sz="1700" dirty="0">
                  <a:latin typeface="Noto Sans S Chinese Regular" panose="020B0500000000000000" pitchFamily="34" charset="-122"/>
                  <a:ea typeface="Noto Sans S Chinese Regular" panose="020B0500000000000000" pitchFamily="34" charset="-122"/>
                </a:rPr>
                <a:t>21</a:t>
              </a:r>
              <a:r>
                <a:rPr lang="zh-CN" altLang="en-US" sz="1700" dirty="0">
                  <a:latin typeface="Noto Sans S Chinese Regular" panose="020B0500000000000000" pitchFamily="34" charset="-122"/>
                  <a:ea typeface="Noto Sans S Chinese Regular" panose="020B0500000000000000" pitchFamily="34" charset="-122"/>
                </a:rPr>
                <a:t>世纪。</a:t>
              </a:r>
              <a:endParaRPr lang="zh-CN" altLang="en-US" sz="1700" dirty="0">
                <a:latin typeface="Noto Sans S Chinese Regular" panose="020B0500000000000000" pitchFamily="34" charset="-122"/>
                <a:ea typeface="Noto Sans S Chinese Regular" panose="020B0500000000000000" pitchFamily="34" charset="-122"/>
              </a:endParaRPr>
            </a:p>
          </p:txBody>
        </p:sp>
      </p:grpSp>
      <p:grpSp>
        <p:nvGrpSpPr>
          <p:cNvPr id="99" name="组合 98"/>
          <p:cNvGrpSpPr/>
          <p:nvPr/>
        </p:nvGrpSpPr>
        <p:grpSpPr>
          <a:xfrm>
            <a:off x="565707" y="4830249"/>
            <a:ext cx="11085440" cy="1404000"/>
            <a:chOff x="565707" y="1423694"/>
            <a:chExt cx="11085440" cy="1404000"/>
          </a:xfrm>
        </p:grpSpPr>
        <p:grpSp>
          <p:nvGrpSpPr>
            <p:cNvPr id="100" name="组合 99"/>
            <p:cNvGrpSpPr/>
            <p:nvPr/>
          </p:nvGrpSpPr>
          <p:grpSpPr>
            <a:xfrm>
              <a:off x="565707" y="1423694"/>
              <a:ext cx="11085440" cy="1404000"/>
              <a:chOff x="325218" y="1461794"/>
              <a:chExt cx="11085440" cy="1404000"/>
            </a:xfrm>
          </p:grpSpPr>
          <p:grpSp>
            <p:nvGrpSpPr>
              <p:cNvPr id="102" name="组合 101"/>
              <p:cNvGrpSpPr/>
              <p:nvPr/>
            </p:nvGrpSpPr>
            <p:grpSpPr>
              <a:xfrm>
                <a:off x="325218" y="1784266"/>
                <a:ext cx="945496" cy="721898"/>
                <a:chOff x="505694" y="1476296"/>
                <a:chExt cx="835278" cy="637745"/>
              </a:xfrm>
            </p:grpSpPr>
            <p:sp>
              <p:nvSpPr>
                <p:cNvPr id="104" name="椭圆 103"/>
                <p:cNvSpPr/>
                <p:nvPr/>
              </p:nvSpPr>
              <p:spPr>
                <a:xfrm>
                  <a:off x="505694" y="1476296"/>
                  <a:ext cx="637745" cy="637745"/>
                </a:xfrm>
                <a:prstGeom prst="ellipse">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直角三角形 104"/>
                <p:cNvSpPr/>
                <p:nvPr/>
              </p:nvSpPr>
              <p:spPr>
                <a:xfrm rot="13500000">
                  <a:off x="1177330" y="1713348"/>
                  <a:ext cx="163642" cy="163642"/>
                </a:xfrm>
                <a:prstGeom prst="rtTriangle">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p:cNvSpPr txBox="1"/>
                <p:nvPr/>
              </p:nvSpPr>
              <p:spPr>
                <a:xfrm>
                  <a:off x="510136" y="1584776"/>
                  <a:ext cx="606422" cy="407848"/>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ea typeface="汉仪铁线黑-65简" panose="00020600040101010101" pitchFamily="18" charset="-122"/>
                    </a:rPr>
                    <a:t>03</a:t>
                  </a:r>
                  <a:endParaRPr lang="zh-CN" altLang="en-US" sz="2400" dirty="0">
                    <a:solidFill>
                      <a:schemeClr val="bg1"/>
                    </a:solidFill>
                    <a:latin typeface="Impact" panose="020B0806030902050204" pitchFamily="34" charset="0"/>
                    <a:ea typeface="汉仪铁线黑-65简" panose="00020600040101010101" pitchFamily="18" charset="-122"/>
                  </a:endParaRPr>
                </a:p>
              </p:txBody>
            </p:sp>
          </p:grpSp>
          <p:sp>
            <p:nvSpPr>
              <p:cNvPr id="103" name="矩形: 圆角 102"/>
              <p:cNvSpPr/>
              <p:nvPr/>
            </p:nvSpPr>
            <p:spPr>
              <a:xfrm>
                <a:off x="1446096" y="1461794"/>
                <a:ext cx="9964562" cy="1404000"/>
              </a:xfrm>
              <a:prstGeom prst="roundRect">
                <a:avLst>
                  <a:gd name="adj" fmla="val 6796"/>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1" name="矩形 100"/>
            <p:cNvSpPr/>
            <p:nvPr/>
          </p:nvSpPr>
          <p:spPr>
            <a:xfrm>
              <a:off x="1858049" y="1610007"/>
              <a:ext cx="9637266" cy="1031373"/>
            </a:xfrm>
            <a:prstGeom prst="rect">
              <a:avLst/>
            </a:prstGeom>
          </p:spPr>
          <p:txBody>
            <a:bodyPr wrap="square">
              <a:spAutoFit/>
            </a:bodyPr>
            <a:lstStyle/>
            <a:p>
              <a:pPr>
                <a:lnSpc>
                  <a:spcPts val="2500"/>
                </a:lnSpc>
              </a:pPr>
              <a:r>
                <a:rPr lang="en-US" altLang="zh-CN" sz="1700" dirty="0">
                  <a:latin typeface="Noto Sans S Chinese Regular" panose="020B0500000000000000" pitchFamily="34" charset="-122"/>
                  <a:ea typeface="Noto Sans S Chinese Regular" panose="020B0500000000000000" pitchFamily="34" charset="-122"/>
                </a:rPr>
                <a:t>2002</a:t>
              </a:r>
              <a:r>
                <a:rPr lang="zh-CN" altLang="en-US" sz="1700" dirty="0">
                  <a:latin typeface="Noto Sans S Chinese Regular" panose="020B0500000000000000" pitchFamily="34" charset="-122"/>
                  <a:ea typeface="Noto Sans S Chinese Regular" panose="020B0500000000000000" pitchFamily="34" charset="-122"/>
                </a:rPr>
                <a:t>年党的十六大后，以</a:t>
              </a:r>
              <a:r>
                <a:rPr lang="zh-CN" altLang="en-US" sz="1700" b="1" dirty="0">
                  <a:solidFill>
                    <a:srgbClr val="840300"/>
                  </a:solidFill>
                  <a:latin typeface="Noto Sans S Chinese Regular" panose="020B0500000000000000" pitchFamily="34" charset="-122"/>
                  <a:ea typeface="Noto Sans S Chinese Regular" panose="020B0500000000000000" pitchFamily="34" charset="-122"/>
                </a:rPr>
                <a:t>胡锦涛同志</a:t>
              </a:r>
              <a:r>
                <a:rPr lang="zh-CN" altLang="en-US" sz="1700" dirty="0">
                  <a:latin typeface="Noto Sans S Chinese Regular" panose="020B0500000000000000" pitchFamily="34" charset="-122"/>
                  <a:ea typeface="Noto Sans S Chinese Regular" panose="020B0500000000000000" pitchFamily="34" charset="-122"/>
                </a:rPr>
                <a:t>为总书记的党中央，紧紧抓住和用好重要战略机遇期，团结带领全党全国各族人民，构建社会主义和谐社会，着力保障和改善民生，促进社会公平正义，推动建设和谐世界，在全面建设小康社会的伟大实践中，成功坚持和发展了中国特色社会主义。</a:t>
              </a:r>
              <a:endParaRPr lang="zh-CN" altLang="en-US" sz="1700" dirty="0">
                <a:latin typeface="Noto Sans S Chinese Regular" panose="020B0500000000000000" pitchFamily="34" charset="-122"/>
                <a:ea typeface="Noto Sans S Chinese Regular" panose="020B0500000000000000" pitchFamily="34" charset="-122"/>
              </a:endParaRPr>
            </a:p>
          </p:txBody>
        </p:sp>
      </p:grpSp>
    </p:spTree>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52404" y="138321"/>
            <a:ext cx="11898321" cy="6714889"/>
            <a:chOff x="152405" y="138321"/>
            <a:chExt cx="11898320" cy="6714889"/>
          </a:xfrm>
        </p:grpSpPr>
        <p:sp>
          <p:nvSpPr>
            <p:cNvPr id="12" name="任意多边形: 形状 11"/>
            <p:cNvSpPr/>
            <p:nvPr/>
          </p:nvSpPr>
          <p:spPr>
            <a:xfrm>
              <a:off x="152405" y="138321"/>
              <a:ext cx="11898320"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8" name="任意多边形: 形状 7"/>
            <p:cNvSpPr/>
            <p:nvPr/>
          </p:nvSpPr>
          <p:spPr>
            <a:xfrm>
              <a:off x="152405" y="6481493"/>
              <a:ext cx="11898319" cy="311958"/>
            </a:xfrm>
            <a:custGeom>
              <a:avLst/>
              <a:gdLst>
                <a:gd name="connsiteX0" fmla="*/ 0 w 4573721"/>
                <a:gd name="connsiteY0" fmla="*/ 0 h 240110"/>
                <a:gd name="connsiteX1" fmla="*/ 4573722 w 4573721"/>
                <a:gd name="connsiteY1" fmla="*/ 0 h 240110"/>
                <a:gd name="connsiteX2" fmla="*/ 4573722 w 4573721"/>
                <a:gd name="connsiteY2" fmla="*/ 240111 h 240110"/>
                <a:gd name="connsiteX3" fmla="*/ 0 w 4573721"/>
                <a:gd name="connsiteY3" fmla="*/ 240111 h 240110"/>
              </a:gdLst>
              <a:ahLst/>
              <a:cxnLst>
                <a:cxn ang="0">
                  <a:pos x="connsiteX0" y="connsiteY0"/>
                </a:cxn>
                <a:cxn ang="0">
                  <a:pos x="connsiteX1" y="connsiteY1"/>
                </a:cxn>
                <a:cxn ang="0">
                  <a:pos x="connsiteX2" y="connsiteY2"/>
                </a:cxn>
                <a:cxn ang="0">
                  <a:pos x="connsiteX3" y="connsiteY3"/>
                </a:cxn>
              </a:cxnLst>
              <a:rect l="l" t="t" r="r" b="b"/>
              <a:pathLst>
                <a:path w="4573721" h="240110">
                  <a:moveTo>
                    <a:pt x="0" y="0"/>
                  </a:moveTo>
                  <a:lnTo>
                    <a:pt x="4573722" y="0"/>
                  </a:lnTo>
                  <a:lnTo>
                    <a:pt x="4573722" y="240111"/>
                  </a:lnTo>
                  <a:lnTo>
                    <a:pt x="0" y="240111"/>
                  </a:lnTo>
                  <a:close/>
                </a:path>
              </a:pathLst>
            </a:custGeom>
            <a:solidFill>
              <a:srgbClr val="840300"/>
            </a:solidFill>
            <a:ln w="5379" cap="flat">
              <a:noFill/>
              <a:prstDash val="solid"/>
              <a:miter/>
            </a:ln>
          </p:spPr>
          <p:txBody>
            <a:bodyPr rtlCol="0" anchor="ctr"/>
            <a:lstStyle/>
            <a:p>
              <a:endParaRPr lang="zh-CN" altLang="en-US"/>
            </a:p>
          </p:txBody>
        </p:sp>
        <p:pic>
          <p:nvPicPr>
            <p:cNvPr id="9" name="图片 8"/>
            <p:cNvPicPr>
              <a:picLocks noChangeAspect="1"/>
            </p:cNvPicPr>
            <p:nvPr/>
          </p:nvPicPr>
          <p:blipFill>
            <a:blip r:embed="rId1"/>
            <a:stretch>
              <a:fillRect/>
            </a:stretch>
          </p:blipFill>
          <p:spPr>
            <a:xfrm>
              <a:off x="2908301" y="4949370"/>
              <a:ext cx="6375397" cy="1595016"/>
            </a:xfrm>
            <a:custGeom>
              <a:avLst/>
              <a:gdLst>
                <a:gd name="connsiteX0" fmla="*/ -756 w 4573721"/>
                <a:gd name="connsiteY0" fmla="*/ 809 h 1227662"/>
                <a:gd name="connsiteX1" fmla="*/ 4572966 w 4573721"/>
                <a:gd name="connsiteY1" fmla="*/ 809 h 1227662"/>
                <a:gd name="connsiteX2" fmla="*/ 4572966 w 4573721"/>
                <a:gd name="connsiteY2" fmla="*/ 1228471 h 1227662"/>
                <a:gd name="connsiteX3" fmla="*/ -756 w 4573721"/>
                <a:gd name="connsiteY3" fmla="*/ 1228471 h 1227662"/>
              </a:gdLst>
              <a:ahLst/>
              <a:cxnLst>
                <a:cxn ang="0">
                  <a:pos x="connsiteX0" y="connsiteY0"/>
                </a:cxn>
                <a:cxn ang="0">
                  <a:pos x="connsiteX1" y="connsiteY1"/>
                </a:cxn>
                <a:cxn ang="0">
                  <a:pos x="connsiteX2" y="connsiteY2"/>
                </a:cxn>
                <a:cxn ang="0">
                  <a:pos x="connsiteX3" y="connsiteY3"/>
                </a:cxn>
              </a:cxnLst>
              <a:rect l="l" t="t" r="r" b="b"/>
              <a:pathLst>
                <a:path w="4573721" h="1227662">
                  <a:moveTo>
                    <a:pt x="-756" y="809"/>
                  </a:moveTo>
                  <a:lnTo>
                    <a:pt x="4572966" y="809"/>
                  </a:lnTo>
                  <a:lnTo>
                    <a:pt x="4572966" y="1228471"/>
                  </a:lnTo>
                  <a:lnTo>
                    <a:pt x="-756" y="1228471"/>
                  </a:lnTo>
                  <a:close/>
                </a:path>
              </a:pathLst>
            </a:custGeom>
          </p:spPr>
        </p:pic>
        <p:sp>
          <p:nvSpPr>
            <p:cNvPr id="7" name="任意多边形: 形状 6"/>
            <p:cNvSpPr/>
            <p:nvPr/>
          </p:nvSpPr>
          <p:spPr>
            <a:xfrm>
              <a:off x="5941377" y="6481493"/>
              <a:ext cx="309244" cy="371717"/>
            </a:xfrm>
            <a:custGeom>
              <a:avLst/>
              <a:gdLst>
                <a:gd name="connsiteX0" fmla="*/ 154622 w 309244"/>
                <a:gd name="connsiteY0" fmla="*/ 0 h 371717"/>
                <a:gd name="connsiteX1" fmla="*/ 309244 w 309244"/>
                <a:gd name="connsiteY1" fmla="*/ 154622 h 371717"/>
                <a:gd name="connsiteX2" fmla="*/ 309244 w 309244"/>
                <a:gd name="connsiteY2" fmla="*/ 371717 h 371717"/>
                <a:gd name="connsiteX3" fmla="*/ 0 w 309244"/>
                <a:gd name="connsiteY3" fmla="*/ 371717 h 371717"/>
                <a:gd name="connsiteX4" fmla="*/ 0 w 309244"/>
                <a:gd name="connsiteY4" fmla="*/ 154622 h 371717"/>
                <a:gd name="connsiteX5" fmla="*/ 154622 w 309244"/>
                <a:gd name="connsiteY5" fmla="*/ 0 h 37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244" h="371717">
                  <a:moveTo>
                    <a:pt x="154622" y="0"/>
                  </a:moveTo>
                  <a:cubicBezTo>
                    <a:pt x="240017" y="0"/>
                    <a:pt x="309244" y="69227"/>
                    <a:pt x="309244" y="154622"/>
                  </a:cubicBezTo>
                  <a:lnTo>
                    <a:pt x="309244" y="371717"/>
                  </a:lnTo>
                  <a:lnTo>
                    <a:pt x="0" y="371717"/>
                  </a:lnTo>
                  <a:lnTo>
                    <a:pt x="0" y="154622"/>
                  </a:lnTo>
                  <a:cubicBezTo>
                    <a:pt x="0" y="69227"/>
                    <a:pt x="69227" y="0"/>
                    <a:pt x="154622"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22" name="组合 21"/>
          <p:cNvGrpSpPr/>
          <p:nvPr/>
        </p:nvGrpSpPr>
        <p:grpSpPr>
          <a:xfrm>
            <a:off x="5006867" y="1618219"/>
            <a:ext cx="2179951" cy="536119"/>
            <a:chOff x="5013290" y="1820631"/>
            <a:chExt cx="2179951" cy="536119"/>
          </a:xfrm>
        </p:grpSpPr>
        <p:sp>
          <p:nvSpPr>
            <p:cNvPr id="6" name="星形: 五角 5"/>
            <p:cNvSpPr/>
            <p:nvPr/>
          </p:nvSpPr>
          <p:spPr>
            <a:xfrm>
              <a:off x="5834290" y="1820631"/>
              <a:ext cx="536119" cy="536119"/>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星形: 五角 15"/>
            <p:cNvSpPr/>
            <p:nvPr/>
          </p:nvSpPr>
          <p:spPr>
            <a:xfrm>
              <a:off x="6440900" y="1908630"/>
              <a:ext cx="374334" cy="374334"/>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p:cNvSpPr/>
            <p:nvPr/>
          </p:nvSpPr>
          <p:spPr>
            <a:xfrm>
              <a:off x="6898425" y="1948389"/>
              <a:ext cx="294816" cy="294816"/>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flipH="1">
              <a:off x="5013290" y="1905594"/>
              <a:ext cx="752341" cy="374334"/>
              <a:chOff x="6593300" y="2061030"/>
              <a:chExt cx="752341" cy="374334"/>
            </a:xfrm>
            <a:solidFill>
              <a:srgbClr val="840300"/>
            </a:solidFill>
          </p:grpSpPr>
          <p:sp>
            <p:nvSpPr>
              <p:cNvPr id="19" name="星形: 五角 18"/>
              <p:cNvSpPr/>
              <p:nvPr/>
            </p:nvSpPr>
            <p:spPr>
              <a:xfrm>
                <a:off x="6593300" y="2061030"/>
                <a:ext cx="374334" cy="374334"/>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星形: 五角 19"/>
              <p:cNvSpPr/>
              <p:nvPr/>
            </p:nvSpPr>
            <p:spPr>
              <a:xfrm>
                <a:off x="7050825" y="2100789"/>
                <a:ext cx="294816" cy="294816"/>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0" name="组合 29"/>
          <p:cNvGrpSpPr/>
          <p:nvPr/>
        </p:nvGrpSpPr>
        <p:grpSpPr>
          <a:xfrm>
            <a:off x="2641526" y="1908630"/>
            <a:ext cx="6908948" cy="2351995"/>
            <a:chOff x="2650133" y="1967722"/>
            <a:chExt cx="6908948" cy="2351995"/>
          </a:xfrm>
        </p:grpSpPr>
        <p:sp>
          <p:nvSpPr>
            <p:cNvPr id="32" name="文本框 90"/>
            <p:cNvSpPr txBox="1"/>
            <p:nvPr/>
          </p:nvSpPr>
          <p:spPr>
            <a:xfrm>
              <a:off x="2650281" y="2437851"/>
              <a:ext cx="6908800" cy="800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600" b="1" dirty="0">
                  <a:solidFill>
                    <a:srgbClr val="840300"/>
                  </a:solidFill>
                  <a:latin typeface="Noto Sans S Chinese Medium" panose="020B0600000000000000" pitchFamily="34" charset="-122"/>
                  <a:ea typeface="Noto Sans S Chinese Medium" panose="020B0600000000000000" pitchFamily="34" charset="-122"/>
                </a:rPr>
                <a:t>中国共产党百年历史总结</a:t>
              </a:r>
              <a:endParaRPr lang="zh-CN" altLang="en-US" sz="4600" b="1" dirty="0">
                <a:solidFill>
                  <a:srgbClr val="840300"/>
                </a:solidFill>
                <a:latin typeface="Noto Sans S Chinese Medium" panose="020B0600000000000000" pitchFamily="34" charset="-122"/>
                <a:ea typeface="Noto Sans S Chinese Medium" panose="020B0600000000000000" pitchFamily="34" charset="-122"/>
              </a:endParaRPr>
            </a:p>
          </p:txBody>
        </p:sp>
        <p:cxnSp>
          <p:nvCxnSpPr>
            <p:cNvPr id="38" name="直接连接符 37"/>
            <p:cNvCxnSpPr/>
            <p:nvPr/>
          </p:nvCxnSpPr>
          <p:spPr>
            <a:xfrm>
              <a:off x="2650133" y="4319717"/>
              <a:ext cx="6908800"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2672297" y="3232397"/>
              <a:ext cx="6873532" cy="70487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从</a:t>
              </a:r>
              <a:r>
                <a:rPr lang="en-US" altLang="zh-CN" sz="1400" b="0" i="0" dirty="0">
                  <a:solidFill>
                    <a:srgbClr val="840300"/>
                  </a:solidFill>
                  <a:effectLst/>
                  <a:latin typeface="Noto Sans S Chinese Medium" panose="020B0600000000000000" pitchFamily="34" charset="-122"/>
                  <a:ea typeface="Noto Sans S Chinese Medium" panose="020B0600000000000000" pitchFamily="34" charset="-122"/>
                </a:rPr>
                <a:t>1921</a:t>
              </a: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年到</a:t>
              </a:r>
              <a:r>
                <a:rPr lang="en-US" altLang="zh-CN" sz="1400" b="0" i="0" dirty="0">
                  <a:solidFill>
                    <a:srgbClr val="840300"/>
                  </a:solidFill>
                  <a:effectLst/>
                  <a:latin typeface="Noto Sans S Chinese Medium" panose="020B0600000000000000" pitchFamily="34" charset="-122"/>
                  <a:ea typeface="Noto Sans S Chinese Medium" panose="020B0600000000000000" pitchFamily="34" charset="-122"/>
                </a:rPr>
                <a:t>2021</a:t>
              </a: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年，中国共产党走过了整整一百年的历程。这是苦难中铸就辉煌、挫折后毅然奋起、探索中收获成功、转折中开创新局、奋斗后赢得未来的百年。</a:t>
              </a:r>
              <a:endParaRPr lang="zh-CN" altLang="en-US" sz="1400" dirty="0">
                <a:solidFill>
                  <a:srgbClr val="840300"/>
                </a:solidFill>
                <a:latin typeface="Noto Sans S Chinese Medium" panose="020B0600000000000000" pitchFamily="34" charset="-122"/>
                <a:ea typeface="Noto Sans S Chinese Medium" panose="020B0600000000000000" pitchFamily="34" charset="-122"/>
              </a:endParaRPr>
            </a:p>
          </p:txBody>
        </p:sp>
        <p:cxnSp>
          <p:nvCxnSpPr>
            <p:cNvPr id="46" name="直接连接符 45"/>
            <p:cNvCxnSpPr/>
            <p:nvPr/>
          </p:nvCxnSpPr>
          <p:spPr>
            <a:xfrm>
              <a:off x="2650133" y="1967722"/>
              <a:ext cx="2253171"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7305762" y="1967722"/>
              <a:ext cx="2253171"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中国共产党百年历史总结</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708854" y="1420653"/>
            <a:ext cx="10797346" cy="1229782"/>
            <a:chOff x="708854" y="1420653"/>
            <a:chExt cx="10797346" cy="1229782"/>
          </a:xfrm>
        </p:grpSpPr>
        <p:grpSp>
          <p:nvGrpSpPr>
            <p:cNvPr id="34" name="组合 33"/>
            <p:cNvGrpSpPr/>
            <p:nvPr/>
          </p:nvGrpSpPr>
          <p:grpSpPr>
            <a:xfrm>
              <a:off x="708854" y="1420653"/>
              <a:ext cx="10797346" cy="1229782"/>
              <a:chOff x="950805" y="1501753"/>
              <a:chExt cx="10321013" cy="1125197"/>
            </a:xfrm>
          </p:grpSpPr>
          <p:grpSp>
            <p:nvGrpSpPr>
              <p:cNvPr id="36" name="组合 35"/>
              <p:cNvGrpSpPr/>
              <p:nvPr/>
            </p:nvGrpSpPr>
            <p:grpSpPr>
              <a:xfrm>
                <a:off x="950805" y="1501753"/>
                <a:ext cx="10321013" cy="1125197"/>
                <a:chOff x="1388562" y="2406896"/>
                <a:chExt cx="7380532" cy="453088"/>
              </a:xfrm>
            </p:grpSpPr>
            <p:sp>
              <p:nvSpPr>
                <p:cNvPr id="38"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9" name="组合 38"/>
                <p:cNvGrpSpPr/>
                <p:nvPr/>
              </p:nvGrpSpPr>
              <p:grpSpPr>
                <a:xfrm rot="16200000">
                  <a:off x="4905130" y="-1060351"/>
                  <a:ext cx="347395" cy="7380532"/>
                  <a:chOff x="1861560" y="2493401"/>
                  <a:chExt cx="1872238" cy="7380532"/>
                </a:xfrm>
              </p:grpSpPr>
              <p:sp>
                <p:nvSpPr>
                  <p:cNvPr id="41"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0"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37" name="文本框 36"/>
              <p:cNvSpPr txBox="1"/>
              <p:nvPr/>
            </p:nvSpPr>
            <p:spPr>
              <a:xfrm>
                <a:off x="1177880" y="1851993"/>
                <a:ext cx="680833" cy="448139"/>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01</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2" name="组合 1"/>
            <p:cNvGrpSpPr/>
            <p:nvPr/>
          </p:nvGrpSpPr>
          <p:grpSpPr>
            <a:xfrm>
              <a:off x="1806874" y="1500231"/>
              <a:ext cx="9257713" cy="1039653"/>
              <a:chOff x="1794601" y="1610348"/>
              <a:chExt cx="9257713" cy="1039653"/>
            </a:xfrm>
          </p:grpSpPr>
          <p:sp>
            <p:nvSpPr>
              <p:cNvPr id="73" name="矩形 72"/>
              <p:cNvSpPr/>
              <p:nvPr/>
            </p:nvSpPr>
            <p:spPr>
              <a:xfrm>
                <a:off x="1794601" y="1610348"/>
                <a:ext cx="3467491" cy="422103"/>
              </a:xfrm>
              <a:prstGeom prst="rect">
                <a:avLst/>
              </a:prstGeom>
            </p:spPr>
            <p:txBody>
              <a:bodyPr wrap="square">
                <a:spAutoFit/>
              </a:bodyPr>
              <a:lstStyle/>
              <a:p>
                <a:pPr>
                  <a:lnSpc>
                    <a:spcPts val="2800"/>
                  </a:lnSpc>
                </a:pPr>
                <a:r>
                  <a:rPr lang="zh-CN" altLang="en-US" dirty="0">
                    <a:solidFill>
                      <a:srgbClr val="840300"/>
                    </a:solidFill>
                    <a:latin typeface="Noto Sans S Chinese Medium" panose="020B0600000000000000" pitchFamily="34" charset="-122"/>
                    <a:ea typeface="Noto Sans S Chinese Medium" panose="020B0600000000000000" pitchFamily="34" charset="-122"/>
                  </a:rPr>
                  <a:t> </a:t>
                </a:r>
                <a:r>
                  <a:rPr lang="zh-CN" altLang="en-US" b="1" dirty="0">
                    <a:solidFill>
                      <a:srgbClr val="840300"/>
                    </a:solidFill>
                    <a:latin typeface="Noto Sans S Chinese Medium" panose="020B0600000000000000" pitchFamily="34" charset="-122"/>
                    <a:ea typeface="Noto Sans S Chinese Medium" panose="020B0600000000000000" pitchFamily="34" charset="-122"/>
                  </a:rPr>
                  <a:t>必须坚持党对一切工作的领导</a:t>
                </a:r>
                <a:endParaRPr lang="en-US" altLang="zh-CN"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74" name="矩形 73"/>
              <p:cNvSpPr/>
              <p:nvPr/>
            </p:nvSpPr>
            <p:spPr>
              <a:xfrm>
                <a:off x="1834516" y="2009889"/>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我们要坚决维护以习近平同志为核心的党中央权威和集中统一领导，完善坚持党的体制机制，提高党把方向、谋大局、定政策、促改革的能力和定力。</a:t>
                </a:r>
                <a:endParaRPr lang="zh-CN" altLang="en-US" sz="1600" dirty="0">
                  <a:latin typeface="Noto Sans S Chinese DemiLight" panose="020B0400000000000000" pitchFamily="34" charset="-122"/>
                  <a:ea typeface="Noto Sans S Chinese DemiLight" panose="020B0400000000000000" pitchFamily="34" charset="-122"/>
                </a:endParaRPr>
              </a:p>
            </p:txBody>
          </p:sp>
        </p:grpSp>
      </p:grpSp>
      <p:grpSp>
        <p:nvGrpSpPr>
          <p:cNvPr id="75" name="组合 74"/>
          <p:cNvGrpSpPr/>
          <p:nvPr/>
        </p:nvGrpSpPr>
        <p:grpSpPr>
          <a:xfrm>
            <a:off x="708854" y="3136809"/>
            <a:ext cx="10797346" cy="1229782"/>
            <a:chOff x="708854" y="1420653"/>
            <a:chExt cx="10797346" cy="1229782"/>
          </a:xfrm>
        </p:grpSpPr>
        <p:grpSp>
          <p:nvGrpSpPr>
            <p:cNvPr id="76" name="组合 75"/>
            <p:cNvGrpSpPr/>
            <p:nvPr/>
          </p:nvGrpSpPr>
          <p:grpSpPr>
            <a:xfrm>
              <a:off x="708854" y="1420653"/>
              <a:ext cx="10797346" cy="1229782"/>
              <a:chOff x="950805" y="1501753"/>
              <a:chExt cx="10321013" cy="1125197"/>
            </a:xfrm>
          </p:grpSpPr>
          <p:grpSp>
            <p:nvGrpSpPr>
              <p:cNvPr id="80" name="组合 79"/>
              <p:cNvGrpSpPr/>
              <p:nvPr/>
            </p:nvGrpSpPr>
            <p:grpSpPr>
              <a:xfrm>
                <a:off x="950805" y="1501753"/>
                <a:ext cx="10321013" cy="1125197"/>
                <a:chOff x="1388562" y="2406896"/>
                <a:chExt cx="7380532" cy="453088"/>
              </a:xfrm>
            </p:grpSpPr>
            <p:sp>
              <p:nvSpPr>
                <p:cNvPr id="82"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83" name="组合 82"/>
                <p:cNvGrpSpPr/>
                <p:nvPr/>
              </p:nvGrpSpPr>
              <p:grpSpPr>
                <a:xfrm rot="16200000">
                  <a:off x="4905130" y="-1060351"/>
                  <a:ext cx="347395" cy="7380532"/>
                  <a:chOff x="1861560" y="2493401"/>
                  <a:chExt cx="1872238" cy="7380532"/>
                </a:xfrm>
              </p:grpSpPr>
              <p:sp>
                <p:nvSpPr>
                  <p:cNvPr id="85"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6"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84"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81" name="文本框 80"/>
              <p:cNvSpPr txBox="1"/>
              <p:nvPr/>
            </p:nvSpPr>
            <p:spPr>
              <a:xfrm>
                <a:off x="1177880" y="1851993"/>
                <a:ext cx="680833" cy="478724"/>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02</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77" name="组合 76"/>
            <p:cNvGrpSpPr/>
            <p:nvPr/>
          </p:nvGrpSpPr>
          <p:grpSpPr>
            <a:xfrm>
              <a:off x="1806874" y="1500231"/>
              <a:ext cx="9257713" cy="1039653"/>
              <a:chOff x="1794601" y="1610348"/>
              <a:chExt cx="9257713" cy="1039653"/>
            </a:xfrm>
          </p:grpSpPr>
          <p:sp>
            <p:nvSpPr>
              <p:cNvPr id="78" name="矩形 77"/>
              <p:cNvSpPr/>
              <p:nvPr/>
            </p:nvSpPr>
            <p:spPr>
              <a:xfrm>
                <a:off x="1794601" y="1610348"/>
                <a:ext cx="3706030"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必须坚持马克思主义的指导地位</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79" name="矩形 78"/>
              <p:cNvSpPr/>
              <p:nvPr/>
            </p:nvSpPr>
            <p:spPr>
              <a:xfrm>
                <a:off x="1834516" y="2009889"/>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我们必须把马克思主义基本原理同中国实际和时代特征相结合，不断推进马克思主义中国化，用党的创新理论武装全党、教育人民，不断开辟当代中国马克思主义、</a:t>
                </a:r>
                <a:r>
                  <a:rPr lang="en-US" altLang="zh-CN" sz="1600" dirty="0">
                    <a:latin typeface="Noto Sans S Chinese DemiLight" panose="020B0400000000000000" pitchFamily="34" charset="-122"/>
                    <a:ea typeface="Noto Sans S Chinese DemiLight" panose="020B0400000000000000" pitchFamily="34" charset="-122"/>
                  </a:rPr>
                  <a:t>21</a:t>
                </a:r>
                <a:r>
                  <a:rPr lang="zh-CN" altLang="en-US" sz="1600" dirty="0">
                    <a:latin typeface="Noto Sans S Chinese DemiLight" panose="020B0400000000000000" pitchFamily="34" charset="-122"/>
                    <a:ea typeface="Noto Sans S Chinese DemiLight" panose="020B0400000000000000" pitchFamily="34" charset="-122"/>
                  </a:rPr>
                  <a:t>世纪马克思主义新境界。</a:t>
                </a:r>
                <a:endParaRPr lang="zh-CN" altLang="en-US" sz="1600" dirty="0">
                  <a:latin typeface="Noto Sans S Chinese DemiLight" panose="020B0400000000000000" pitchFamily="34" charset="-122"/>
                  <a:ea typeface="Noto Sans S Chinese DemiLight" panose="020B0400000000000000" pitchFamily="34" charset="-122"/>
                </a:endParaRPr>
              </a:p>
            </p:txBody>
          </p:sp>
        </p:grpSp>
      </p:grpSp>
      <p:grpSp>
        <p:nvGrpSpPr>
          <p:cNvPr id="87" name="组合 86"/>
          <p:cNvGrpSpPr/>
          <p:nvPr/>
        </p:nvGrpSpPr>
        <p:grpSpPr>
          <a:xfrm>
            <a:off x="708854" y="4852965"/>
            <a:ext cx="10797346" cy="1229782"/>
            <a:chOff x="708854" y="1420653"/>
            <a:chExt cx="10797346" cy="1229782"/>
          </a:xfrm>
        </p:grpSpPr>
        <p:grpSp>
          <p:nvGrpSpPr>
            <p:cNvPr id="88" name="组合 87"/>
            <p:cNvGrpSpPr/>
            <p:nvPr/>
          </p:nvGrpSpPr>
          <p:grpSpPr>
            <a:xfrm>
              <a:off x="708854" y="1420653"/>
              <a:ext cx="10797346" cy="1229782"/>
              <a:chOff x="950805" y="1501753"/>
              <a:chExt cx="10321013" cy="1125197"/>
            </a:xfrm>
          </p:grpSpPr>
          <p:grpSp>
            <p:nvGrpSpPr>
              <p:cNvPr id="92" name="组合 91"/>
              <p:cNvGrpSpPr/>
              <p:nvPr/>
            </p:nvGrpSpPr>
            <p:grpSpPr>
              <a:xfrm>
                <a:off x="950805" y="1501753"/>
                <a:ext cx="10321013" cy="1125197"/>
                <a:chOff x="1388562" y="2406896"/>
                <a:chExt cx="7380532" cy="453088"/>
              </a:xfrm>
            </p:grpSpPr>
            <p:sp>
              <p:nvSpPr>
                <p:cNvPr id="94"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95" name="组合 94"/>
                <p:cNvGrpSpPr/>
                <p:nvPr/>
              </p:nvGrpSpPr>
              <p:grpSpPr>
                <a:xfrm rot="16200000">
                  <a:off x="4905130" y="-1060351"/>
                  <a:ext cx="347395" cy="7380532"/>
                  <a:chOff x="1861560" y="2493401"/>
                  <a:chExt cx="1872238" cy="7380532"/>
                </a:xfrm>
              </p:grpSpPr>
              <p:sp>
                <p:nvSpPr>
                  <p:cNvPr id="97"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8"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6"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3" name="文本框 92"/>
              <p:cNvSpPr txBox="1"/>
              <p:nvPr/>
            </p:nvSpPr>
            <p:spPr>
              <a:xfrm>
                <a:off x="1177880" y="1851993"/>
                <a:ext cx="680833" cy="478724"/>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03</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89" name="组合 88"/>
            <p:cNvGrpSpPr/>
            <p:nvPr/>
          </p:nvGrpSpPr>
          <p:grpSpPr>
            <a:xfrm>
              <a:off x="1806874" y="1500231"/>
              <a:ext cx="9257713" cy="1039653"/>
              <a:chOff x="1794601" y="1610348"/>
              <a:chExt cx="9257713" cy="1039653"/>
            </a:xfrm>
          </p:grpSpPr>
          <p:sp>
            <p:nvSpPr>
              <p:cNvPr id="90" name="矩形 89"/>
              <p:cNvSpPr/>
              <p:nvPr/>
            </p:nvSpPr>
            <p:spPr>
              <a:xfrm>
                <a:off x="1794601" y="1610348"/>
                <a:ext cx="4010830"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必须坚持走中国特色社会主义道路</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91" name="矩形 90"/>
              <p:cNvSpPr/>
              <p:nvPr/>
            </p:nvSpPr>
            <p:spPr>
              <a:xfrm>
                <a:off x="1834516" y="2009889"/>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习近平总书记指出：“中国特色社会主义不是从天上掉下来的，是党和人民历尽千辛万苦、付出巨大代价取得的根本成就”，我们必须坚定不移走中国特色社会主义道路。</a:t>
                </a:r>
                <a:endParaRPr lang="zh-CN" altLang="en-US" sz="1600" dirty="0">
                  <a:latin typeface="Noto Sans S Chinese DemiLight" panose="020B0400000000000000" pitchFamily="34" charset="-122"/>
                  <a:ea typeface="Noto Sans S Chinese DemiLight" panose="020B0400000000000000" pitchFamily="34" charset="-122"/>
                </a:endParaRPr>
              </a:p>
            </p:txBody>
          </p:sp>
        </p:grpSp>
      </p:grpSp>
    </p:spTree>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中国共产党百年历史总结</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708854" y="1420653"/>
            <a:ext cx="10797346" cy="1229782"/>
            <a:chOff x="708854" y="1420653"/>
            <a:chExt cx="10797346" cy="1229782"/>
          </a:xfrm>
        </p:grpSpPr>
        <p:grpSp>
          <p:nvGrpSpPr>
            <p:cNvPr id="34" name="组合 33"/>
            <p:cNvGrpSpPr/>
            <p:nvPr/>
          </p:nvGrpSpPr>
          <p:grpSpPr>
            <a:xfrm>
              <a:off x="708854" y="1420653"/>
              <a:ext cx="10797346" cy="1229782"/>
              <a:chOff x="950805" y="1501753"/>
              <a:chExt cx="10321013" cy="1125197"/>
            </a:xfrm>
          </p:grpSpPr>
          <p:grpSp>
            <p:nvGrpSpPr>
              <p:cNvPr id="36" name="组合 35"/>
              <p:cNvGrpSpPr/>
              <p:nvPr/>
            </p:nvGrpSpPr>
            <p:grpSpPr>
              <a:xfrm>
                <a:off x="950805" y="1501753"/>
                <a:ext cx="10321013" cy="1125197"/>
                <a:chOff x="1388562" y="2406896"/>
                <a:chExt cx="7380532" cy="453088"/>
              </a:xfrm>
            </p:grpSpPr>
            <p:sp>
              <p:nvSpPr>
                <p:cNvPr id="38"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9" name="组合 38"/>
                <p:cNvGrpSpPr/>
                <p:nvPr/>
              </p:nvGrpSpPr>
              <p:grpSpPr>
                <a:xfrm rot="16200000">
                  <a:off x="4905130" y="-1060351"/>
                  <a:ext cx="347395" cy="7380532"/>
                  <a:chOff x="1861560" y="2493401"/>
                  <a:chExt cx="1872238" cy="7380532"/>
                </a:xfrm>
              </p:grpSpPr>
              <p:sp>
                <p:nvSpPr>
                  <p:cNvPr id="41"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0"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37" name="文本框 36"/>
              <p:cNvSpPr txBox="1"/>
              <p:nvPr/>
            </p:nvSpPr>
            <p:spPr>
              <a:xfrm>
                <a:off x="1134742" y="1851993"/>
                <a:ext cx="767110" cy="478723"/>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04</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2" name="组合 1"/>
            <p:cNvGrpSpPr/>
            <p:nvPr/>
          </p:nvGrpSpPr>
          <p:grpSpPr>
            <a:xfrm>
              <a:off x="1806874" y="1500231"/>
              <a:ext cx="9257713" cy="1039653"/>
              <a:chOff x="1794601" y="1610348"/>
              <a:chExt cx="9257713" cy="1039653"/>
            </a:xfrm>
          </p:grpSpPr>
          <p:sp>
            <p:nvSpPr>
              <p:cNvPr id="73" name="矩形 72"/>
              <p:cNvSpPr/>
              <p:nvPr/>
            </p:nvSpPr>
            <p:spPr>
              <a:xfrm>
                <a:off x="1794601" y="1610348"/>
                <a:ext cx="3467491"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必须坚持以人民为中心</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74" name="矩形 73"/>
              <p:cNvSpPr/>
              <p:nvPr/>
            </p:nvSpPr>
            <p:spPr>
              <a:xfrm>
                <a:off x="1834516" y="2009889"/>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我们要坚持全心全意为人民服务的根本宗旨，贯彻群众路线，尊重人民主体地位和首创精神，始终保持同人民群众的血肉联系，凝聚起众志成城的磅礴力量，团结带领人民共同创造历史伟业。 </a:t>
                </a:r>
                <a:endParaRPr lang="en-US" altLang="zh-CN" sz="1600" dirty="0">
                  <a:latin typeface="Noto Sans S Chinese DemiLight" panose="020B0400000000000000" pitchFamily="34" charset="-122"/>
                  <a:ea typeface="Noto Sans S Chinese DemiLight" panose="020B0400000000000000" pitchFamily="34" charset="-122"/>
                </a:endParaRPr>
              </a:p>
            </p:txBody>
          </p:sp>
        </p:grpSp>
      </p:grpSp>
      <p:grpSp>
        <p:nvGrpSpPr>
          <p:cNvPr id="75" name="组合 74"/>
          <p:cNvGrpSpPr/>
          <p:nvPr/>
        </p:nvGrpSpPr>
        <p:grpSpPr>
          <a:xfrm>
            <a:off x="708854" y="3136809"/>
            <a:ext cx="10797346" cy="1229782"/>
            <a:chOff x="708854" y="1420653"/>
            <a:chExt cx="10797346" cy="1229782"/>
          </a:xfrm>
        </p:grpSpPr>
        <p:grpSp>
          <p:nvGrpSpPr>
            <p:cNvPr id="76" name="组合 75"/>
            <p:cNvGrpSpPr/>
            <p:nvPr/>
          </p:nvGrpSpPr>
          <p:grpSpPr>
            <a:xfrm>
              <a:off x="708854" y="1420653"/>
              <a:ext cx="10797346" cy="1229782"/>
              <a:chOff x="950805" y="1501753"/>
              <a:chExt cx="10321013" cy="1125197"/>
            </a:xfrm>
          </p:grpSpPr>
          <p:grpSp>
            <p:nvGrpSpPr>
              <p:cNvPr id="80" name="组合 79"/>
              <p:cNvGrpSpPr/>
              <p:nvPr/>
            </p:nvGrpSpPr>
            <p:grpSpPr>
              <a:xfrm>
                <a:off x="950805" y="1501753"/>
                <a:ext cx="10321013" cy="1125197"/>
                <a:chOff x="1388562" y="2406896"/>
                <a:chExt cx="7380532" cy="453088"/>
              </a:xfrm>
            </p:grpSpPr>
            <p:sp>
              <p:nvSpPr>
                <p:cNvPr id="82"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83" name="组合 82"/>
                <p:cNvGrpSpPr/>
                <p:nvPr/>
              </p:nvGrpSpPr>
              <p:grpSpPr>
                <a:xfrm rot="16200000">
                  <a:off x="4905130" y="-1060351"/>
                  <a:ext cx="347395" cy="7380532"/>
                  <a:chOff x="1861560" y="2493401"/>
                  <a:chExt cx="1872238" cy="7380532"/>
                </a:xfrm>
              </p:grpSpPr>
              <p:sp>
                <p:nvSpPr>
                  <p:cNvPr id="85"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6"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84"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81" name="文本框 80"/>
              <p:cNvSpPr txBox="1"/>
              <p:nvPr/>
            </p:nvSpPr>
            <p:spPr>
              <a:xfrm>
                <a:off x="1177880" y="1851993"/>
                <a:ext cx="680833" cy="478724"/>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05</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77" name="组合 76"/>
            <p:cNvGrpSpPr/>
            <p:nvPr/>
          </p:nvGrpSpPr>
          <p:grpSpPr>
            <a:xfrm>
              <a:off x="1806873" y="1500231"/>
              <a:ext cx="9257714" cy="1039653"/>
              <a:chOff x="1794600" y="1610348"/>
              <a:chExt cx="9257714" cy="1039653"/>
            </a:xfrm>
          </p:grpSpPr>
          <p:sp>
            <p:nvSpPr>
              <p:cNvPr id="78" name="矩形 77"/>
              <p:cNvSpPr/>
              <p:nvPr/>
            </p:nvSpPr>
            <p:spPr>
              <a:xfrm>
                <a:off x="1794600" y="1610348"/>
                <a:ext cx="5570931"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必须坚持把发展作为党执政兴国的第一要务</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79" name="矩形 78"/>
              <p:cNvSpPr/>
              <p:nvPr/>
            </p:nvSpPr>
            <p:spPr>
              <a:xfrm>
                <a:off x="1834516" y="2009889"/>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贫穷不是社会主义，解放和发展社会生产力，增强社会主义国家的综合国力，是社会主义的本质要求。我们必须坚持新发展理念，建设现代化经济体系，为中国特色社会主义奠定强大的物质基础。</a:t>
                </a:r>
                <a:endParaRPr lang="zh-CN" altLang="en-US" sz="1600" dirty="0">
                  <a:latin typeface="Noto Sans S Chinese DemiLight" panose="020B0400000000000000" pitchFamily="34" charset="-122"/>
                  <a:ea typeface="Noto Sans S Chinese DemiLight" panose="020B0400000000000000" pitchFamily="34" charset="-122"/>
                </a:endParaRPr>
              </a:p>
            </p:txBody>
          </p:sp>
        </p:grpSp>
      </p:grpSp>
      <p:grpSp>
        <p:nvGrpSpPr>
          <p:cNvPr id="87" name="组合 86"/>
          <p:cNvGrpSpPr/>
          <p:nvPr/>
        </p:nvGrpSpPr>
        <p:grpSpPr>
          <a:xfrm>
            <a:off x="708854" y="4852965"/>
            <a:ext cx="10797346" cy="1229782"/>
            <a:chOff x="708854" y="1420653"/>
            <a:chExt cx="10797346" cy="1229782"/>
          </a:xfrm>
        </p:grpSpPr>
        <p:grpSp>
          <p:nvGrpSpPr>
            <p:cNvPr id="88" name="组合 87"/>
            <p:cNvGrpSpPr/>
            <p:nvPr/>
          </p:nvGrpSpPr>
          <p:grpSpPr>
            <a:xfrm>
              <a:off x="708854" y="1420653"/>
              <a:ext cx="10797346" cy="1229782"/>
              <a:chOff x="950805" y="1501753"/>
              <a:chExt cx="10321013" cy="1125197"/>
            </a:xfrm>
          </p:grpSpPr>
          <p:grpSp>
            <p:nvGrpSpPr>
              <p:cNvPr id="92" name="组合 91"/>
              <p:cNvGrpSpPr/>
              <p:nvPr/>
            </p:nvGrpSpPr>
            <p:grpSpPr>
              <a:xfrm>
                <a:off x="950805" y="1501753"/>
                <a:ext cx="10321013" cy="1125197"/>
                <a:chOff x="1388562" y="2406896"/>
                <a:chExt cx="7380532" cy="453088"/>
              </a:xfrm>
            </p:grpSpPr>
            <p:sp>
              <p:nvSpPr>
                <p:cNvPr id="94"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95" name="组合 94"/>
                <p:cNvGrpSpPr/>
                <p:nvPr/>
              </p:nvGrpSpPr>
              <p:grpSpPr>
                <a:xfrm rot="16200000">
                  <a:off x="4905130" y="-1060351"/>
                  <a:ext cx="347395" cy="7380532"/>
                  <a:chOff x="1861560" y="2493401"/>
                  <a:chExt cx="1872238" cy="7380532"/>
                </a:xfrm>
              </p:grpSpPr>
              <p:sp>
                <p:nvSpPr>
                  <p:cNvPr id="97"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8"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6"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3" name="文本框 92"/>
              <p:cNvSpPr txBox="1"/>
              <p:nvPr/>
            </p:nvSpPr>
            <p:spPr>
              <a:xfrm>
                <a:off x="1177880" y="1851993"/>
                <a:ext cx="680833" cy="478724"/>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06</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89" name="组合 88"/>
            <p:cNvGrpSpPr/>
            <p:nvPr/>
          </p:nvGrpSpPr>
          <p:grpSpPr>
            <a:xfrm>
              <a:off x="1806874" y="1500231"/>
              <a:ext cx="9257713" cy="1026401"/>
              <a:chOff x="1794601" y="1610348"/>
              <a:chExt cx="9257713" cy="1026401"/>
            </a:xfrm>
          </p:grpSpPr>
          <p:sp>
            <p:nvSpPr>
              <p:cNvPr id="90" name="矩形 89"/>
              <p:cNvSpPr/>
              <p:nvPr/>
            </p:nvSpPr>
            <p:spPr>
              <a:xfrm>
                <a:off x="1794601" y="1610348"/>
                <a:ext cx="4010830"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必须坚持深化改革开放</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91" name="矩形 90"/>
              <p:cNvSpPr/>
              <p:nvPr/>
            </p:nvSpPr>
            <p:spPr>
              <a:xfrm>
                <a:off x="1834516" y="1996637"/>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改革开放是当代中国发展进步的活力之源，是坚持和发展中国特色社会主义的必由之路。我们要深化对改革开放规律的认识和运用，增强改革开放的勇气，坚定不移将改革开放进行到底。 </a:t>
                </a:r>
                <a:endParaRPr lang="en-US" altLang="zh-CN" sz="1600" dirty="0">
                  <a:latin typeface="Noto Sans S Chinese DemiLight" panose="020B0400000000000000" pitchFamily="34" charset="-122"/>
                  <a:ea typeface="Noto Sans S Chinese DemiLight" panose="020B0400000000000000" pitchFamily="34" charset="-122"/>
                </a:endParaRPr>
              </a:p>
            </p:txBody>
          </p:sp>
        </p:grpSp>
      </p:grpSp>
    </p:spTree>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中国共产党百年历史总结</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708854" y="1420653"/>
            <a:ext cx="10797346" cy="1229782"/>
            <a:chOff x="708854" y="1420653"/>
            <a:chExt cx="10797346" cy="1229782"/>
          </a:xfrm>
        </p:grpSpPr>
        <p:grpSp>
          <p:nvGrpSpPr>
            <p:cNvPr id="34" name="组合 33"/>
            <p:cNvGrpSpPr/>
            <p:nvPr/>
          </p:nvGrpSpPr>
          <p:grpSpPr>
            <a:xfrm>
              <a:off x="708854" y="1420653"/>
              <a:ext cx="10797346" cy="1229782"/>
              <a:chOff x="950805" y="1501753"/>
              <a:chExt cx="10321013" cy="1125197"/>
            </a:xfrm>
          </p:grpSpPr>
          <p:grpSp>
            <p:nvGrpSpPr>
              <p:cNvPr id="36" name="组合 35"/>
              <p:cNvGrpSpPr/>
              <p:nvPr/>
            </p:nvGrpSpPr>
            <p:grpSpPr>
              <a:xfrm>
                <a:off x="950805" y="1501753"/>
                <a:ext cx="10321013" cy="1125197"/>
                <a:chOff x="1388562" y="2406896"/>
                <a:chExt cx="7380532" cy="453088"/>
              </a:xfrm>
            </p:grpSpPr>
            <p:sp>
              <p:nvSpPr>
                <p:cNvPr id="38"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9" name="组合 38"/>
                <p:cNvGrpSpPr/>
                <p:nvPr/>
              </p:nvGrpSpPr>
              <p:grpSpPr>
                <a:xfrm rot="16200000">
                  <a:off x="4905130" y="-1060351"/>
                  <a:ext cx="347395" cy="7380532"/>
                  <a:chOff x="1861560" y="2493401"/>
                  <a:chExt cx="1872238" cy="7380532"/>
                </a:xfrm>
              </p:grpSpPr>
              <p:sp>
                <p:nvSpPr>
                  <p:cNvPr id="41"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0"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37" name="文本框 36"/>
              <p:cNvSpPr txBox="1"/>
              <p:nvPr/>
            </p:nvSpPr>
            <p:spPr>
              <a:xfrm>
                <a:off x="1134742" y="1851993"/>
                <a:ext cx="767110" cy="478723"/>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07</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2" name="组合 1"/>
            <p:cNvGrpSpPr/>
            <p:nvPr/>
          </p:nvGrpSpPr>
          <p:grpSpPr>
            <a:xfrm>
              <a:off x="1806874" y="1500231"/>
              <a:ext cx="9257713" cy="1039653"/>
              <a:chOff x="1794601" y="1610348"/>
              <a:chExt cx="9257713" cy="1039653"/>
            </a:xfrm>
          </p:grpSpPr>
          <p:sp>
            <p:nvSpPr>
              <p:cNvPr id="73" name="矩形 72"/>
              <p:cNvSpPr/>
              <p:nvPr/>
            </p:nvSpPr>
            <p:spPr>
              <a:xfrm>
                <a:off x="1794601" y="1610348"/>
                <a:ext cx="3467491"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必须坚持民主集中制</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74" name="矩形 73"/>
              <p:cNvSpPr/>
              <p:nvPr/>
            </p:nvSpPr>
            <p:spPr>
              <a:xfrm>
                <a:off x="1834516" y="2009889"/>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民主集中制是马克思主义政党的根本组织原则。我们党在长期的实践中，丰富发展了民主集中制的内容，使之成为党特有的领导制度和工作制度。</a:t>
                </a:r>
                <a:endParaRPr lang="en-US" altLang="zh-CN" sz="1600" dirty="0">
                  <a:latin typeface="Noto Sans S Chinese DemiLight" panose="020B0400000000000000" pitchFamily="34" charset="-122"/>
                  <a:ea typeface="Noto Sans S Chinese DemiLight" panose="020B0400000000000000" pitchFamily="34" charset="-122"/>
                </a:endParaRPr>
              </a:p>
            </p:txBody>
          </p:sp>
        </p:grpSp>
      </p:grpSp>
      <p:grpSp>
        <p:nvGrpSpPr>
          <p:cNvPr id="75" name="组合 74"/>
          <p:cNvGrpSpPr/>
          <p:nvPr/>
        </p:nvGrpSpPr>
        <p:grpSpPr>
          <a:xfrm>
            <a:off x="708854" y="3136809"/>
            <a:ext cx="10797346" cy="1229782"/>
            <a:chOff x="708854" y="1420653"/>
            <a:chExt cx="10797346" cy="1229782"/>
          </a:xfrm>
        </p:grpSpPr>
        <p:grpSp>
          <p:nvGrpSpPr>
            <p:cNvPr id="76" name="组合 75"/>
            <p:cNvGrpSpPr/>
            <p:nvPr/>
          </p:nvGrpSpPr>
          <p:grpSpPr>
            <a:xfrm>
              <a:off x="708854" y="1420653"/>
              <a:ext cx="10797346" cy="1229782"/>
              <a:chOff x="950805" y="1501753"/>
              <a:chExt cx="10321013" cy="1125197"/>
            </a:xfrm>
          </p:grpSpPr>
          <p:grpSp>
            <p:nvGrpSpPr>
              <p:cNvPr id="80" name="组合 79"/>
              <p:cNvGrpSpPr/>
              <p:nvPr/>
            </p:nvGrpSpPr>
            <p:grpSpPr>
              <a:xfrm>
                <a:off x="950805" y="1501753"/>
                <a:ext cx="10321013" cy="1125197"/>
                <a:chOff x="1388562" y="2406896"/>
                <a:chExt cx="7380532" cy="453088"/>
              </a:xfrm>
            </p:grpSpPr>
            <p:sp>
              <p:nvSpPr>
                <p:cNvPr id="82"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83" name="组合 82"/>
                <p:cNvGrpSpPr/>
                <p:nvPr/>
              </p:nvGrpSpPr>
              <p:grpSpPr>
                <a:xfrm rot="16200000">
                  <a:off x="4905130" y="-1060351"/>
                  <a:ext cx="347395" cy="7380532"/>
                  <a:chOff x="1861560" y="2493401"/>
                  <a:chExt cx="1872238" cy="7380532"/>
                </a:xfrm>
              </p:grpSpPr>
              <p:sp>
                <p:nvSpPr>
                  <p:cNvPr id="85"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6"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84"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81" name="文本框 80"/>
              <p:cNvSpPr txBox="1"/>
              <p:nvPr/>
            </p:nvSpPr>
            <p:spPr>
              <a:xfrm>
                <a:off x="1177880" y="1851993"/>
                <a:ext cx="680833" cy="478724"/>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08</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77" name="组合 76"/>
            <p:cNvGrpSpPr/>
            <p:nvPr/>
          </p:nvGrpSpPr>
          <p:grpSpPr>
            <a:xfrm>
              <a:off x="1806873" y="1500231"/>
              <a:ext cx="9257714" cy="1039653"/>
              <a:chOff x="1794600" y="1610348"/>
              <a:chExt cx="9257714" cy="1039653"/>
            </a:xfrm>
          </p:grpSpPr>
          <p:sp>
            <p:nvSpPr>
              <p:cNvPr id="78" name="矩形 77"/>
              <p:cNvSpPr/>
              <p:nvPr/>
            </p:nvSpPr>
            <p:spPr>
              <a:xfrm>
                <a:off x="1794600" y="1610348"/>
                <a:ext cx="5570931"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必须坚持科学执政、民主执政、依法执政</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79" name="矩形 78"/>
              <p:cNvSpPr/>
              <p:nvPr/>
            </p:nvSpPr>
            <p:spPr>
              <a:xfrm>
                <a:off x="1834516" y="2009889"/>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习近平总书记指出：“必须适应国家现代化总进程，提高党科学执政、民主执政、依法执政水平，提高国家机构履职能力，提高人民群众依法管理国家事务、经济社会文化事务、自身事务的能力。”</a:t>
                </a:r>
                <a:endParaRPr lang="en-US" altLang="zh-CN" sz="1600" dirty="0">
                  <a:latin typeface="Noto Sans S Chinese DemiLight" panose="020B0400000000000000" pitchFamily="34" charset="-122"/>
                  <a:ea typeface="Noto Sans S Chinese DemiLight" panose="020B0400000000000000" pitchFamily="34" charset="-122"/>
                </a:endParaRPr>
              </a:p>
            </p:txBody>
          </p:sp>
        </p:grpSp>
      </p:grpSp>
      <p:grpSp>
        <p:nvGrpSpPr>
          <p:cNvPr id="87" name="组合 86"/>
          <p:cNvGrpSpPr/>
          <p:nvPr/>
        </p:nvGrpSpPr>
        <p:grpSpPr>
          <a:xfrm>
            <a:off x="708854" y="4852965"/>
            <a:ext cx="10797346" cy="1229782"/>
            <a:chOff x="708854" y="1420653"/>
            <a:chExt cx="10797346" cy="1229782"/>
          </a:xfrm>
        </p:grpSpPr>
        <p:grpSp>
          <p:nvGrpSpPr>
            <p:cNvPr id="88" name="组合 87"/>
            <p:cNvGrpSpPr/>
            <p:nvPr/>
          </p:nvGrpSpPr>
          <p:grpSpPr>
            <a:xfrm>
              <a:off x="708854" y="1420653"/>
              <a:ext cx="10797346" cy="1229782"/>
              <a:chOff x="950805" y="1501753"/>
              <a:chExt cx="10321013" cy="1125197"/>
            </a:xfrm>
          </p:grpSpPr>
          <p:grpSp>
            <p:nvGrpSpPr>
              <p:cNvPr id="92" name="组合 91"/>
              <p:cNvGrpSpPr/>
              <p:nvPr/>
            </p:nvGrpSpPr>
            <p:grpSpPr>
              <a:xfrm>
                <a:off x="950805" y="1501753"/>
                <a:ext cx="10321013" cy="1125197"/>
                <a:chOff x="1388562" y="2406896"/>
                <a:chExt cx="7380532" cy="453088"/>
              </a:xfrm>
            </p:grpSpPr>
            <p:sp>
              <p:nvSpPr>
                <p:cNvPr id="94"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95" name="组合 94"/>
                <p:cNvGrpSpPr/>
                <p:nvPr/>
              </p:nvGrpSpPr>
              <p:grpSpPr>
                <a:xfrm rot="16200000">
                  <a:off x="4905130" y="-1060351"/>
                  <a:ext cx="347395" cy="7380532"/>
                  <a:chOff x="1861560" y="2493401"/>
                  <a:chExt cx="1872238" cy="7380532"/>
                </a:xfrm>
              </p:grpSpPr>
              <p:sp>
                <p:nvSpPr>
                  <p:cNvPr id="97"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8"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6"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3" name="文本框 92"/>
              <p:cNvSpPr txBox="1"/>
              <p:nvPr/>
            </p:nvSpPr>
            <p:spPr>
              <a:xfrm>
                <a:off x="1177880" y="1851993"/>
                <a:ext cx="680833" cy="478724"/>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09</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89" name="组合 88"/>
            <p:cNvGrpSpPr/>
            <p:nvPr/>
          </p:nvGrpSpPr>
          <p:grpSpPr>
            <a:xfrm>
              <a:off x="1806874" y="1500231"/>
              <a:ext cx="9257713" cy="1026401"/>
              <a:chOff x="1794601" y="1610348"/>
              <a:chExt cx="9257713" cy="1026401"/>
            </a:xfrm>
          </p:grpSpPr>
          <p:sp>
            <p:nvSpPr>
              <p:cNvPr id="90" name="矩形 89"/>
              <p:cNvSpPr/>
              <p:nvPr/>
            </p:nvSpPr>
            <p:spPr>
              <a:xfrm>
                <a:off x="1794601" y="1610348"/>
                <a:ext cx="4010830"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必须坚持党对人民军队的绝对领导</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91" name="矩形 90"/>
              <p:cNvSpPr/>
              <p:nvPr/>
            </p:nvSpPr>
            <p:spPr>
              <a:xfrm>
                <a:off x="1834516" y="1996637"/>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拥有强大军队和巩固国防，是无产阶级政党夺取政权并长期执政的基本条件。坚持党对军队的绝对领导，是我军永远不变的军魂，是党长期执政、国家长治久安的根本保障。</a:t>
                </a:r>
                <a:endParaRPr lang="en-US" altLang="zh-CN" sz="1600" dirty="0">
                  <a:latin typeface="Noto Sans S Chinese DemiLight" panose="020B0400000000000000" pitchFamily="34" charset="-122"/>
                  <a:ea typeface="Noto Sans S Chinese DemiLight" panose="020B0400000000000000" pitchFamily="34" charset="-122"/>
                </a:endParaRPr>
              </a:p>
            </p:txBody>
          </p:sp>
        </p:grpSp>
      </p:grpSp>
    </p:spTree>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中国共产党百年历史总结</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708854" y="1420653"/>
            <a:ext cx="10797346" cy="1229782"/>
            <a:chOff x="708854" y="1420653"/>
            <a:chExt cx="10797346" cy="1229782"/>
          </a:xfrm>
        </p:grpSpPr>
        <p:grpSp>
          <p:nvGrpSpPr>
            <p:cNvPr id="34" name="组合 33"/>
            <p:cNvGrpSpPr/>
            <p:nvPr/>
          </p:nvGrpSpPr>
          <p:grpSpPr>
            <a:xfrm>
              <a:off x="708854" y="1420653"/>
              <a:ext cx="10797346" cy="1229782"/>
              <a:chOff x="950805" y="1501753"/>
              <a:chExt cx="10321013" cy="1125197"/>
            </a:xfrm>
          </p:grpSpPr>
          <p:grpSp>
            <p:nvGrpSpPr>
              <p:cNvPr id="36" name="组合 35"/>
              <p:cNvGrpSpPr/>
              <p:nvPr/>
            </p:nvGrpSpPr>
            <p:grpSpPr>
              <a:xfrm>
                <a:off x="950805" y="1501753"/>
                <a:ext cx="10321013" cy="1125197"/>
                <a:chOff x="1388562" y="2406896"/>
                <a:chExt cx="7380532" cy="453088"/>
              </a:xfrm>
            </p:grpSpPr>
            <p:sp>
              <p:nvSpPr>
                <p:cNvPr id="38"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9" name="组合 38"/>
                <p:cNvGrpSpPr/>
                <p:nvPr/>
              </p:nvGrpSpPr>
              <p:grpSpPr>
                <a:xfrm rot="16200000">
                  <a:off x="4905130" y="-1060351"/>
                  <a:ext cx="347395" cy="7380532"/>
                  <a:chOff x="1861560" y="2493401"/>
                  <a:chExt cx="1872238" cy="7380532"/>
                </a:xfrm>
              </p:grpSpPr>
              <p:sp>
                <p:nvSpPr>
                  <p:cNvPr id="41"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0"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37" name="文本框 36"/>
              <p:cNvSpPr txBox="1"/>
              <p:nvPr/>
            </p:nvSpPr>
            <p:spPr>
              <a:xfrm>
                <a:off x="1134742" y="1851993"/>
                <a:ext cx="767110" cy="478723"/>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10</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2" name="组合 1"/>
            <p:cNvGrpSpPr/>
            <p:nvPr/>
          </p:nvGrpSpPr>
          <p:grpSpPr>
            <a:xfrm>
              <a:off x="1806874" y="1500231"/>
              <a:ext cx="9257713" cy="1039653"/>
              <a:chOff x="1794601" y="1610348"/>
              <a:chExt cx="9257713" cy="1039653"/>
            </a:xfrm>
          </p:grpSpPr>
          <p:sp>
            <p:nvSpPr>
              <p:cNvPr id="73" name="矩形 72"/>
              <p:cNvSpPr/>
              <p:nvPr/>
            </p:nvSpPr>
            <p:spPr>
              <a:xfrm>
                <a:off x="1794601" y="1610348"/>
                <a:ext cx="5680604"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必须坚持巩固和发展最广泛的爱国统一战线</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74" name="矩形 73"/>
              <p:cNvSpPr/>
              <p:nvPr/>
            </p:nvSpPr>
            <p:spPr>
              <a:xfrm>
                <a:off x="1834516" y="2009889"/>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统一战线是中国共产党的重要法宝。建立统一战线，实现最广泛的政治团结，扩大社会基础，团结一切可以团结的力量，是中国共产党在各个历史时期，取得胜利的一条成功经验。</a:t>
                </a:r>
                <a:endParaRPr lang="zh-CN" altLang="en-US" sz="1600" dirty="0">
                  <a:latin typeface="Noto Sans S Chinese DemiLight" panose="020B0400000000000000" pitchFamily="34" charset="-122"/>
                  <a:ea typeface="Noto Sans S Chinese DemiLight" panose="020B0400000000000000" pitchFamily="34" charset="-122"/>
                </a:endParaRPr>
              </a:p>
            </p:txBody>
          </p:sp>
        </p:grpSp>
      </p:grpSp>
      <p:grpSp>
        <p:nvGrpSpPr>
          <p:cNvPr id="75" name="组合 74"/>
          <p:cNvGrpSpPr/>
          <p:nvPr/>
        </p:nvGrpSpPr>
        <p:grpSpPr>
          <a:xfrm>
            <a:off x="708854" y="3136809"/>
            <a:ext cx="10797346" cy="1229782"/>
            <a:chOff x="708854" y="1420653"/>
            <a:chExt cx="10797346" cy="1229782"/>
          </a:xfrm>
        </p:grpSpPr>
        <p:grpSp>
          <p:nvGrpSpPr>
            <p:cNvPr id="76" name="组合 75"/>
            <p:cNvGrpSpPr/>
            <p:nvPr/>
          </p:nvGrpSpPr>
          <p:grpSpPr>
            <a:xfrm>
              <a:off x="708854" y="1420653"/>
              <a:ext cx="10797346" cy="1229782"/>
              <a:chOff x="950805" y="1501753"/>
              <a:chExt cx="10321013" cy="1125197"/>
            </a:xfrm>
          </p:grpSpPr>
          <p:grpSp>
            <p:nvGrpSpPr>
              <p:cNvPr id="80" name="组合 79"/>
              <p:cNvGrpSpPr/>
              <p:nvPr/>
            </p:nvGrpSpPr>
            <p:grpSpPr>
              <a:xfrm>
                <a:off x="950805" y="1501753"/>
                <a:ext cx="10321013" cy="1125197"/>
                <a:chOff x="1388562" y="2406896"/>
                <a:chExt cx="7380532" cy="453088"/>
              </a:xfrm>
            </p:grpSpPr>
            <p:sp>
              <p:nvSpPr>
                <p:cNvPr id="82"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83" name="组合 82"/>
                <p:cNvGrpSpPr/>
                <p:nvPr/>
              </p:nvGrpSpPr>
              <p:grpSpPr>
                <a:xfrm rot="16200000">
                  <a:off x="4905130" y="-1060351"/>
                  <a:ext cx="347395" cy="7380532"/>
                  <a:chOff x="1861560" y="2493401"/>
                  <a:chExt cx="1872238" cy="7380532"/>
                </a:xfrm>
              </p:grpSpPr>
              <p:sp>
                <p:nvSpPr>
                  <p:cNvPr id="85"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6"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84"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81" name="文本框 80"/>
              <p:cNvSpPr txBox="1"/>
              <p:nvPr/>
            </p:nvSpPr>
            <p:spPr>
              <a:xfrm>
                <a:off x="1177880" y="1851993"/>
                <a:ext cx="680833" cy="478724"/>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11</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77" name="组合 76"/>
            <p:cNvGrpSpPr/>
            <p:nvPr/>
          </p:nvGrpSpPr>
          <p:grpSpPr>
            <a:xfrm>
              <a:off x="1806873" y="1500231"/>
              <a:ext cx="9257714" cy="1039653"/>
              <a:chOff x="1794600" y="1610348"/>
              <a:chExt cx="9257714" cy="1039653"/>
            </a:xfrm>
          </p:grpSpPr>
          <p:sp>
            <p:nvSpPr>
              <p:cNvPr id="78" name="矩形 77"/>
              <p:cNvSpPr/>
              <p:nvPr/>
            </p:nvSpPr>
            <p:spPr>
              <a:xfrm>
                <a:off x="1794600" y="1610348"/>
                <a:ext cx="5570931"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必须坚持推进人类和平与发展的崇高事业</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79" name="矩形 78"/>
              <p:cNvSpPr/>
              <p:nvPr/>
            </p:nvSpPr>
            <p:spPr>
              <a:xfrm>
                <a:off x="1834516" y="2009889"/>
                <a:ext cx="9217798" cy="707438"/>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我们要高举和平、发展、合作、共赢的旗帜，坚持把握世界发展大势，始终挺立在时代发展的潮头，始终不渝走和平发展道路，始终不渝奉行互利共赢的开放战略。</a:t>
                </a:r>
                <a:endParaRPr lang="zh-CN" altLang="en-US" sz="1600" dirty="0">
                  <a:latin typeface="Noto Sans S Chinese DemiLight" panose="020B0400000000000000" pitchFamily="34" charset="-122"/>
                  <a:ea typeface="Noto Sans S Chinese DemiLight" panose="020B0400000000000000" pitchFamily="34" charset="-122"/>
                </a:endParaRPr>
              </a:p>
            </p:txBody>
          </p:sp>
        </p:grpSp>
      </p:grpSp>
      <p:grpSp>
        <p:nvGrpSpPr>
          <p:cNvPr id="87" name="组合 86"/>
          <p:cNvGrpSpPr/>
          <p:nvPr/>
        </p:nvGrpSpPr>
        <p:grpSpPr>
          <a:xfrm>
            <a:off x="708854" y="4852965"/>
            <a:ext cx="10797346" cy="1229782"/>
            <a:chOff x="708854" y="1420653"/>
            <a:chExt cx="10797346" cy="1229782"/>
          </a:xfrm>
        </p:grpSpPr>
        <p:grpSp>
          <p:nvGrpSpPr>
            <p:cNvPr id="88" name="组合 87"/>
            <p:cNvGrpSpPr/>
            <p:nvPr/>
          </p:nvGrpSpPr>
          <p:grpSpPr>
            <a:xfrm>
              <a:off x="708854" y="1420653"/>
              <a:ext cx="10797346" cy="1229782"/>
              <a:chOff x="950805" y="1501753"/>
              <a:chExt cx="10321013" cy="1125197"/>
            </a:xfrm>
          </p:grpSpPr>
          <p:grpSp>
            <p:nvGrpSpPr>
              <p:cNvPr id="92" name="组合 91"/>
              <p:cNvGrpSpPr/>
              <p:nvPr/>
            </p:nvGrpSpPr>
            <p:grpSpPr>
              <a:xfrm>
                <a:off x="950805" y="1501753"/>
                <a:ext cx="10321013" cy="1125197"/>
                <a:chOff x="1388562" y="2406896"/>
                <a:chExt cx="7380532" cy="453088"/>
              </a:xfrm>
            </p:grpSpPr>
            <p:sp>
              <p:nvSpPr>
                <p:cNvPr id="94" name="TextBox 35"/>
                <p:cNvSpPr txBox="1"/>
                <p:nvPr/>
              </p:nvSpPr>
              <p:spPr>
                <a:xfrm rot="16200000">
                  <a:off x="4851466" y="-1040120"/>
                  <a:ext cx="448412" cy="7342444"/>
                </a:xfrm>
                <a:prstGeom prst="rect">
                  <a:avLst/>
                </a:prstGeom>
                <a:noFill/>
                <a:ln w="9525" cap="flat" cmpd="sng" algn="ctr">
                  <a:solidFill>
                    <a:srgbClr val="8403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kumimoji="0" lang="zh-CN" altLang="en-US" b="0" i="0" u="none" strike="noStrike" kern="0" cap="none" spc="0" normalizeH="0" baseline="0" noProof="0" dirty="0">
                    <a:ln>
                      <a:noFill/>
                    </a:ln>
                    <a:solidFill>
                      <a:srgbClr val="C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95" name="组合 94"/>
                <p:cNvGrpSpPr/>
                <p:nvPr/>
              </p:nvGrpSpPr>
              <p:grpSpPr>
                <a:xfrm rot="16200000">
                  <a:off x="4905130" y="-1060351"/>
                  <a:ext cx="347395" cy="7380532"/>
                  <a:chOff x="1861560" y="2493401"/>
                  <a:chExt cx="1872238" cy="7380532"/>
                </a:xfrm>
              </p:grpSpPr>
              <p:sp>
                <p:nvSpPr>
                  <p:cNvPr id="97" name="圆角矩形 10"/>
                  <p:cNvSpPr/>
                  <p:nvPr/>
                </p:nvSpPr>
                <p:spPr>
                  <a:xfrm>
                    <a:off x="1861560" y="2493401"/>
                    <a:ext cx="1872220" cy="29762"/>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8" name="圆角矩形 11"/>
                  <p:cNvSpPr/>
                  <p:nvPr/>
                </p:nvSpPr>
                <p:spPr>
                  <a:xfrm>
                    <a:off x="1861585" y="9835200"/>
                    <a:ext cx="1872213" cy="38733"/>
                  </a:xfrm>
                  <a:prstGeom prst="roundRect">
                    <a:avLst>
                      <a:gd name="adj" fmla="val 50000"/>
                    </a:avLst>
                  </a:prstGeom>
                  <a:solidFill>
                    <a:srgbClr val="8403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6" name="TextBox 20"/>
                <p:cNvSpPr txBox="1"/>
                <p:nvPr/>
              </p:nvSpPr>
              <p:spPr>
                <a:xfrm>
                  <a:off x="1548076" y="2410404"/>
                  <a:ext cx="486862" cy="449580"/>
                </a:xfrm>
                <a:prstGeom prst="rect">
                  <a:avLst/>
                </a:prstGeom>
                <a:solidFill>
                  <a:srgbClr val="8403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6F2EA"/>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3" name="文本框 92"/>
              <p:cNvSpPr txBox="1"/>
              <p:nvPr/>
            </p:nvSpPr>
            <p:spPr>
              <a:xfrm>
                <a:off x="1177880" y="1851993"/>
                <a:ext cx="680833" cy="478724"/>
              </a:xfrm>
              <a:prstGeom prst="rect">
                <a:avLst/>
              </a:prstGeom>
              <a:noFill/>
            </p:spPr>
            <p:txBody>
              <a:bodyPr wrap="square" rtlCol="0">
                <a:spAutoFit/>
              </a:bodyPr>
              <a:lstStyle/>
              <a:p>
                <a:pPr algn="ctr"/>
                <a:r>
                  <a:rPr lang="en-US" altLang="zh-CN"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rPr>
                  <a:t>12</a:t>
                </a:r>
                <a:endParaRPr lang="zh-CN" altLang="en-US" sz="2800" dirty="0">
                  <a:solidFill>
                    <a:schemeClr val="bg1"/>
                  </a:solidFill>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grpSp>
          <p:nvGrpSpPr>
            <p:cNvPr id="89" name="组合 88"/>
            <p:cNvGrpSpPr/>
            <p:nvPr/>
          </p:nvGrpSpPr>
          <p:grpSpPr>
            <a:xfrm>
              <a:off x="1806874" y="1500231"/>
              <a:ext cx="9257713" cy="1026401"/>
              <a:chOff x="1794601" y="1610348"/>
              <a:chExt cx="9257713" cy="1026401"/>
            </a:xfrm>
          </p:grpSpPr>
          <p:sp>
            <p:nvSpPr>
              <p:cNvPr id="90" name="矩形 89"/>
              <p:cNvSpPr/>
              <p:nvPr/>
            </p:nvSpPr>
            <p:spPr>
              <a:xfrm>
                <a:off x="1794601" y="1610348"/>
                <a:ext cx="4010830" cy="422103"/>
              </a:xfrm>
              <a:prstGeom prst="rect">
                <a:avLst/>
              </a:prstGeom>
            </p:spPr>
            <p:txBody>
              <a:bodyPr wrap="square">
                <a:spAutoFit/>
              </a:bodyPr>
              <a:lstStyle/>
              <a:p>
                <a:pPr>
                  <a:lnSpc>
                    <a:spcPts val="2800"/>
                  </a:lnSpc>
                </a:pPr>
                <a:r>
                  <a:rPr lang="zh-CN" altLang="en-US" b="1" dirty="0">
                    <a:solidFill>
                      <a:srgbClr val="840300"/>
                    </a:solidFill>
                    <a:latin typeface="Noto Sans S Chinese Medium" panose="020B0600000000000000" pitchFamily="34" charset="-122"/>
                    <a:ea typeface="Noto Sans S Chinese Medium" panose="020B0600000000000000" pitchFamily="34" charset="-122"/>
                  </a:rPr>
                  <a:t> 必须坚持全面从严治党</a:t>
                </a:r>
                <a:endParaRPr lang="en-US" altLang="zh-CN" b="1" dirty="0">
                  <a:solidFill>
                    <a:srgbClr val="840300"/>
                  </a:solidFill>
                  <a:latin typeface="Noto Sans S Chinese Medium" panose="020B0600000000000000" pitchFamily="34" charset="-122"/>
                  <a:ea typeface="Noto Sans S Chinese Medium" panose="020B0600000000000000" pitchFamily="34" charset="-122"/>
                </a:endParaRPr>
              </a:p>
            </p:txBody>
          </p:sp>
          <p:sp>
            <p:nvSpPr>
              <p:cNvPr id="91" name="矩形 90"/>
              <p:cNvSpPr/>
              <p:nvPr/>
            </p:nvSpPr>
            <p:spPr>
              <a:xfrm>
                <a:off x="1834516" y="1996637"/>
                <a:ext cx="9217798" cy="640112"/>
              </a:xfrm>
              <a:prstGeom prst="rect">
                <a:avLst/>
              </a:prstGeom>
            </p:spPr>
            <p:txBody>
              <a:bodyPr wrap="square">
                <a:spAutoFit/>
              </a:bodyPr>
              <a:lstStyle/>
              <a:p>
                <a:pPr>
                  <a:lnSpc>
                    <a:spcPts val="2200"/>
                  </a:lnSpc>
                </a:pPr>
                <a:r>
                  <a:rPr lang="zh-CN" altLang="en-US" sz="1600" dirty="0">
                    <a:latin typeface="Noto Sans S Chinese DemiLight" panose="020B0400000000000000" pitchFamily="34" charset="-122"/>
                    <a:ea typeface="Noto Sans S Chinese DemiLight" panose="020B0400000000000000" pitchFamily="34" charset="-122"/>
                  </a:rPr>
                  <a:t>我们党要始终拥有领导伟大社会革命的资格，就勇于进行伟大的自我革命，始终保持党的先进性和纯洁性。我们要不断提高管党治党水平，不断推进党的建设新的伟大工程，把党建设得更加坚强有力。</a:t>
                </a:r>
                <a:endParaRPr lang="en-US" altLang="zh-CN" sz="1600" dirty="0">
                  <a:latin typeface="Noto Sans S Chinese DemiLight" panose="020B0400000000000000" pitchFamily="34" charset="-122"/>
                  <a:ea typeface="Noto Sans S Chinese DemiLight" panose="020B0400000000000000" pitchFamily="34" charset="-122"/>
                </a:endParaRPr>
              </a:p>
            </p:txBody>
          </p:sp>
        </p:grpSp>
      </p:grpSp>
    </p:spTree>
  </p:cSld>
  <p:clrMapOvr>
    <a:masterClrMapping/>
  </p:clrMapOvr>
  <p:transition>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52404" y="138321"/>
            <a:ext cx="11898321" cy="6714889"/>
            <a:chOff x="152405" y="138321"/>
            <a:chExt cx="11898320" cy="6714889"/>
          </a:xfrm>
        </p:grpSpPr>
        <p:sp>
          <p:nvSpPr>
            <p:cNvPr id="12" name="任意多边形: 形状 11"/>
            <p:cNvSpPr/>
            <p:nvPr/>
          </p:nvSpPr>
          <p:spPr>
            <a:xfrm>
              <a:off x="152405" y="138321"/>
              <a:ext cx="11898320"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8" name="任意多边形: 形状 7"/>
            <p:cNvSpPr/>
            <p:nvPr/>
          </p:nvSpPr>
          <p:spPr>
            <a:xfrm>
              <a:off x="152405" y="6481493"/>
              <a:ext cx="11898319" cy="311958"/>
            </a:xfrm>
            <a:custGeom>
              <a:avLst/>
              <a:gdLst>
                <a:gd name="connsiteX0" fmla="*/ 0 w 4573721"/>
                <a:gd name="connsiteY0" fmla="*/ 0 h 240110"/>
                <a:gd name="connsiteX1" fmla="*/ 4573722 w 4573721"/>
                <a:gd name="connsiteY1" fmla="*/ 0 h 240110"/>
                <a:gd name="connsiteX2" fmla="*/ 4573722 w 4573721"/>
                <a:gd name="connsiteY2" fmla="*/ 240111 h 240110"/>
                <a:gd name="connsiteX3" fmla="*/ 0 w 4573721"/>
                <a:gd name="connsiteY3" fmla="*/ 240111 h 240110"/>
              </a:gdLst>
              <a:ahLst/>
              <a:cxnLst>
                <a:cxn ang="0">
                  <a:pos x="connsiteX0" y="connsiteY0"/>
                </a:cxn>
                <a:cxn ang="0">
                  <a:pos x="connsiteX1" y="connsiteY1"/>
                </a:cxn>
                <a:cxn ang="0">
                  <a:pos x="connsiteX2" y="connsiteY2"/>
                </a:cxn>
                <a:cxn ang="0">
                  <a:pos x="connsiteX3" y="connsiteY3"/>
                </a:cxn>
              </a:cxnLst>
              <a:rect l="l" t="t" r="r" b="b"/>
              <a:pathLst>
                <a:path w="4573721" h="240110">
                  <a:moveTo>
                    <a:pt x="0" y="0"/>
                  </a:moveTo>
                  <a:lnTo>
                    <a:pt x="4573722" y="0"/>
                  </a:lnTo>
                  <a:lnTo>
                    <a:pt x="4573722" y="240111"/>
                  </a:lnTo>
                  <a:lnTo>
                    <a:pt x="0" y="240111"/>
                  </a:lnTo>
                  <a:close/>
                </a:path>
              </a:pathLst>
            </a:custGeom>
            <a:solidFill>
              <a:srgbClr val="840300"/>
            </a:solidFill>
            <a:ln w="5379" cap="flat">
              <a:noFill/>
              <a:prstDash val="solid"/>
              <a:miter/>
            </a:ln>
          </p:spPr>
          <p:txBody>
            <a:bodyPr rtlCol="0" anchor="ctr"/>
            <a:lstStyle/>
            <a:p>
              <a:endParaRPr lang="zh-CN" altLang="en-US"/>
            </a:p>
          </p:txBody>
        </p:sp>
        <p:pic>
          <p:nvPicPr>
            <p:cNvPr id="9" name="图片 8"/>
            <p:cNvPicPr>
              <a:picLocks noChangeAspect="1"/>
            </p:cNvPicPr>
            <p:nvPr/>
          </p:nvPicPr>
          <p:blipFill>
            <a:blip r:embed="rId1"/>
            <a:stretch>
              <a:fillRect/>
            </a:stretch>
          </p:blipFill>
          <p:spPr>
            <a:xfrm>
              <a:off x="2908301" y="4949370"/>
              <a:ext cx="6375397" cy="1595016"/>
            </a:xfrm>
            <a:custGeom>
              <a:avLst/>
              <a:gdLst>
                <a:gd name="connsiteX0" fmla="*/ -756 w 4573721"/>
                <a:gd name="connsiteY0" fmla="*/ 809 h 1227662"/>
                <a:gd name="connsiteX1" fmla="*/ 4572966 w 4573721"/>
                <a:gd name="connsiteY1" fmla="*/ 809 h 1227662"/>
                <a:gd name="connsiteX2" fmla="*/ 4572966 w 4573721"/>
                <a:gd name="connsiteY2" fmla="*/ 1228471 h 1227662"/>
                <a:gd name="connsiteX3" fmla="*/ -756 w 4573721"/>
                <a:gd name="connsiteY3" fmla="*/ 1228471 h 1227662"/>
              </a:gdLst>
              <a:ahLst/>
              <a:cxnLst>
                <a:cxn ang="0">
                  <a:pos x="connsiteX0" y="connsiteY0"/>
                </a:cxn>
                <a:cxn ang="0">
                  <a:pos x="connsiteX1" y="connsiteY1"/>
                </a:cxn>
                <a:cxn ang="0">
                  <a:pos x="connsiteX2" y="connsiteY2"/>
                </a:cxn>
                <a:cxn ang="0">
                  <a:pos x="connsiteX3" y="connsiteY3"/>
                </a:cxn>
              </a:cxnLst>
              <a:rect l="l" t="t" r="r" b="b"/>
              <a:pathLst>
                <a:path w="4573721" h="1227662">
                  <a:moveTo>
                    <a:pt x="-756" y="809"/>
                  </a:moveTo>
                  <a:lnTo>
                    <a:pt x="4572966" y="809"/>
                  </a:lnTo>
                  <a:lnTo>
                    <a:pt x="4572966" y="1228471"/>
                  </a:lnTo>
                  <a:lnTo>
                    <a:pt x="-756" y="1228471"/>
                  </a:lnTo>
                  <a:close/>
                </a:path>
              </a:pathLst>
            </a:custGeom>
          </p:spPr>
        </p:pic>
        <p:sp>
          <p:nvSpPr>
            <p:cNvPr id="7" name="任意多边形: 形状 6"/>
            <p:cNvSpPr/>
            <p:nvPr/>
          </p:nvSpPr>
          <p:spPr>
            <a:xfrm>
              <a:off x="5941377" y="6481493"/>
              <a:ext cx="309244" cy="371717"/>
            </a:xfrm>
            <a:custGeom>
              <a:avLst/>
              <a:gdLst>
                <a:gd name="connsiteX0" fmla="*/ 154622 w 309244"/>
                <a:gd name="connsiteY0" fmla="*/ 0 h 371717"/>
                <a:gd name="connsiteX1" fmla="*/ 309244 w 309244"/>
                <a:gd name="connsiteY1" fmla="*/ 154622 h 371717"/>
                <a:gd name="connsiteX2" fmla="*/ 309244 w 309244"/>
                <a:gd name="connsiteY2" fmla="*/ 371717 h 371717"/>
                <a:gd name="connsiteX3" fmla="*/ 0 w 309244"/>
                <a:gd name="connsiteY3" fmla="*/ 371717 h 371717"/>
                <a:gd name="connsiteX4" fmla="*/ 0 w 309244"/>
                <a:gd name="connsiteY4" fmla="*/ 154622 h 371717"/>
                <a:gd name="connsiteX5" fmla="*/ 154622 w 309244"/>
                <a:gd name="connsiteY5" fmla="*/ 0 h 37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244" h="371717">
                  <a:moveTo>
                    <a:pt x="154622" y="0"/>
                  </a:moveTo>
                  <a:cubicBezTo>
                    <a:pt x="240017" y="0"/>
                    <a:pt x="309244" y="69227"/>
                    <a:pt x="309244" y="154622"/>
                  </a:cubicBezTo>
                  <a:lnTo>
                    <a:pt x="309244" y="371717"/>
                  </a:lnTo>
                  <a:lnTo>
                    <a:pt x="0" y="371717"/>
                  </a:lnTo>
                  <a:lnTo>
                    <a:pt x="0" y="154622"/>
                  </a:lnTo>
                  <a:cubicBezTo>
                    <a:pt x="0" y="69227"/>
                    <a:pt x="69227" y="0"/>
                    <a:pt x="154622"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22" name="组合 21"/>
          <p:cNvGrpSpPr/>
          <p:nvPr/>
        </p:nvGrpSpPr>
        <p:grpSpPr>
          <a:xfrm>
            <a:off x="5006867" y="1618219"/>
            <a:ext cx="2179951" cy="536119"/>
            <a:chOff x="5013290" y="1820631"/>
            <a:chExt cx="2179951" cy="536119"/>
          </a:xfrm>
        </p:grpSpPr>
        <p:sp>
          <p:nvSpPr>
            <p:cNvPr id="6" name="星形: 五角 5"/>
            <p:cNvSpPr/>
            <p:nvPr/>
          </p:nvSpPr>
          <p:spPr>
            <a:xfrm>
              <a:off x="5834290" y="1820631"/>
              <a:ext cx="536119" cy="536119"/>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星形: 五角 15"/>
            <p:cNvSpPr/>
            <p:nvPr/>
          </p:nvSpPr>
          <p:spPr>
            <a:xfrm>
              <a:off x="6440900" y="1908630"/>
              <a:ext cx="374334" cy="374334"/>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p:cNvSpPr/>
            <p:nvPr/>
          </p:nvSpPr>
          <p:spPr>
            <a:xfrm>
              <a:off x="6898425" y="1948389"/>
              <a:ext cx="294816" cy="294816"/>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flipH="1">
              <a:off x="5013290" y="1905594"/>
              <a:ext cx="752341" cy="374334"/>
              <a:chOff x="6593300" y="2061030"/>
              <a:chExt cx="752341" cy="374334"/>
            </a:xfrm>
            <a:solidFill>
              <a:srgbClr val="840300"/>
            </a:solidFill>
          </p:grpSpPr>
          <p:sp>
            <p:nvSpPr>
              <p:cNvPr id="19" name="星形: 五角 18"/>
              <p:cNvSpPr/>
              <p:nvPr/>
            </p:nvSpPr>
            <p:spPr>
              <a:xfrm>
                <a:off x="6593300" y="2061030"/>
                <a:ext cx="374334" cy="374334"/>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星形: 五角 19"/>
              <p:cNvSpPr/>
              <p:nvPr/>
            </p:nvSpPr>
            <p:spPr>
              <a:xfrm>
                <a:off x="7050825" y="2100789"/>
                <a:ext cx="294816" cy="294816"/>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0" name="组合 29"/>
          <p:cNvGrpSpPr/>
          <p:nvPr/>
        </p:nvGrpSpPr>
        <p:grpSpPr>
          <a:xfrm>
            <a:off x="2641526" y="1908630"/>
            <a:ext cx="6908948" cy="2351995"/>
            <a:chOff x="2650133" y="1967722"/>
            <a:chExt cx="6908948" cy="2351995"/>
          </a:xfrm>
        </p:grpSpPr>
        <p:sp>
          <p:nvSpPr>
            <p:cNvPr id="32" name="文本框 90"/>
            <p:cNvSpPr txBox="1"/>
            <p:nvPr/>
          </p:nvSpPr>
          <p:spPr>
            <a:xfrm>
              <a:off x="2650281" y="2437851"/>
              <a:ext cx="6908800" cy="800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600" b="1" dirty="0">
                  <a:solidFill>
                    <a:srgbClr val="840300"/>
                  </a:solidFill>
                  <a:latin typeface="Noto Sans S Chinese Medium" panose="020B0600000000000000" pitchFamily="34" charset="-122"/>
                  <a:ea typeface="Noto Sans S Chinese Medium" panose="020B0600000000000000" pitchFamily="34" charset="-122"/>
                </a:rPr>
                <a:t>中国共产党百年伟大贡献</a:t>
              </a:r>
              <a:endParaRPr lang="zh-CN" altLang="en-US" sz="4600" b="1" dirty="0">
                <a:solidFill>
                  <a:srgbClr val="840300"/>
                </a:solidFill>
                <a:latin typeface="Noto Sans S Chinese Medium" panose="020B0600000000000000" pitchFamily="34" charset="-122"/>
                <a:ea typeface="Noto Sans S Chinese Medium" panose="020B0600000000000000" pitchFamily="34" charset="-122"/>
              </a:endParaRPr>
            </a:p>
          </p:txBody>
        </p:sp>
        <p:cxnSp>
          <p:nvCxnSpPr>
            <p:cNvPr id="38" name="直接连接符 37"/>
            <p:cNvCxnSpPr/>
            <p:nvPr/>
          </p:nvCxnSpPr>
          <p:spPr>
            <a:xfrm>
              <a:off x="2650133" y="4319717"/>
              <a:ext cx="6908800"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2672297" y="3232397"/>
              <a:ext cx="6873532" cy="70487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从</a:t>
              </a:r>
              <a:r>
                <a:rPr lang="en-US" altLang="zh-CN" sz="1400" b="0" i="0" dirty="0">
                  <a:solidFill>
                    <a:srgbClr val="840300"/>
                  </a:solidFill>
                  <a:effectLst/>
                  <a:latin typeface="Noto Sans S Chinese Medium" panose="020B0600000000000000" pitchFamily="34" charset="-122"/>
                  <a:ea typeface="Noto Sans S Chinese Medium" panose="020B0600000000000000" pitchFamily="34" charset="-122"/>
                </a:rPr>
                <a:t>1921</a:t>
              </a: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年到</a:t>
              </a:r>
              <a:r>
                <a:rPr lang="en-US" altLang="zh-CN" sz="1400" b="0" i="0" dirty="0">
                  <a:solidFill>
                    <a:srgbClr val="840300"/>
                  </a:solidFill>
                  <a:effectLst/>
                  <a:latin typeface="Noto Sans S Chinese Medium" panose="020B0600000000000000" pitchFamily="34" charset="-122"/>
                  <a:ea typeface="Noto Sans S Chinese Medium" panose="020B0600000000000000" pitchFamily="34" charset="-122"/>
                </a:rPr>
                <a:t>2021</a:t>
              </a: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年，中国共产党走过了整整一百年的历程。这是苦难中铸就辉煌、挫折后毅然奋起、探索中收获成功、转折中开创新局、奋斗后赢得未来的百年。</a:t>
              </a:r>
              <a:endParaRPr lang="zh-CN" altLang="en-US" sz="1400" dirty="0">
                <a:solidFill>
                  <a:srgbClr val="840300"/>
                </a:solidFill>
                <a:latin typeface="Noto Sans S Chinese Medium" panose="020B0600000000000000" pitchFamily="34" charset="-122"/>
                <a:ea typeface="Noto Sans S Chinese Medium" panose="020B0600000000000000" pitchFamily="34" charset="-122"/>
              </a:endParaRPr>
            </a:p>
          </p:txBody>
        </p:sp>
        <p:cxnSp>
          <p:nvCxnSpPr>
            <p:cNvPr id="46" name="直接连接符 45"/>
            <p:cNvCxnSpPr/>
            <p:nvPr/>
          </p:nvCxnSpPr>
          <p:spPr>
            <a:xfrm>
              <a:off x="2650133" y="1967722"/>
              <a:ext cx="2253171"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7305762" y="1967722"/>
              <a:ext cx="2253171"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回顾中国共产党百年辉煌</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998806" y="1326297"/>
            <a:ext cx="10185009" cy="4808120"/>
            <a:chOff x="998806" y="1268241"/>
            <a:chExt cx="10185009" cy="4808120"/>
          </a:xfrm>
        </p:grpSpPr>
        <p:grpSp>
          <p:nvGrpSpPr>
            <p:cNvPr id="14" name="组合 13"/>
            <p:cNvGrpSpPr/>
            <p:nvPr/>
          </p:nvGrpSpPr>
          <p:grpSpPr>
            <a:xfrm>
              <a:off x="2146063" y="1364721"/>
              <a:ext cx="7909999" cy="361039"/>
              <a:chOff x="1926988" y="1364721"/>
              <a:chExt cx="7909999" cy="361039"/>
            </a:xfrm>
          </p:grpSpPr>
          <p:grpSp>
            <p:nvGrpSpPr>
              <p:cNvPr id="21" name="组合 20"/>
              <p:cNvGrpSpPr/>
              <p:nvPr/>
            </p:nvGrpSpPr>
            <p:grpSpPr>
              <a:xfrm flipH="1">
                <a:off x="8957793" y="1364721"/>
                <a:ext cx="879194" cy="361039"/>
                <a:chOff x="1999947" y="1184677"/>
                <a:chExt cx="1070548" cy="439618"/>
              </a:xfrm>
              <a:solidFill>
                <a:srgbClr val="B11819"/>
              </a:solidFill>
            </p:grpSpPr>
            <p:sp>
              <p:nvSpPr>
                <p:cNvPr id="27" name="星形: 五角 26"/>
                <p:cNvSpPr/>
                <p:nvPr/>
              </p:nvSpPr>
              <p:spPr>
                <a:xfrm>
                  <a:off x="2630877" y="1184677"/>
                  <a:ext cx="439618" cy="439618"/>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星形: 五角 27"/>
                <p:cNvSpPr/>
                <p:nvPr/>
              </p:nvSpPr>
              <p:spPr>
                <a:xfrm>
                  <a:off x="2266007" y="1276140"/>
                  <a:ext cx="290123" cy="29012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星形: 五角 28"/>
                <p:cNvSpPr/>
                <p:nvPr/>
              </p:nvSpPr>
              <p:spPr>
                <a:xfrm>
                  <a:off x="1999947" y="1325093"/>
                  <a:ext cx="191313" cy="19131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1926988" y="1364721"/>
                <a:ext cx="879194" cy="361039"/>
                <a:chOff x="1999947" y="1184677"/>
                <a:chExt cx="1070548" cy="439618"/>
              </a:xfrm>
              <a:solidFill>
                <a:srgbClr val="B11819"/>
              </a:solidFill>
            </p:grpSpPr>
            <p:sp>
              <p:nvSpPr>
                <p:cNvPr id="24" name="星形: 五角 23"/>
                <p:cNvSpPr/>
                <p:nvPr/>
              </p:nvSpPr>
              <p:spPr>
                <a:xfrm>
                  <a:off x="2630877" y="1184677"/>
                  <a:ext cx="439618" cy="439618"/>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星形: 五角 24"/>
                <p:cNvSpPr/>
                <p:nvPr/>
              </p:nvSpPr>
              <p:spPr>
                <a:xfrm>
                  <a:off x="2266007" y="1276140"/>
                  <a:ext cx="290123" cy="29012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星形: 五角 25"/>
                <p:cNvSpPr/>
                <p:nvPr/>
              </p:nvSpPr>
              <p:spPr>
                <a:xfrm>
                  <a:off x="1999947" y="1325093"/>
                  <a:ext cx="191313" cy="19131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5" name="矩形 14"/>
            <p:cNvSpPr/>
            <p:nvPr/>
          </p:nvSpPr>
          <p:spPr>
            <a:xfrm>
              <a:off x="3338182" y="1268241"/>
              <a:ext cx="5527208" cy="553998"/>
            </a:xfrm>
            <a:prstGeom prst="rect">
              <a:avLst/>
            </a:prstGeom>
          </p:spPr>
          <p:txBody>
            <a:bodyPr wrap="square">
              <a:spAutoFit/>
            </a:bodyPr>
            <a:lstStyle/>
            <a:p>
              <a:pPr algn="dist"/>
              <a:r>
                <a:rPr lang="zh-CN" altLang="en-US" sz="3000" b="1" dirty="0">
                  <a:solidFill>
                    <a:schemeClr val="tx1">
                      <a:lumMod val="95000"/>
                      <a:lumOff val="5000"/>
                    </a:schemeClr>
                  </a:solidFill>
                  <a:latin typeface="微软雅黑" panose="020B0503020204020204" pitchFamily="34" charset="-122"/>
                  <a:ea typeface="微软雅黑" panose="020B0503020204020204" pitchFamily="34" charset="-122"/>
                </a:rPr>
                <a:t>中国共产党</a:t>
              </a:r>
              <a:r>
                <a:rPr lang="zh-CN" altLang="en-US" sz="3000" b="1" dirty="0">
                  <a:solidFill>
                    <a:srgbClr val="840300"/>
                  </a:solidFill>
                  <a:latin typeface="微软雅黑" panose="020B0503020204020204" pitchFamily="34" charset="-122"/>
                  <a:ea typeface="微软雅黑" panose="020B0503020204020204" pitchFamily="34" charset="-122"/>
                </a:rPr>
                <a:t>对国家</a:t>
              </a:r>
              <a:r>
                <a:rPr lang="zh-CN" altLang="en-US" sz="3000" b="1" dirty="0">
                  <a:solidFill>
                    <a:schemeClr val="tx1">
                      <a:lumMod val="95000"/>
                      <a:lumOff val="5000"/>
                    </a:schemeClr>
                  </a:solidFill>
                  <a:latin typeface="微软雅黑" panose="020B0503020204020204" pitchFamily="34" charset="-122"/>
                  <a:ea typeface="微软雅黑" panose="020B0503020204020204" pitchFamily="34" charset="-122"/>
                </a:rPr>
                <a:t>的伟大贡献</a:t>
              </a:r>
              <a:endParaRPr lang="zh-CN" altLang="en-US" sz="3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998806" y="2028970"/>
              <a:ext cx="10185009"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998806" y="6076361"/>
              <a:ext cx="10185009"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grpSp>
      <p:sp>
        <p:nvSpPr>
          <p:cNvPr id="30" name="矩形 29"/>
          <p:cNvSpPr/>
          <p:nvPr/>
        </p:nvSpPr>
        <p:spPr>
          <a:xfrm>
            <a:off x="903076" y="2282426"/>
            <a:ext cx="10401868" cy="3737754"/>
          </a:xfrm>
          <a:prstGeom prst="rect">
            <a:avLst/>
          </a:prstGeom>
        </p:spPr>
        <p:txBody>
          <a:bodyPr wrap="square">
            <a:spAutoFit/>
          </a:bodyPr>
          <a:lstStyle/>
          <a:p>
            <a:pPr>
              <a:lnSpc>
                <a:spcPct val="150000"/>
              </a:lnSpc>
            </a:pPr>
            <a:r>
              <a:rPr lang="zh-CN" altLang="en-US" sz="2000" dirty="0">
                <a:latin typeface="Noto Sans S Chinese Regular" panose="020B0500000000000000" pitchFamily="34" charset="-122"/>
                <a:ea typeface="Noto Sans S Chinese Regular" panose="020B0500000000000000" pitchFamily="34" charset="-122"/>
              </a:rPr>
              <a:t>        党的十一届三中全会以来，我们党作出实行改革开放的历史性决策，极大地解放和发展了社会生产力。中国大踏步赶上时代潮流，用几十年时间走完了西方发达国家几百年走过的工业化历程，建立了全世界最完整的现代工业体系，成为世界第二大经济体。进入新时代，我们党团结带领人民进行伟大斗争、建设伟大工程。</a:t>
            </a:r>
            <a:endParaRPr lang="en-US" altLang="zh-CN" sz="2000" dirty="0">
              <a:latin typeface="Noto Sans S Chinese Regular" panose="020B0500000000000000" pitchFamily="34" charset="-122"/>
              <a:ea typeface="Noto Sans S Chinese Regular" panose="020B0500000000000000" pitchFamily="34" charset="-122"/>
            </a:endParaRPr>
          </a:p>
          <a:p>
            <a:pPr>
              <a:lnSpc>
                <a:spcPct val="150000"/>
              </a:lnSpc>
            </a:pPr>
            <a:r>
              <a:rPr lang="zh-CN" altLang="en-US" sz="2000" dirty="0">
                <a:latin typeface="Noto Sans S Chinese Regular" panose="020B0500000000000000" pitchFamily="34" charset="-122"/>
                <a:ea typeface="Noto Sans S Chinese Regular" panose="020B0500000000000000" pitchFamily="34" charset="-122"/>
              </a:rPr>
              <a:t>        党的十九大擘画了实现中华民族伟大复兴中国梦的宏伟蓝图，提出到</a:t>
            </a:r>
            <a:r>
              <a:rPr lang="en-US" altLang="zh-CN" sz="2000" dirty="0">
                <a:latin typeface="Noto Sans S Chinese Regular" panose="020B0500000000000000" pitchFamily="34" charset="-122"/>
                <a:ea typeface="Noto Sans S Chinese Regular" panose="020B0500000000000000" pitchFamily="34" charset="-122"/>
              </a:rPr>
              <a:t>2035</a:t>
            </a:r>
            <a:r>
              <a:rPr lang="zh-CN" altLang="en-US" sz="2000" dirty="0">
                <a:latin typeface="Noto Sans S Chinese Regular" panose="020B0500000000000000" pitchFamily="34" charset="-122"/>
                <a:ea typeface="Noto Sans S Chinese Regular" panose="020B0500000000000000" pitchFamily="34" charset="-122"/>
              </a:rPr>
              <a:t>年基本实现社会主义现代化，到本世纪中叶把我国建成富强民主文明和谐美丽的社会主义现代化强国。一个开启全面建设社会主义现代化国家新征程、向第二个百年奋斗目标进军的中国，已经展现在世人面前。</a:t>
            </a:r>
            <a:endParaRPr lang="zh-CN" altLang="en-US" sz="2000" dirty="0">
              <a:latin typeface="Noto Sans S Chinese Regular" panose="020B0500000000000000" pitchFamily="34" charset="-122"/>
              <a:ea typeface="Noto Sans S Chinese Regular" panose="020B0500000000000000" pitchFamily="34" charset="-122"/>
            </a:endParaRPr>
          </a:p>
        </p:txBody>
      </p:sp>
    </p:spTree>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回顾中国共产党百年辉煌</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1986409" y="1422777"/>
            <a:ext cx="8229314" cy="361039"/>
            <a:chOff x="2058979" y="1422777"/>
            <a:chExt cx="8229314" cy="361039"/>
          </a:xfrm>
        </p:grpSpPr>
        <p:grpSp>
          <p:nvGrpSpPr>
            <p:cNvPr id="21" name="组合 20"/>
            <p:cNvGrpSpPr/>
            <p:nvPr/>
          </p:nvGrpSpPr>
          <p:grpSpPr>
            <a:xfrm flipH="1">
              <a:off x="9409099" y="1422777"/>
              <a:ext cx="879194" cy="361039"/>
              <a:chOff x="1999947" y="1184677"/>
              <a:chExt cx="1070548" cy="439618"/>
            </a:xfrm>
            <a:solidFill>
              <a:srgbClr val="B11819"/>
            </a:solidFill>
          </p:grpSpPr>
          <p:sp>
            <p:nvSpPr>
              <p:cNvPr id="27" name="星形: 五角 26"/>
              <p:cNvSpPr/>
              <p:nvPr/>
            </p:nvSpPr>
            <p:spPr>
              <a:xfrm>
                <a:off x="2630877" y="1184677"/>
                <a:ext cx="439618" cy="439618"/>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星形: 五角 27"/>
              <p:cNvSpPr/>
              <p:nvPr/>
            </p:nvSpPr>
            <p:spPr>
              <a:xfrm>
                <a:off x="2266007" y="1276140"/>
                <a:ext cx="290123" cy="29012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星形: 五角 28"/>
              <p:cNvSpPr/>
              <p:nvPr/>
            </p:nvSpPr>
            <p:spPr>
              <a:xfrm>
                <a:off x="1999947" y="1325093"/>
                <a:ext cx="191313" cy="19131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2058979" y="1422777"/>
              <a:ext cx="879194" cy="361039"/>
              <a:chOff x="1999947" y="1184677"/>
              <a:chExt cx="1070548" cy="439618"/>
            </a:xfrm>
            <a:solidFill>
              <a:srgbClr val="B11819"/>
            </a:solidFill>
          </p:grpSpPr>
          <p:sp>
            <p:nvSpPr>
              <p:cNvPr id="24" name="星形: 五角 23"/>
              <p:cNvSpPr/>
              <p:nvPr/>
            </p:nvSpPr>
            <p:spPr>
              <a:xfrm>
                <a:off x="2630877" y="1184677"/>
                <a:ext cx="439618" cy="439618"/>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星形: 五角 24"/>
              <p:cNvSpPr/>
              <p:nvPr/>
            </p:nvSpPr>
            <p:spPr>
              <a:xfrm>
                <a:off x="2266007" y="1276140"/>
                <a:ext cx="290123" cy="29012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星形: 五角 25"/>
              <p:cNvSpPr/>
              <p:nvPr/>
            </p:nvSpPr>
            <p:spPr>
              <a:xfrm>
                <a:off x="1999947" y="1325093"/>
                <a:ext cx="191313" cy="19131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5" name="矩形 14"/>
          <p:cNvSpPr/>
          <p:nvPr/>
        </p:nvSpPr>
        <p:spPr>
          <a:xfrm>
            <a:off x="3023448" y="1340811"/>
            <a:ext cx="6156676" cy="553998"/>
          </a:xfrm>
          <a:prstGeom prst="rect">
            <a:avLst/>
          </a:prstGeom>
        </p:spPr>
        <p:txBody>
          <a:bodyPr wrap="square">
            <a:spAutoFit/>
          </a:bodyPr>
          <a:lstStyle/>
          <a:p>
            <a:pPr algn="dist"/>
            <a:r>
              <a:rPr lang="zh-CN" altLang="en-US" sz="3000" b="1" dirty="0">
                <a:solidFill>
                  <a:schemeClr val="tx1">
                    <a:lumMod val="95000"/>
                    <a:lumOff val="5000"/>
                  </a:schemeClr>
                </a:solidFill>
                <a:latin typeface="微软雅黑" panose="020B0503020204020204" pitchFamily="34" charset="-122"/>
                <a:ea typeface="微软雅黑" panose="020B0503020204020204" pitchFamily="34" charset="-122"/>
              </a:rPr>
              <a:t>中国共产党对</a:t>
            </a:r>
            <a:r>
              <a:rPr lang="zh-CN" altLang="en-US" sz="3000" b="1" dirty="0">
                <a:solidFill>
                  <a:srgbClr val="840300"/>
                </a:solidFill>
                <a:latin typeface="微软雅黑" panose="020B0503020204020204" pitchFamily="34" charset="-122"/>
                <a:ea typeface="微软雅黑" panose="020B0503020204020204" pitchFamily="34" charset="-122"/>
              </a:rPr>
              <a:t>中国人民</a:t>
            </a:r>
            <a:r>
              <a:rPr lang="zh-CN" altLang="en-US" sz="3000" b="1" dirty="0">
                <a:solidFill>
                  <a:schemeClr val="tx1">
                    <a:lumMod val="95000"/>
                    <a:lumOff val="5000"/>
                  </a:schemeClr>
                </a:solidFill>
                <a:latin typeface="微软雅黑" panose="020B0503020204020204" pitchFamily="34" charset="-122"/>
                <a:ea typeface="微软雅黑" panose="020B0503020204020204" pitchFamily="34" charset="-122"/>
              </a:rPr>
              <a:t>的伟大贡献</a:t>
            </a:r>
            <a:endParaRPr lang="zh-CN" altLang="en-US" sz="3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998806" y="2087026"/>
            <a:ext cx="10185009"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998806" y="6134417"/>
            <a:ext cx="10185009"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969778" y="2370463"/>
            <a:ext cx="10254480" cy="3526158"/>
          </a:xfrm>
          <a:prstGeom prst="rect">
            <a:avLst/>
          </a:prstGeom>
        </p:spPr>
        <p:txBody>
          <a:bodyPr wrap="square">
            <a:spAutoFit/>
          </a:bodyPr>
          <a:lstStyle/>
          <a:p>
            <a:pPr marL="457200" indent="-457200">
              <a:lnSpc>
                <a:spcPts val="3000"/>
              </a:lnSpc>
              <a:buFont typeface="+mj-lt"/>
              <a:buAutoNum type="arabicPeriod"/>
            </a:pPr>
            <a:r>
              <a:rPr lang="zh-CN" altLang="en-US" sz="2000" dirty="0">
                <a:latin typeface="Noto Sans S Chinese Regular" panose="020B0500000000000000" pitchFamily="34" charset="-122"/>
                <a:ea typeface="Noto Sans S Chinese Regular" panose="020B0500000000000000" pitchFamily="34" charset="-122"/>
              </a:rPr>
              <a:t>在经济上，随着生产力的发展，人民生活水平不断提高。</a:t>
            </a:r>
            <a:endParaRPr lang="en-US" altLang="zh-CN" sz="2000" dirty="0">
              <a:latin typeface="Noto Sans S Chinese Regular" panose="020B0500000000000000" pitchFamily="34" charset="-122"/>
              <a:ea typeface="Noto Sans S Chinese Regular" panose="020B0500000000000000" pitchFamily="34" charset="-122"/>
            </a:endParaRPr>
          </a:p>
          <a:p>
            <a:pPr marL="457200" indent="-457200">
              <a:lnSpc>
                <a:spcPts val="3000"/>
              </a:lnSpc>
              <a:buFont typeface="+mj-lt"/>
              <a:buAutoNum type="arabicPeriod"/>
            </a:pPr>
            <a:r>
              <a:rPr lang="zh-CN" altLang="en-US" sz="2000" dirty="0">
                <a:latin typeface="Noto Sans S Chinese Regular" panose="020B0500000000000000" pitchFamily="34" charset="-122"/>
                <a:ea typeface="Noto Sans S Chinese Regular" panose="020B0500000000000000" pitchFamily="34" charset="-122"/>
              </a:rPr>
              <a:t>在政治上，人民群众享有广泛真实管用的民主，从各层次各领域有序参与政治生活。</a:t>
            </a:r>
            <a:endParaRPr lang="en-US" altLang="zh-CN" sz="2000" dirty="0">
              <a:latin typeface="Noto Sans S Chinese Regular" panose="020B0500000000000000" pitchFamily="34" charset="-122"/>
              <a:ea typeface="Noto Sans S Chinese Regular" panose="020B0500000000000000" pitchFamily="34" charset="-122"/>
            </a:endParaRPr>
          </a:p>
          <a:p>
            <a:pPr marL="457200" indent="-457200">
              <a:lnSpc>
                <a:spcPts val="3000"/>
              </a:lnSpc>
              <a:buFont typeface="+mj-lt"/>
              <a:buAutoNum type="arabicPeriod"/>
            </a:pPr>
            <a:r>
              <a:rPr lang="zh-CN" altLang="en-US" sz="2000" dirty="0">
                <a:latin typeface="Noto Sans S Chinese Regular" panose="020B0500000000000000" pitchFamily="34" charset="-122"/>
                <a:ea typeface="Noto Sans S Chinese Regular" panose="020B0500000000000000" pitchFamily="34" charset="-122"/>
              </a:rPr>
              <a:t>在文化上，坚持马克思主义在意识形态领域的指导地位，加强社会主义精神文明建设。</a:t>
            </a:r>
            <a:endParaRPr lang="zh-CN" altLang="en-US" sz="2000" dirty="0">
              <a:latin typeface="Noto Sans S Chinese Regular" panose="020B0500000000000000" pitchFamily="34" charset="-122"/>
              <a:ea typeface="Noto Sans S Chinese Regular" panose="020B0500000000000000" pitchFamily="34" charset="-122"/>
            </a:endParaRPr>
          </a:p>
          <a:p>
            <a:pPr marL="457200" indent="-457200">
              <a:lnSpc>
                <a:spcPts val="3000"/>
              </a:lnSpc>
              <a:buFont typeface="+mj-lt"/>
              <a:buAutoNum type="arabicPeriod"/>
            </a:pPr>
            <a:r>
              <a:rPr lang="zh-CN" altLang="en-US" sz="2000" dirty="0">
                <a:latin typeface="Noto Sans S Chinese Regular" panose="020B0500000000000000" pitchFamily="34" charset="-122"/>
                <a:ea typeface="Noto Sans S Chinese Regular" panose="020B0500000000000000" pitchFamily="34" charset="-122"/>
              </a:rPr>
              <a:t>在民生上，教育事业全面发展，教育普及程度超过中高收入国家平均水平，高等教育进入普及化阶段。</a:t>
            </a:r>
            <a:endParaRPr lang="zh-CN" altLang="en-US" sz="2000" dirty="0">
              <a:latin typeface="Noto Sans S Chinese Regular" panose="020B0500000000000000" pitchFamily="34" charset="-122"/>
              <a:ea typeface="Noto Sans S Chinese Regular" panose="020B0500000000000000" pitchFamily="34" charset="-122"/>
            </a:endParaRPr>
          </a:p>
          <a:p>
            <a:pPr marL="457200" indent="-457200">
              <a:lnSpc>
                <a:spcPts val="3000"/>
              </a:lnSpc>
              <a:buFont typeface="+mj-lt"/>
              <a:buAutoNum type="arabicPeriod"/>
            </a:pPr>
            <a:r>
              <a:rPr lang="zh-CN" altLang="en-US" sz="2000" dirty="0">
                <a:latin typeface="Noto Sans S Chinese Regular" panose="020B0500000000000000" pitchFamily="34" charset="-122"/>
                <a:ea typeface="Noto Sans S Chinese Regular" panose="020B0500000000000000" pitchFamily="34" charset="-122"/>
              </a:rPr>
              <a:t>在生态上，大力推进生态文明建设，提供更多优质生态产品，不断满足人民日益增长的优美生态环境需要。</a:t>
            </a:r>
            <a:endParaRPr lang="zh-CN" altLang="en-US" sz="2000" dirty="0">
              <a:latin typeface="Noto Sans S Chinese Regular" panose="020B0500000000000000" pitchFamily="34" charset="-122"/>
              <a:ea typeface="Noto Sans S Chinese Regular" panose="020B0500000000000000" pitchFamily="34" charset="-122"/>
            </a:endParaRPr>
          </a:p>
          <a:p>
            <a:pPr marL="457200" indent="-457200">
              <a:lnSpc>
                <a:spcPts val="3000"/>
              </a:lnSpc>
              <a:buFont typeface="+mj-lt"/>
              <a:buAutoNum type="arabicPeriod"/>
            </a:pPr>
            <a:r>
              <a:rPr lang="zh-CN" altLang="en-US" sz="2000" dirty="0">
                <a:latin typeface="Noto Sans S Chinese Regular" panose="020B0500000000000000" pitchFamily="34" charset="-122"/>
                <a:ea typeface="Noto Sans S Chinese Regular" panose="020B0500000000000000" pitchFamily="34" charset="-122"/>
              </a:rPr>
              <a:t>在扶贫上，创造了人类减贫史上的奇迹。党的十八大以来，精准扶贫、精准脱贫力度之大、效果之彰，在人类历史上前所未有。</a:t>
            </a:r>
            <a:endParaRPr lang="zh-CN" altLang="en-US" sz="2000" dirty="0">
              <a:latin typeface="Noto Sans S Chinese Regular" panose="020B0500000000000000" pitchFamily="34" charset="-122"/>
              <a:ea typeface="Noto Sans S Chinese Regular" panose="020B0500000000000000" pitchFamily="34" charset="-122"/>
            </a:endParaRPr>
          </a:p>
        </p:txBody>
      </p:sp>
    </p:spTree>
  </p:cSld>
  <p:clrMapOvr>
    <a:masterClrMapping/>
  </p:clrMapOvr>
  <p:transition>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回顾中国共产党百年辉煌</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218639" y="1408263"/>
            <a:ext cx="7779371" cy="361039"/>
            <a:chOff x="1986409" y="1422777"/>
            <a:chExt cx="7779371" cy="361039"/>
          </a:xfrm>
        </p:grpSpPr>
        <p:grpSp>
          <p:nvGrpSpPr>
            <p:cNvPr id="21" name="组合 20"/>
            <p:cNvGrpSpPr/>
            <p:nvPr/>
          </p:nvGrpSpPr>
          <p:grpSpPr>
            <a:xfrm flipH="1">
              <a:off x="8886586" y="1422777"/>
              <a:ext cx="879194" cy="361039"/>
              <a:chOff x="1999947" y="1184677"/>
              <a:chExt cx="1070548" cy="439618"/>
            </a:xfrm>
            <a:solidFill>
              <a:srgbClr val="B11819"/>
            </a:solidFill>
          </p:grpSpPr>
          <p:sp>
            <p:nvSpPr>
              <p:cNvPr id="27" name="星形: 五角 26"/>
              <p:cNvSpPr/>
              <p:nvPr/>
            </p:nvSpPr>
            <p:spPr>
              <a:xfrm>
                <a:off x="2630877" y="1184677"/>
                <a:ext cx="439618" cy="439618"/>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星形: 五角 27"/>
              <p:cNvSpPr/>
              <p:nvPr/>
            </p:nvSpPr>
            <p:spPr>
              <a:xfrm>
                <a:off x="2266007" y="1276140"/>
                <a:ext cx="290123" cy="29012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星形: 五角 28"/>
              <p:cNvSpPr/>
              <p:nvPr/>
            </p:nvSpPr>
            <p:spPr>
              <a:xfrm>
                <a:off x="1999947" y="1325093"/>
                <a:ext cx="191313" cy="19131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1986409" y="1422777"/>
              <a:ext cx="879194" cy="361039"/>
              <a:chOff x="1999947" y="1184677"/>
              <a:chExt cx="1070548" cy="439618"/>
            </a:xfrm>
            <a:solidFill>
              <a:srgbClr val="B11819"/>
            </a:solidFill>
          </p:grpSpPr>
          <p:sp>
            <p:nvSpPr>
              <p:cNvPr id="24" name="星形: 五角 23"/>
              <p:cNvSpPr/>
              <p:nvPr/>
            </p:nvSpPr>
            <p:spPr>
              <a:xfrm>
                <a:off x="2630877" y="1184677"/>
                <a:ext cx="439618" cy="439618"/>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星形: 五角 24"/>
              <p:cNvSpPr/>
              <p:nvPr/>
            </p:nvSpPr>
            <p:spPr>
              <a:xfrm>
                <a:off x="2266007" y="1276140"/>
                <a:ext cx="290123" cy="29012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星形: 五角 25"/>
              <p:cNvSpPr/>
              <p:nvPr/>
            </p:nvSpPr>
            <p:spPr>
              <a:xfrm>
                <a:off x="1999947" y="1325093"/>
                <a:ext cx="191313" cy="191313"/>
              </a:xfrm>
              <a:prstGeom prst="star5">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5" name="矩形 14"/>
          <p:cNvSpPr/>
          <p:nvPr/>
        </p:nvSpPr>
        <p:spPr>
          <a:xfrm>
            <a:off x="3335343" y="1340811"/>
            <a:ext cx="5532886" cy="553998"/>
          </a:xfrm>
          <a:prstGeom prst="rect">
            <a:avLst/>
          </a:prstGeom>
        </p:spPr>
        <p:txBody>
          <a:bodyPr wrap="square">
            <a:spAutoFit/>
          </a:bodyPr>
          <a:lstStyle/>
          <a:p>
            <a:pPr algn="dist"/>
            <a:r>
              <a:rPr lang="zh-CN" altLang="en-US" sz="3000" b="1" dirty="0">
                <a:solidFill>
                  <a:schemeClr val="tx1">
                    <a:lumMod val="95000"/>
                    <a:lumOff val="5000"/>
                  </a:schemeClr>
                </a:solidFill>
                <a:latin typeface="微软雅黑" panose="020B0503020204020204" pitchFamily="34" charset="-122"/>
                <a:ea typeface="微软雅黑" panose="020B0503020204020204" pitchFamily="34" charset="-122"/>
              </a:rPr>
              <a:t>中国共产党对</a:t>
            </a:r>
            <a:r>
              <a:rPr lang="zh-CN" altLang="en-US" sz="3000" b="1" dirty="0">
                <a:solidFill>
                  <a:srgbClr val="840300"/>
                </a:solidFill>
                <a:latin typeface="微软雅黑" panose="020B0503020204020204" pitchFamily="34" charset="-122"/>
                <a:ea typeface="微软雅黑" panose="020B0503020204020204" pitchFamily="34" charset="-122"/>
              </a:rPr>
              <a:t>世界</a:t>
            </a:r>
            <a:r>
              <a:rPr lang="zh-CN" altLang="en-US" sz="3000" b="1" dirty="0">
                <a:solidFill>
                  <a:schemeClr val="tx1">
                    <a:lumMod val="95000"/>
                    <a:lumOff val="5000"/>
                  </a:schemeClr>
                </a:solidFill>
                <a:latin typeface="微软雅黑" panose="020B0503020204020204" pitchFamily="34" charset="-122"/>
                <a:ea typeface="微软雅黑" panose="020B0503020204020204" pitchFamily="34" charset="-122"/>
              </a:rPr>
              <a:t>的伟大贡献</a:t>
            </a:r>
            <a:endParaRPr lang="zh-CN" altLang="en-US" sz="3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998806" y="2087026"/>
            <a:ext cx="10185009"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998806" y="6134417"/>
            <a:ext cx="10185009"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003495" y="2382116"/>
            <a:ext cx="10185010" cy="3449214"/>
          </a:xfrm>
          <a:prstGeom prst="rect">
            <a:avLst/>
          </a:prstGeom>
        </p:spPr>
        <p:txBody>
          <a:bodyPr wrap="square">
            <a:spAutoFit/>
          </a:bodyPr>
          <a:lstStyle/>
          <a:p>
            <a:pPr>
              <a:lnSpc>
                <a:spcPts val="3800"/>
              </a:lnSpc>
            </a:pPr>
            <a:r>
              <a:rPr lang="zh-CN" altLang="en-US" sz="2000" dirty="0">
                <a:latin typeface="Noto Sans S Chinese Regular" panose="020B0500000000000000" pitchFamily="34" charset="-122"/>
                <a:ea typeface="Noto Sans S Chinese Regular" panose="020B0500000000000000" pitchFamily="34" charset="-122"/>
              </a:rPr>
              <a:t>        我国有</a:t>
            </a:r>
            <a:r>
              <a:rPr lang="en-US" altLang="zh-CN" sz="2000" dirty="0">
                <a:latin typeface="Noto Sans S Chinese Regular" panose="020B0500000000000000" pitchFamily="34" charset="-122"/>
                <a:ea typeface="Noto Sans S Chinese Regular" panose="020B0500000000000000" pitchFamily="34" charset="-122"/>
              </a:rPr>
              <a:t>56</a:t>
            </a:r>
            <a:r>
              <a:rPr lang="zh-CN" altLang="en-US" sz="2000" dirty="0">
                <a:latin typeface="Noto Sans S Chinese Regular" panose="020B0500000000000000" pitchFamily="34" charset="-122"/>
                <a:ea typeface="Noto Sans S Chinese Regular" panose="020B0500000000000000" pitchFamily="34" charset="-122"/>
              </a:rPr>
              <a:t>个民族，共同组成一个多民族的大家庭。中国共产党坚持马克思主义民族理论和政策，从中国实际出发，实行民族区域自治制度，坚持各民族一律平等，全面贯彻党的民族政策，建立起平等团结互助和谐的社会主义民族关系，不断铸牢中华民族共同体意识，加强各民族交往交流交融，促进各民族共同团结奋斗、共同繁荣发展。</a:t>
            </a:r>
            <a:endParaRPr lang="zh-CN" altLang="en-US" sz="2000" dirty="0">
              <a:latin typeface="Noto Sans S Chinese Regular" panose="020B0500000000000000" pitchFamily="34" charset="-122"/>
              <a:ea typeface="Noto Sans S Chinese Regular" panose="020B0500000000000000" pitchFamily="34" charset="-122"/>
            </a:endParaRPr>
          </a:p>
          <a:p>
            <a:pPr>
              <a:lnSpc>
                <a:spcPts val="3800"/>
              </a:lnSpc>
            </a:pPr>
            <a:r>
              <a:rPr lang="zh-CN" altLang="en-US" sz="2000" dirty="0">
                <a:latin typeface="Noto Sans S Chinese Regular" panose="020B0500000000000000" pitchFamily="34" charset="-122"/>
                <a:ea typeface="Noto Sans S Chinese Regular" panose="020B0500000000000000" pitchFamily="34" charset="-122"/>
              </a:rPr>
              <a:t>　　中国共产党为国家立心、为民族铸魂，大力传承和弘扬中华优秀传统文化，推动其实现创造性转化和创新性发展。中华文化得以发扬光大，并不断走向世界。中国人民的民族自信心和自豪感不断增强。</a:t>
            </a:r>
            <a:endParaRPr lang="zh-CN" altLang="en-US" sz="2000" dirty="0">
              <a:latin typeface="Noto Sans S Chinese Regular" panose="020B0500000000000000" pitchFamily="34" charset="-122"/>
              <a:ea typeface="Noto Sans S Chinese Regular" panose="020B0500000000000000" pitchFamily="34" charset="-122"/>
            </a:endParaRPr>
          </a:p>
        </p:txBody>
      </p:sp>
    </p:spTree>
  </p:cSld>
  <p:clrMapOvr>
    <a:masterClrMapping/>
  </p:clrMapOvr>
  <p:transition>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52404" y="138321"/>
            <a:ext cx="11898321" cy="6714889"/>
            <a:chOff x="152405" y="138321"/>
            <a:chExt cx="11898320" cy="6714889"/>
          </a:xfrm>
        </p:grpSpPr>
        <p:sp>
          <p:nvSpPr>
            <p:cNvPr id="12" name="任意多边形: 形状 11"/>
            <p:cNvSpPr/>
            <p:nvPr/>
          </p:nvSpPr>
          <p:spPr>
            <a:xfrm>
              <a:off x="152405" y="138321"/>
              <a:ext cx="11898320"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8" name="任意多边形: 形状 7"/>
            <p:cNvSpPr/>
            <p:nvPr/>
          </p:nvSpPr>
          <p:spPr>
            <a:xfrm>
              <a:off x="152405" y="6481493"/>
              <a:ext cx="11898319" cy="311958"/>
            </a:xfrm>
            <a:custGeom>
              <a:avLst/>
              <a:gdLst>
                <a:gd name="connsiteX0" fmla="*/ 0 w 4573721"/>
                <a:gd name="connsiteY0" fmla="*/ 0 h 240110"/>
                <a:gd name="connsiteX1" fmla="*/ 4573722 w 4573721"/>
                <a:gd name="connsiteY1" fmla="*/ 0 h 240110"/>
                <a:gd name="connsiteX2" fmla="*/ 4573722 w 4573721"/>
                <a:gd name="connsiteY2" fmla="*/ 240111 h 240110"/>
                <a:gd name="connsiteX3" fmla="*/ 0 w 4573721"/>
                <a:gd name="connsiteY3" fmla="*/ 240111 h 240110"/>
              </a:gdLst>
              <a:ahLst/>
              <a:cxnLst>
                <a:cxn ang="0">
                  <a:pos x="connsiteX0" y="connsiteY0"/>
                </a:cxn>
                <a:cxn ang="0">
                  <a:pos x="connsiteX1" y="connsiteY1"/>
                </a:cxn>
                <a:cxn ang="0">
                  <a:pos x="connsiteX2" y="connsiteY2"/>
                </a:cxn>
                <a:cxn ang="0">
                  <a:pos x="connsiteX3" y="connsiteY3"/>
                </a:cxn>
              </a:cxnLst>
              <a:rect l="l" t="t" r="r" b="b"/>
              <a:pathLst>
                <a:path w="4573721" h="240110">
                  <a:moveTo>
                    <a:pt x="0" y="0"/>
                  </a:moveTo>
                  <a:lnTo>
                    <a:pt x="4573722" y="0"/>
                  </a:lnTo>
                  <a:lnTo>
                    <a:pt x="4573722" y="240111"/>
                  </a:lnTo>
                  <a:lnTo>
                    <a:pt x="0" y="240111"/>
                  </a:lnTo>
                  <a:close/>
                </a:path>
              </a:pathLst>
            </a:custGeom>
            <a:solidFill>
              <a:srgbClr val="840300"/>
            </a:solidFill>
            <a:ln w="5379" cap="flat">
              <a:noFill/>
              <a:prstDash val="solid"/>
              <a:miter/>
            </a:ln>
          </p:spPr>
          <p:txBody>
            <a:bodyPr rtlCol="0" anchor="ctr"/>
            <a:lstStyle/>
            <a:p>
              <a:endParaRPr lang="zh-CN" altLang="en-US"/>
            </a:p>
          </p:txBody>
        </p:sp>
        <p:pic>
          <p:nvPicPr>
            <p:cNvPr id="9" name="图片 8"/>
            <p:cNvPicPr>
              <a:picLocks noChangeAspect="1"/>
            </p:cNvPicPr>
            <p:nvPr/>
          </p:nvPicPr>
          <p:blipFill>
            <a:blip r:embed="rId1"/>
            <a:stretch>
              <a:fillRect/>
            </a:stretch>
          </p:blipFill>
          <p:spPr>
            <a:xfrm>
              <a:off x="2908301" y="4949370"/>
              <a:ext cx="6375397" cy="1595016"/>
            </a:xfrm>
            <a:custGeom>
              <a:avLst/>
              <a:gdLst>
                <a:gd name="connsiteX0" fmla="*/ -756 w 4573721"/>
                <a:gd name="connsiteY0" fmla="*/ 809 h 1227662"/>
                <a:gd name="connsiteX1" fmla="*/ 4572966 w 4573721"/>
                <a:gd name="connsiteY1" fmla="*/ 809 h 1227662"/>
                <a:gd name="connsiteX2" fmla="*/ 4572966 w 4573721"/>
                <a:gd name="connsiteY2" fmla="*/ 1228471 h 1227662"/>
                <a:gd name="connsiteX3" fmla="*/ -756 w 4573721"/>
                <a:gd name="connsiteY3" fmla="*/ 1228471 h 1227662"/>
              </a:gdLst>
              <a:ahLst/>
              <a:cxnLst>
                <a:cxn ang="0">
                  <a:pos x="connsiteX0" y="connsiteY0"/>
                </a:cxn>
                <a:cxn ang="0">
                  <a:pos x="connsiteX1" y="connsiteY1"/>
                </a:cxn>
                <a:cxn ang="0">
                  <a:pos x="connsiteX2" y="connsiteY2"/>
                </a:cxn>
                <a:cxn ang="0">
                  <a:pos x="connsiteX3" y="connsiteY3"/>
                </a:cxn>
              </a:cxnLst>
              <a:rect l="l" t="t" r="r" b="b"/>
              <a:pathLst>
                <a:path w="4573721" h="1227662">
                  <a:moveTo>
                    <a:pt x="-756" y="809"/>
                  </a:moveTo>
                  <a:lnTo>
                    <a:pt x="4572966" y="809"/>
                  </a:lnTo>
                  <a:lnTo>
                    <a:pt x="4572966" y="1228471"/>
                  </a:lnTo>
                  <a:lnTo>
                    <a:pt x="-756" y="1228471"/>
                  </a:lnTo>
                  <a:close/>
                </a:path>
              </a:pathLst>
            </a:custGeom>
          </p:spPr>
        </p:pic>
        <p:sp>
          <p:nvSpPr>
            <p:cNvPr id="7" name="任意多边形: 形状 6"/>
            <p:cNvSpPr/>
            <p:nvPr/>
          </p:nvSpPr>
          <p:spPr>
            <a:xfrm>
              <a:off x="5941377" y="6481493"/>
              <a:ext cx="309244" cy="371717"/>
            </a:xfrm>
            <a:custGeom>
              <a:avLst/>
              <a:gdLst>
                <a:gd name="connsiteX0" fmla="*/ 154622 w 309244"/>
                <a:gd name="connsiteY0" fmla="*/ 0 h 371717"/>
                <a:gd name="connsiteX1" fmla="*/ 309244 w 309244"/>
                <a:gd name="connsiteY1" fmla="*/ 154622 h 371717"/>
                <a:gd name="connsiteX2" fmla="*/ 309244 w 309244"/>
                <a:gd name="connsiteY2" fmla="*/ 371717 h 371717"/>
                <a:gd name="connsiteX3" fmla="*/ 0 w 309244"/>
                <a:gd name="connsiteY3" fmla="*/ 371717 h 371717"/>
                <a:gd name="connsiteX4" fmla="*/ 0 w 309244"/>
                <a:gd name="connsiteY4" fmla="*/ 154622 h 371717"/>
                <a:gd name="connsiteX5" fmla="*/ 154622 w 309244"/>
                <a:gd name="connsiteY5" fmla="*/ 0 h 37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244" h="371717">
                  <a:moveTo>
                    <a:pt x="154622" y="0"/>
                  </a:moveTo>
                  <a:cubicBezTo>
                    <a:pt x="240017" y="0"/>
                    <a:pt x="309244" y="69227"/>
                    <a:pt x="309244" y="154622"/>
                  </a:cubicBezTo>
                  <a:lnTo>
                    <a:pt x="309244" y="371717"/>
                  </a:lnTo>
                  <a:lnTo>
                    <a:pt x="0" y="371717"/>
                  </a:lnTo>
                  <a:lnTo>
                    <a:pt x="0" y="154622"/>
                  </a:lnTo>
                  <a:cubicBezTo>
                    <a:pt x="0" y="69227"/>
                    <a:pt x="69227" y="0"/>
                    <a:pt x="154622"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22" name="组合 21"/>
          <p:cNvGrpSpPr/>
          <p:nvPr/>
        </p:nvGrpSpPr>
        <p:grpSpPr>
          <a:xfrm>
            <a:off x="5006867" y="1618219"/>
            <a:ext cx="2179951" cy="536119"/>
            <a:chOff x="5013290" y="1820631"/>
            <a:chExt cx="2179951" cy="536119"/>
          </a:xfrm>
        </p:grpSpPr>
        <p:sp>
          <p:nvSpPr>
            <p:cNvPr id="6" name="星形: 五角 5"/>
            <p:cNvSpPr/>
            <p:nvPr/>
          </p:nvSpPr>
          <p:spPr>
            <a:xfrm>
              <a:off x="5834290" y="1820631"/>
              <a:ext cx="536119" cy="536119"/>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星形: 五角 15"/>
            <p:cNvSpPr/>
            <p:nvPr/>
          </p:nvSpPr>
          <p:spPr>
            <a:xfrm>
              <a:off x="6440900" y="1908630"/>
              <a:ext cx="374334" cy="374334"/>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p:cNvSpPr/>
            <p:nvPr/>
          </p:nvSpPr>
          <p:spPr>
            <a:xfrm>
              <a:off x="6898425" y="1948389"/>
              <a:ext cx="294816" cy="294816"/>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flipH="1">
              <a:off x="5013290" y="1905594"/>
              <a:ext cx="752341" cy="374334"/>
              <a:chOff x="6593300" y="2061030"/>
              <a:chExt cx="752341" cy="374334"/>
            </a:xfrm>
            <a:solidFill>
              <a:srgbClr val="840300"/>
            </a:solidFill>
          </p:grpSpPr>
          <p:sp>
            <p:nvSpPr>
              <p:cNvPr id="19" name="星形: 五角 18"/>
              <p:cNvSpPr/>
              <p:nvPr/>
            </p:nvSpPr>
            <p:spPr>
              <a:xfrm>
                <a:off x="6593300" y="2061030"/>
                <a:ext cx="374334" cy="374334"/>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星形: 五角 19"/>
              <p:cNvSpPr/>
              <p:nvPr/>
            </p:nvSpPr>
            <p:spPr>
              <a:xfrm>
                <a:off x="7050825" y="2100789"/>
                <a:ext cx="294816" cy="294816"/>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0" name="组合 29"/>
          <p:cNvGrpSpPr/>
          <p:nvPr/>
        </p:nvGrpSpPr>
        <p:grpSpPr>
          <a:xfrm>
            <a:off x="2641526" y="1908630"/>
            <a:ext cx="6908948" cy="2351995"/>
            <a:chOff x="2650133" y="1967722"/>
            <a:chExt cx="6908948" cy="2351995"/>
          </a:xfrm>
        </p:grpSpPr>
        <p:sp>
          <p:nvSpPr>
            <p:cNvPr id="32" name="文本框 90"/>
            <p:cNvSpPr txBox="1"/>
            <p:nvPr/>
          </p:nvSpPr>
          <p:spPr>
            <a:xfrm>
              <a:off x="2650281" y="2437851"/>
              <a:ext cx="6908800" cy="800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600" b="1" dirty="0">
                  <a:solidFill>
                    <a:srgbClr val="840300"/>
                  </a:solidFill>
                  <a:latin typeface="Noto Sans S Chinese Medium" panose="020B0600000000000000" pitchFamily="34" charset="-122"/>
                  <a:ea typeface="Noto Sans S Chinese Medium" panose="020B0600000000000000" pitchFamily="34" charset="-122"/>
                </a:rPr>
                <a:t>开展党史学习的重大意义</a:t>
              </a:r>
              <a:endParaRPr lang="zh-CN" altLang="en-US" sz="4600" b="1" dirty="0">
                <a:solidFill>
                  <a:srgbClr val="840300"/>
                </a:solidFill>
                <a:latin typeface="Noto Sans S Chinese Medium" panose="020B0600000000000000" pitchFamily="34" charset="-122"/>
                <a:ea typeface="Noto Sans S Chinese Medium" panose="020B0600000000000000" pitchFamily="34" charset="-122"/>
              </a:endParaRPr>
            </a:p>
          </p:txBody>
        </p:sp>
        <p:cxnSp>
          <p:nvCxnSpPr>
            <p:cNvPr id="38" name="直接连接符 37"/>
            <p:cNvCxnSpPr/>
            <p:nvPr/>
          </p:nvCxnSpPr>
          <p:spPr>
            <a:xfrm>
              <a:off x="2650133" y="4319717"/>
              <a:ext cx="6908800"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2672297" y="3232397"/>
              <a:ext cx="6873532" cy="70487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从</a:t>
              </a:r>
              <a:r>
                <a:rPr lang="en-US" altLang="zh-CN" sz="1400" b="0" i="0" dirty="0">
                  <a:solidFill>
                    <a:srgbClr val="840300"/>
                  </a:solidFill>
                  <a:effectLst/>
                  <a:latin typeface="Noto Sans S Chinese Medium" panose="020B0600000000000000" pitchFamily="34" charset="-122"/>
                  <a:ea typeface="Noto Sans S Chinese Medium" panose="020B0600000000000000" pitchFamily="34" charset="-122"/>
                </a:rPr>
                <a:t>1921</a:t>
              </a: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年到</a:t>
              </a:r>
              <a:r>
                <a:rPr lang="en-US" altLang="zh-CN" sz="1400" b="0" i="0" dirty="0">
                  <a:solidFill>
                    <a:srgbClr val="840300"/>
                  </a:solidFill>
                  <a:effectLst/>
                  <a:latin typeface="Noto Sans S Chinese Medium" panose="020B0600000000000000" pitchFamily="34" charset="-122"/>
                  <a:ea typeface="Noto Sans S Chinese Medium" panose="020B0600000000000000" pitchFamily="34" charset="-122"/>
                </a:rPr>
                <a:t>2021</a:t>
              </a:r>
              <a:r>
                <a:rPr lang="zh-CN" altLang="en-US" sz="1400" b="0" i="0" dirty="0">
                  <a:solidFill>
                    <a:srgbClr val="840300"/>
                  </a:solidFill>
                  <a:effectLst/>
                  <a:latin typeface="Noto Sans S Chinese Medium" panose="020B0600000000000000" pitchFamily="34" charset="-122"/>
                  <a:ea typeface="Noto Sans S Chinese Medium" panose="020B0600000000000000" pitchFamily="34" charset="-122"/>
                </a:rPr>
                <a:t>年，中国共产党走过了整整一百年的历程。这是苦难中铸就辉煌、挫折后毅然奋起、探索中收获成功、转折中开创新局、奋斗后赢得未来的百年。</a:t>
              </a:r>
              <a:endParaRPr lang="zh-CN" altLang="en-US" sz="1400" dirty="0">
                <a:solidFill>
                  <a:srgbClr val="840300"/>
                </a:solidFill>
                <a:latin typeface="Noto Sans S Chinese Medium" panose="020B0600000000000000" pitchFamily="34" charset="-122"/>
                <a:ea typeface="Noto Sans S Chinese Medium" panose="020B0600000000000000" pitchFamily="34" charset="-122"/>
              </a:endParaRPr>
            </a:p>
          </p:txBody>
        </p:sp>
        <p:cxnSp>
          <p:nvCxnSpPr>
            <p:cNvPr id="46" name="直接连接符 45"/>
            <p:cNvCxnSpPr/>
            <p:nvPr/>
          </p:nvCxnSpPr>
          <p:spPr>
            <a:xfrm>
              <a:off x="2650133" y="1967722"/>
              <a:ext cx="2253171"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7305762" y="1967722"/>
              <a:ext cx="2253171" cy="0"/>
            </a:xfrm>
            <a:prstGeom prst="line">
              <a:avLst/>
            </a:prstGeom>
            <a:ln w="38100">
              <a:solidFill>
                <a:srgbClr val="8403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开展党史学习的重大意义</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82137" y="1135654"/>
            <a:ext cx="11067438" cy="2405301"/>
            <a:chOff x="482137" y="1234128"/>
            <a:chExt cx="11067438" cy="2405301"/>
          </a:xfrm>
        </p:grpSpPr>
        <p:sp>
          <p:nvSpPr>
            <p:cNvPr id="8" name="箭头: V 形 7"/>
            <p:cNvSpPr/>
            <p:nvPr/>
          </p:nvSpPr>
          <p:spPr>
            <a:xfrm>
              <a:off x="482137"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箭头: V 形 8"/>
            <p:cNvSpPr/>
            <p:nvPr/>
          </p:nvSpPr>
          <p:spPr>
            <a:xfrm>
              <a:off x="635459"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箭头: V 形 13"/>
            <p:cNvSpPr/>
            <p:nvPr/>
          </p:nvSpPr>
          <p:spPr>
            <a:xfrm>
              <a:off x="788781"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矩形 14"/>
            <p:cNvSpPr/>
            <p:nvPr/>
          </p:nvSpPr>
          <p:spPr>
            <a:xfrm>
              <a:off x="984911" y="1234128"/>
              <a:ext cx="5111089" cy="400110"/>
            </a:xfrm>
            <a:prstGeom prst="rect">
              <a:avLst/>
            </a:prstGeom>
          </p:spPr>
          <p:txBody>
            <a:bodyPr wrap="square">
              <a:spAutoFit/>
            </a:bodyPr>
            <a:lstStyle/>
            <a:p>
              <a:r>
                <a:rPr lang="zh-CN" altLang="en-US" sz="2000" b="1" dirty="0">
                  <a:solidFill>
                    <a:srgbClr val="840300"/>
                  </a:solidFill>
                  <a:latin typeface="Noto Sans S Chinese Regular" panose="020B0500000000000000" pitchFamily="34" charset="-122"/>
                  <a:ea typeface="Noto Sans S Chinese Regular" panose="020B0500000000000000" pitchFamily="34" charset="-122"/>
                </a:rPr>
                <a:t>党史学习教育是推进历史伟业的必然要求</a:t>
              </a:r>
              <a:endParaRPr lang="zh-CN" altLang="en-US" sz="2000" b="1" dirty="0">
                <a:solidFill>
                  <a:srgbClr val="840300"/>
                </a:solidFill>
                <a:latin typeface="Noto Sans S Chinese Regular" panose="020B0500000000000000" pitchFamily="34" charset="-122"/>
                <a:ea typeface="Noto Sans S Chinese Regular" panose="020B0500000000000000" pitchFamily="34" charset="-122"/>
              </a:endParaRPr>
            </a:p>
          </p:txBody>
        </p:sp>
        <p:sp>
          <p:nvSpPr>
            <p:cNvPr id="16" name="矩形: 圆角 15"/>
            <p:cNvSpPr/>
            <p:nvPr/>
          </p:nvSpPr>
          <p:spPr>
            <a:xfrm>
              <a:off x="1032998" y="1728079"/>
              <a:ext cx="10516577" cy="1911350"/>
            </a:xfrm>
            <a:prstGeom prst="roundRect">
              <a:avLst>
                <a:gd name="adj" fmla="val 6469"/>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p:cNvSpPr/>
            <p:nvPr/>
          </p:nvSpPr>
          <p:spPr>
            <a:xfrm>
              <a:off x="1211629" y="1881463"/>
              <a:ext cx="10199437" cy="1609223"/>
            </a:xfrm>
            <a:prstGeom prst="rect">
              <a:avLst/>
            </a:prstGeom>
          </p:spPr>
          <p:txBody>
            <a:bodyPr wrap="square">
              <a:spAutoFit/>
            </a:bodyPr>
            <a:lstStyle/>
            <a:p>
              <a:pPr>
                <a:lnSpc>
                  <a:spcPts val="2400"/>
                </a:lnSpc>
              </a:pPr>
              <a:r>
                <a:rPr lang="zh-CN" altLang="en-US" sz="1700" dirty="0">
                  <a:latin typeface="微软雅黑" panose="020B0503020204020204" pitchFamily="34" charset="-122"/>
                  <a:ea typeface="微软雅黑" panose="020B0503020204020204" pitchFamily="34" charset="-122"/>
                </a:rPr>
                <a:t>总书记指出，要教育引导全党胸怀中华民族伟大复兴战略全局和世界百年未有之大变局，树立大历史观。从历史长河、时代大潮、全球风云中分析演变机理、探究历史规律，提出因应的战略策略，增强工作的系统性、预见性、创造性。当今世界正面临百年未有之大变局。</a:t>
              </a:r>
              <a:endParaRPr lang="en-US" altLang="zh-CN" sz="1700" dirty="0">
                <a:latin typeface="微软雅黑" panose="020B0503020204020204" pitchFamily="34" charset="-122"/>
                <a:ea typeface="微软雅黑" panose="020B0503020204020204" pitchFamily="34" charset="-122"/>
              </a:endParaRPr>
            </a:p>
            <a:p>
              <a:pPr>
                <a:lnSpc>
                  <a:spcPts val="2400"/>
                </a:lnSpc>
              </a:pPr>
              <a:r>
                <a:rPr lang="zh-CN" altLang="en-US" sz="1700" dirty="0">
                  <a:latin typeface="微软雅黑" panose="020B0503020204020204" pitchFamily="34" charset="-122"/>
                  <a:ea typeface="微软雅黑" panose="020B0503020204020204" pitchFamily="34" charset="-122"/>
                </a:rPr>
                <a:t>我国也正处在实现中华民族伟大复兴的关键时刻，在重温党史中不斷翻看先辈们浴血奋战、初心不悔的忠贞，在先辈们的奋斗征程中坚定我们的信仰。</a:t>
              </a:r>
              <a:endParaRPr lang="en-US" altLang="zh-CN" sz="1700" dirty="0">
                <a:latin typeface="微软雅黑" panose="020B0503020204020204" pitchFamily="34" charset="-122"/>
                <a:ea typeface="微软雅黑" panose="020B0503020204020204" pitchFamily="34" charset="-122"/>
              </a:endParaRPr>
            </a:p>
          </p:txBody>
        </p:sp>
        <p:sp>
          <p:nvSpPr>
            <p:cNvPr id="18" name="椭圆 17"/>
            <p:cNvSpPr/>
            <p:nvPr/>
          </p:nvSpPr>
          <p:spPr>
            <a:xfrm>
              <a:off x="943610" y="2012154"/>
              <a:ext cx="183536" cy="183536"/>
            </a:xfrm>
            <a:prstGeom prst="ellipse">
              <a:avLst/>
            </a:prstGeom>
            <a:solidFill>
              <a:srgbClr val="840300"/>
            </a:solidFill>
            <a:ln w="38100">
              <a:solidFill>
                <a:srgbClr val="FCF6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482137" y="3780380"/>
            <a:ext cx="11067438" cy="2405301"/>
            <a:chOff x="482137" y="1234128"/>
            <a:chExt cx="11067438" cy="2405301"/>
          </a:xfrm>
        </p:grpSpPr>
        <p:sp>
          <p:nvSpPr>
            <p:cNvPr id="20" name="箭头: V 形 19"/>
            <p:cNvSpPr/>
            <p:nvPr/>
          </p:nvSpPr>
          <p:spPr>
            <a:xfrm>
              <a:off x="482137"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箭头: V 形 20"/>
            <p:cNvSpPr/>
            <p:nvPr/>
          </p:nvSpPr>
          <p:spPr>
            <a:xfrm>
              <a:off x="635459"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箭头: V 形 21"/>
            <p:cNvSpPr/>
            <p:nvPr/>
          </p:nvSpPr>
          <p:spPr>
            <a:xfrm>
              <a:off x="788781"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矩形 23"/>
            <p:cNvSpPr/>
            <p:nvPr/>
          </p:nvSpPr>
          <p:spPr>
            <a:xfrm>
              <a:off x="984911" y="1234128"/>
              <a:ext cx="5111089" cy="400110"/>
            </a:xfrm>
            <a:prstGeom prst="rect">
              <a:avLst/>
            </a:prstGeom>
          </p:spPr>
          <p:txBody>
            <a:bodyPr wrap="square">
              <a:spAutoFit/>
            </a:bodyPr>
            <a:lstStyle/>
            <a:p>
              <a:r>
                <a:rPr lang="zh-CN" altLang="en-US" sz="2000" b="1" dirty="0">
                  <a:solidFill>
                    <a:srgbClr val="840300"/>
                  </a:solidFill>
                  <a:latin typeface="Noto Sans S Chinese Regular" panose="020B0500000000000000" pitchFamily="34" charset="-122"/>
                  <a:ea typeface="Noto Sans S Chinese Regular" panose="020B0500000000000000" pitchFamily="34" charset="-122"/>
                </a:rPr>
                <a:t>党史学习教育可以坚定爱国的信仰信念</a:t>
              </a:r>
              <a:endParaRPr lang="zh-CN" altLang="en-US" sz="2000" b="1" dirty="0">
                <a:solidFill>
                  <a:srgbClr val="840300"/>
                </a:solidFill>
                <a:latin typeface="Noto Sans S Chinese Regular" panose="020B0500000000000000" pitchFamily="34" charset="-122"/>
                <a:ea typeface="Noto Sans S Chinese Regular" panose="020B0500000000000000" pitchFamily="34" charset="-122"/>
              </a:endParaRPr>
            </a:p>
          </p:txBody>
        </p:sp>
        <p:sp>
          <p:nvSpPr>
            <p:cNvPr id="25" name="矩形: 圆角 24"/>
            <p:cNvSpPr/>
            <p:nvPr/>
          </p:nvSpPr>
          <p:spPr>
            <a:xfrm>
              <a:off x="1032998" y="1728079"/>
              <a:ext cx="10516577" cy="1911350"/>
            </a:xfrm>
            <a:prstGeom prst="roundRect">
              <a:avLst>
                <a:gd name="adj" fmla="val 6469"/>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1197561" y="1909599"/>
              <a:ext cx="10199437" cy="1609223"/>
            </a:xfrm>
            <a:prstGeom prst="rect">
              <a:avLst/>
            </a:prstGeom>
          </p:spPr>
          <p:txBody>
            <a:bodyPr wrap="square">
              <a:spAutoFit/>
            </a:bodyPr>
            <a:lstStyle/>
            <a:p>
              <a:pPr>
                <a:lnSpc>
                  <a:spcPts val="2400"/>
                </a:lnSpc>
              </a:pPr>
              <a:r>
                <a:rPr lang="zh-CN" altLang="en-US" sz="1700" dirty="0">
                  <a:latin typeface="微软雅黑" panose="020B0503020204020204" pitchFamily="34" charset="-122"/>
                  <a:ea typeface="微软雅黑" panose="020B0503020204020204" pitchFamily="34" charset="-122"/>
                </a:rPr>
                <a:t>历史充分证明，江山就是人民，人民就是江山，人心向背关系党的生死存亡。赢得人民信任，得到人民支持，党就能够克服任何困难。就能够无往而不胜。</a:t>
              </a:r>
              <a:endParaRPr lang="en-US" altLang="zh-CN" sz="1700" dirty="0">
                <a:latin typeface="微软雅黑" panose="020B0503020204020204" pitchFamily="34" charset="-122"/>
                <a:ea typeface="微软雅黑" panose="020B0503020204020204" pitchFamily="34" charset="-122"/>
              </a:endParaRPr>
            </a:p>
            <a:p>
              <a:pPr>
                <a:lnSpc>
                  <a:spcPts val="2400"/>
                </a:lnSpc>
              </a:pPr>
              <a:r>
                <a:rPr lang="zh-CN" altLang="en-US" sz="1700" dirty="0">
                  <a:latin typeface="微软雅黑" panose="020B0503020204020204" pitchFamily="34" charset="-122"/>
                  <a:ea typeface="微软雅黑" panose="020B0503020204020204" pitchFamily="34" charset="-122"/>
                </a:rPr>
                <a:t>当我们翻开历史，对照英雄的事迹我们不断自省不断反思，才能够更坚定的回答“我是谁、为了谁、依靠谁”</a:t>
              </a:r>
              <a:r>
                <a:rPr lang="en-US" altLang="zh-CN" sz="1700" dirty="0">
                  <a:latin typeface="微软雅黑" panose="020B0503020204020204" pitchFamily="34" charset="-122"/>
                  <a:ea typeface="微软雅黑" panose="020B0503020204020204" pitchFamily="34" charset="-122"/>
                </a:rPr>
                <a:t>.</a:t>
              </a:r>
              <a:r>
                <a:rPr lang="zh-CN" altLang="en-US" sz="1700" dirty="0">
                  <a:latin typeface="微软雅黑" panose="020B0503020204020204" pitchFamily="34" charset="-122"/>
                  <a:ea typeface="微软雅黑" panose="020B0503020204020204" pitchFamily="34" charset="-122"/>
                </a:rPr>
                <a:t>在党史鲜活的故事里我们不仅能够更加坚定初心。也必将车记“为人民服务”的根本宗旨，在未来的路上将人民重顶。肩负时代责任坚定向前。</a:t>
              </a:r>
              <a:endParaRPr lang="en-US" altLang="zh-CN" sz="1700" dirty="0">
                <a:latin typeface="微软雅黑" panose="020B0503020204020204" pitchFamily="34" charset="-122"/>
                <a:ea typeface="微软雅黑" panose="020B0503020204020204" pitchFamily="34" charset="-122"/>
              </a:endParaRPr>
            </a:p>
          </p:txBody>
        </p:sp>
        <p:sp>
          <p:nvSpPr>
            <p:cNvPr id="27" name="椭圆 26"/>
            <p:cNvSpPr/>
            <p:nvPr/>
          </p:nvSpPr>
          <p:spPr>
            <a:xfrm>
              <a:off x="943610" y="2012154"/>
              <a:ext cx="183536" cy="183536"/>
            </a:xfrm>
            <a:prstGeom prst="ellipse">
              <a:avLst/>
            </a:prstGeom>
            <a:solidFill>
              <a:srgbClr val="8403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23" name="文本框 22"/>
          <p:cNvSpPr txBox="1"/>
          <p:nvPr/>
        </p:nvSpPr>
        <p:spPr>
          <a:xfrm>
            <a:off x="4165600" y="399134"/>
            <a:ext cx="3860800" cy="430887"/>
          </a:xfrm>
          <a:prstGeom prst="rect">
            <a:avLst/>
          </a:prstGeom>
          <a:noFill/>
        </p:spPr>
        <p:txBody>
          <a:bodyPr wrap="square" rtlCol="0">
            <a:spAutoFit/>
          </a:bodyPr>
          <a:lstStyle>
            <a:defPPr>
              <a:defRPr lang="zh-CN"/>
            </a:defPPr>
            <a:lvl1pPr algn="dist">
              <a:defRPr sz="2400">
                <a:solidFill>
                  <a:srgbClr val="C3121B"/>
                </a:solidFill>
                <a:latin typeface="汉仪铁线黑-65简" panose="00020600040101010101" pitchFamily="18" charset="-122"/>
                <a:ea typeface="汉仪铁线黑-65简" panose="00020600040101010101" pitchFamily="18" charset="-122"/>
              </a:defRPr>
            </a:lvl1pPr>
          </a:lstStyle>
          <a:p>
            <a:pPr algn="ctr"/>
            <a:r>
              <a:rPr lang="zh-CN" altLang="en-US" sz="2200" b="1" dirty="0">
                <a:solidFill>
                  <a:srgbClr val="840300"/>
                </a:solidFill>
                <a:latin typeface="微软雅黑" panose="020B0503020204020204" pitchFamily="34" charset="-122"/>
                <a:ea typeface="微软雅黑" panose="020B0503020204020204" pitchFamily="34" charset="-122"/>
              </a:rPr>
              <a:t>开展党史学习的重大意义</a:t>
            </a:r>
            <a:endParaRPr lang="zh-CN" altLang="en-US" sz="2200" b="1" dirty="0">
              <a:solidFill>
                <a:srgbClr val="840300"/>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82137" y="1104876"/>
            <a:ext cx="11067438" cy="2436079"/>
            <a:chOff x="482137" y="1203350"/>
            <a:chExt cx="11067438" cy="2436079"/>
          </a:xfrm>
        </p:grpSpPr>
        <p:sp>
          <p:nvSpPr>
            <p:cNvPr id="8" name="箭头: V 形 7"/>
            <p:cNvSpPr/>
            <p:nvPr/>
          </p:nvSpPr>
          <p:spPr>
            <a:xfrm>
              <a:off x="482137"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箭头: V 形 8"/>
            <p:cNvSpPr/>
            <p:nvPr/>
          </p:nvSpPr>
          <p:spPr>
            <a:xfrm>
              <a:off x="635459"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箭头: V 形 13"/>
            <p:cNvSpPr/>
            <p:nvPr/>
          </p:nvSpPr>
          <p:spPr>
            <a:xfrm>
              <a:off x="788781"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矩形 14"/>
            <p:cNvSpPr/>
            <p:nvPr/>
          </p:nvSpPr>
          <p:spPr>
            <a:xfrm>
              <a:off x="943610" y="1203350"/>
              <a:ext cx="5111089" cy="400110"/>
            </a:xfrm>
            <a:prstGeom prst="rect">
              <a:avLst/>
            </a:prstGeom>
          </p:spPr>
          <p:txBody>
            <a:bodyPr wrap="square">
              <a:spAutoFit/>
            </a:bodyPr>
            <a:lstStyle/>
            <a:p>
              <a:r>
                <a:rPr lang="zh-CN" altLang="en-US" sz="2000" b="1" dirty="0">
                  <a:solidFill>
                    <a:srgbClr val="840300"/>
                  </a:solidFill>
                  <a:latin typeface="Noto Sans S Chinese Regular" panose="020B0500000000000000" pitchFamily="34" charset="-122"/>
                  <a:ea typeface="Noto Sans S Chinese Regular" panose="020B0500000000000000" pitchFamily="34" charset="-122"/>
                </a:rPr>
                <a:t>总结历史经验、提高应对风险挑战能力</a:t>
              </a:r>
              <a:endParaRPr lang="zh-CN" altLang="en-US" sz="2000" b="1" dirty="0">
                <a:solidFill>
                  <a:srgbClr val="840300"/>
                </a:solidFill>
                <a:latin typeface="Noto Sans S Chinese Regular" panose="020B0500000000000000" pitchFamily="34" charset="-122"/>
                <a:ea typeface="Noto Sans S Chinese Regular" panose="020B0500000000000000" pitchFamily="34" charset="-122"/>
              </a:endParaRPr>
            </a:p>
          </p:txBody>
        </p:sp>
        <p:sp>
          <p:nvSpPr>
            <p:cNvPr id="16" name="矩形: 圆角 15"/>
            <p:cNvSpPr/>
            <p:nvPr/>
          </p:nvSpPr>
          <p:spPr>
            <a:xfrm>
              <a:off x="1032998" y="1728079"/>
              <a:ext cx="10516577" cy="1911350"/>
            </a:xfrm>
            <a:prstGeom prst="roundRect">
              <a:avLst>
                <a:gd name="adj" fmla="val 6469"/>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p:cNvSpPr/>
            <p:nvPr/>
          </p:nvSpPr>
          <p:spPr>
            <a:xfrm>
              <a:off x="1183493" y="1909599"/>
              <a:ext cx="10366081" cy="1548309"/>
            </a:xfrm>
            <a:prstGeom prst="rect">
              <a:avLst/>
            </a:prstGeom>
          </p:spPr>
          <p:txBody>
            <a:bodyPr wrap="square">
              <a:spAutoFit/>
            </a:bodyPr>
            <a:lstStyle/>
            <a:p>
              <a:pPr>
                <a:lnSpc>
                  <a:spcPts val="2400"/>
                </a:lnSpc>
              </a:pPr>
              <a:r>
                <a:rPr lang="en-US" altLang="zh-CN" sz="1700" dirty="0">
                  <a:latin typeface="微软雅黑" panose="020B0503020204020204" pitchFamily="34" charset="-122"/>
                  <a:ea typeface="微软雅黑" panose="020B0503020204020204" pitchFamily="34" charset="-122"/>
                </a:rPr>
                <a:t>2021</a:t>
              </a:r>
              <a:r>
                <a:rPr lang="zh-CN" altLang="en-US" sz="1700" dirty="0">
                  <a:latin typeface="微软雅黑" panose="020B0503020204020204" pitchFamily="34" charset="-122"/>
                  <a:ea typeface="微软雅黑" panose="020B0503020204020204" pitchFamily="34" charset="-122"/>
                </a:rPr>
                <a:t>年我们将迎来我党百年华诞，开局“十四五”新征程，实现巩固拓展脱贫攻坚成果同乡村振兴有效衔接，开启全面建设社会主义现代化国家新征程，此刻我们面临着机通与挑战，这就需要我们各级党员干部不斷提升服务群众的服务力、解难题的战斗力创新局的开拓力。学习党史能够让我们从先辈面临的困难和挑战中，去增强我们应对危机困局、不斷攻坚克难的战斗力和决心，更能激发出我们党员干部战斗困难、迎难而上、开拓进取的战斗精神。</a:t>
              </a:r>
              <a:endParaRPr lang="en-US" altLang="zh-CN" sz="1700" dirty="0">
                <a:latin typeface="微软雅黑" panose="020B0503020204020204" pitchFamily="34" charset="-122"/>
                <a:ea typeface="微软雅黑" panose="020B0503020204020204" pitchFamily="34" charset="-122"/>
              </a:endParaRPr>
            </a:p>
          </p:txBody>
        </p:sp>
        <p:sp>
          <p:nvSpPr>
            <p:cNvPr id="18" name="椭圆 17"/>
            <p:cNvSpPr/>
            <p:nvPr/>
          </p:nvSpPr>
          <p:spPr>
            <a:xfrm>
              <a:off x="943610" y="2012154"/>
              <a:ext cx="183536" cy="183536"/>
            </a:xfrm>
            <a:prstGeom prst="ellipse">
              <a:avLst/>
            </a:prstGeom>
            <a:solidFill>
              <a:srgbClr val="840300"/>
            </a:solidFill>
            <a:ln w="38100">
              <a:solidFill>
                <a:srgbClr val="FCF6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482137" y="3780380"/>
            <a:ext cx="11067438" cy="2405301"/>
            <a:chOff x="482137" y="1234128"/>
            <a:chExt cx="11067438" cy="2405301"/>
          </a:xfrm>
        </p:grpSpPr>
        <p:sp>
          <p:nvSpPr>
            <p:cNvPr id="20" name="箭头: V 形 19"/>
            <p:cNvSpPr/>
            <p:nvPr/>
          </p:nvSpPr>
          <p:spPr>
            <a:xfrm>
              <a:off x="482137"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箭头: V 形 20"/>
            <p:cNvSpPr/>
            <p:nvPr/>
          </p:nvSpPr>
          <p:spPr>
            <a:xfrm>
              <a:off x="635459"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箭头: V 形 21"/>
            <p:cNvSpPr/>
            <p:nvPr/>
          </p:nvSpPr>
          <p:spPr>
            <a:xfrm>
              <a:off x="788781" y="1238335"/>
              <a:ext cx="170656" cy="365125"/>
            </a:xfrm>
            <a:prstGeom prst="chevron">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矩形 23"/>
            <p:cNvSpPr/>
            <p:nvPr/>
          </p:nvSpPr>
          <p:spPr>
            <a:xfrm>
              <a:off x="984911" y="1234128"/>
              <a:ext cx="5111089" cy="400110"/>
            </a:xfrm>
            <a:prstGeom prst="rect">
              <a:avLst/>
            </a:prstGeom>
          </p:spPr>
          <p:txBody>
            <a:bodyPr wrap="square">
              <a:spAutoFit/>
            </a:bodyPr>
            <a:lstStyle/>
            <a:p>
              <a:r>
                <a:rPr lang="zh-CN" altLang="en-US" sz="2000" b="1" dirty="0">
                  <a:solidFill>
                    <a:srgbClr val="840300"/>
                  </a:solidFill>
                  <a:latin typeface="Noto Sans S Chinese Regular" panose="020B0500000000000000" pitchFamily="34" charset="-122"/>
                  <a:ea typeface="Noto Sans S Chinese Regular" panose="020B0500000000000000" pitchFamily="34" charset="-122"/>
                </a:rPr>
                <a:t>历史是党史学习最好的“教科书”</a:t>
              </a:r>
              <a:endParaRPr lang="zh-CN" altLang="en-US" sz="2000" b="1" dirty="0">
                <a:solidFill>
                  <a:srgbClr val="840300"/>
                </a:solidFill>
                <a:latin typeface="Noto Sans S Chinese Regular" panose="020B0500000000000000" pitchFamily="34" charset="-122"/>
                <a:ea typeface="Noto Sans S Chinese Regular" panose="020B0500000000000000" pitchFamily="34" charset="-122"/>
              </a:endParaRPr>
            </a:p>
          </p:txBody>
        </p:sp>
        <p:sp>
          <p:nvSpPr>
            <p:cNvPr id="25" name="矩形: 圆角 24"/>
            <p:cNvSpPr/>
            <p:nvPr/>
          </p:nvSpPr>
          <p:spPr>
            <a:xfrm>
              <a:off x="1032998" y="1728079"/>
              <a:ext cx="10516577" cy="1911350"/>
            </a:xfrm>
            <a:prstGeom prst="roundRect">
              <a:avLst>
                <a:gd name="adj" fmla="val 6469"/>
              </a:avLst>
            </a:prstGeom>
            <a:noFill/>
            <a:ln w="19050">
              <a:solidFill>
                <a:srgbClr val="840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1183493" y="1909599"/>
              <a:ext cx="10366081" cy="1548309"/>
            </a:xfrm>
            <a:prstGeom prst="rect">
              <a:avLst/>
            </a:prstGeom>
          </p:spPr>
          <p:txBody>
            <a:bodyPr wrap="square">
              <a:spAutoFit/>
            </a:bodyPr>
            <a:lstStyle/>
            <a:p>
              <a:pPr>
                <a:lnSpc>
                  <a:spcPts val="2400"/>
                </a:lnSpc>
              </a:pPr>
              <a:r>
                <a:rPr lang="zh-CN" altLang="en-US" sz="1700" dirty="0">
                  <a:latin typeface="微软雅黑" panose="020B0503020204020204" pitchFamily="34" charset="-122"/>
                  <a:ea typeface="微软雅黑" panose="020B0503020204020204" pitchFamily="34" charset="-122"/>
                </a:rPr>
                <a:t>百年党史中蕴含着丰言的智慧和力量，对于我们党员干部来说，没有任何一段历史。能够比党史带来更深的警示、启示与借签。我党从苏区时期出台的第一个反腐败法令。到坚决打响新中国“反腐第一枪”、再到十八大以来“得罪千百人。不负十三亿”的反腐决心。</a:t>
              </a:r>
              <a:endParaRPr lang="en-US" altLang="zh-CN" sz="1700" dirty="0">
                <a:latin typeface="微软雅黑" panose="020B0503020204020204" pitchFamily="34" charset="-122"/>
                <a:ea typeface="微软雅黑" panose="020B0503020204020204" pitchFamily="34" charset="-122"/>
              </a:endParaRPr>
            </a:p>
            <a:p>
              <a:pPr>
                <a:lnSpc>
                  <a:spcPts val="2400"/>
                </a:lnSpc>
              </a:pPr>
              <a:r>
                <a:rPr lang="zh-CN" altLang="en-US" sz="1700" dirty="0">
                  <a:latin typeface="微软雅黑" panose="020B0503020204020204" pitchFamily="34" charset="-122"/>
                  <a:ea typeface="微软雅黑" panose="020B0503020204020204" pitchFamily="34" charset="-122"/>
                </a:rPr>
                <a:t>百年党史里蕴含着我党“一切依靠人民、一切为了人民”赤于之情。更用壮士扼腕的决心诠释了我们敢于刀刃向内、勇于自我革新的担当精神。</a:t>
              </a:r>
              <a:endParaRPr lang="en-US" altLang="zh-CN" sz="1700" dirty="0">
                <a:latin typeface="微软雅黑" panose="020B0503020204020204" pitchFamily="34" charset="-122"/>
                <a:ea typeface="微软雅黑" panose="020B0503020204020204" pitchFamily="34" charset="-122"/>
              </a:endParaRPr>
            </a:p>
          </p:txBody>
        </p:sp>
        <p:sp>
          <p:nvSpPr>
            <p:cNvPr id="27" name="椭圆 26"/>
            <p:cNvSpPr/>
            <p:nvPr/>
          </p:nvSpPr>
          <p:spPr>
            <a:xfrm>
              <a:off x="943610" y="2012154"/>
              <a:ext cx="183536" cy="183536"/>
            </a:xfrm>
            <a:prstGeom prst="ellipse">
              <a:avLst/>
            </a:prstGeom>
            <a:solidFill>
              <a:srgbClr val="840300"/>
            </a:solidFill>
            <a:ln w="38100">
              <a:solidFill>
                <a:srgbClr val="FCF6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形状 23"/>
          <p:cNvSpPr/>
          <p:nvPr/>
        </p:nvSpPr>
        <p:spPr>
          <a:xfrm>
            <a:off x="152404" y="138321"/>
            <a:ext cx="11898321"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contrast="-20000"/>
                    </a14:imgEffect>
                  </a14:imgLayer>
                </a14:imgProps>
              </a:ext>
            </a:extLst>
          </a:blip>
          <a:stretch>
            <a:fillRect/>
          </a:stretch>
        </p:blipFill>
        <p:spPr>
          <a:xfrm>
            <a:off x="152404" y="5293056"/>
            <a:ext cx="2301400" cy="1450883"/>
          </a:xfrm>
          <a:prstGeom prst="rect">
            <a:avLst/>
          </a:prstGeom>
        </p:spPr>
      </p:pic>
      <p:pic>
        <p:nvPicPr>
          <p:cNvPr id="7" name="图片 6"/>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9583597" y="576960"/>
            <a:ext cx="2283106" cy="1463675"/>
          </a:xfrm>
          <a:prstGeom prst="rect">
            <a:avLst/>
          </a:prstGeom>
        </p:spPr>
      </p:pic>
      <p:grpSp>
        <p:nvGrpSpPr>
          <p:cNvPr id="8" name="组合 7"/>
          <p:cNvGrpSpPr/>
          <p:nvPr/>
        </p:nvGrpSpPr>
        <p:grpSpPr>
          <a:xfrm>
            <a:off x="1467300" y="1192199"/>
            <a:ext cx="9338766" cy="4105409"/>
            <a:chOff x="1467300" y="1306499"/>
            <a:chExt cx="9338766" cy="4105409"/>
          </a:xfrm>
        </p:grpSpPr>
        <p:sp>
          <p:nvSpPr>
            <p:cNvPr id="9" name="文本框 8"/>
            <p:cNvSpPr txBox="1"/>
            <p:nvPr/>
          </p:nvSpPr>
          <p:spPr>
            <a:xfrm>
              <a:off x="5284834" y="1306499"/>
              <a:ext cx="1636666" cy="830997"/>
            </a:xfrm>
            <a:prstGeom prst="rect">
              <a:avLst/>
            </a:prstGeom>
            <a:noFill/>
          </p:spPr>
          <p:txBody>
            <a:bodyPr wrap="square" rtlCol="0">
              <a:spAutoFit/>
            </a:bodyPr>
            <a:lstStyle>
              <a:defPPr>
                <a:defRPr lang="zh-CN"/>
              </a:defPPr>
              <a:lvl1pPr algn="dist">
                <a:defRPr sz="3200">
                  <a:solidFill>
                    <a:srgbClr val="AC0000"/>
                  </a:solidFill>
                  <a:latin typeface="Noto Sans S Chinese Black" panose="020B0A00000000000000" pitchFamily="34" charset="-122"/>
                  <a:ea typeface="Noto Sans S Chinese Black" panose="020B0A00000000000000" pitchFamily="34" charset="-122"/>
                </a:defRPr>
              </a:lvl1pPr>
            </a:lstStyle>
            <a:p>
              <a:r>
                <a:rPr lang="zh-CN" altLang="en-US" sz="4800" dirty="0">
                  <a:solidFill>
                    <a:srgbClr val="840300"/>
                  </a:solidFill>
                  <a:latin typeface="Noto Sans S Chinese Bold" panose="020B0800000000000000" pitchFamily="34" charset="-122"/>
                  <a:ea typeface="Noto Sans S Chinese Bold" panose="020B0800000000000000" pitchFamily="34" charset="-122"/>
                </a:rPr>
                <a:t>总结</a:t>
              </a:r>
              <a:endParaRPr lang="zh-CN" altLang="en-US" sz="4800" dirty="0">
                <a:solidFill>
                  <a:srgbClr val="840300"/>
                </a:solidFill>
                <a:latin typeface="Noto Sans S Chinese Bold" panose="020B0800000000000000" pitchFamily="34" charset="-122"/>
                <a:ea typeface="Noto Sans S Chinese Bold" panose="020B0800000000000000" pitchFamily="34" charset="-122"/>
              </a:endParaRPr>
            </a:p>
          </p:txBody>
        </p:sp>
        <p:grpSp>
          <p:nvGrpSpPr>
            <p:cNvPr id="10" name="组合 9"/>
            <p:cNvGrpSpPr/>
            <p:nvPr/>
          </p:nvGrpSpPr>
          <p:grpSpPr>
            <a:xfrm>
              <a:off x="1562100" y="2549599"/>
              <a:ext cx="9056199" cy="0"/>
              <a:chOff x="646412" y="2307771"/>
              <a:chExt cx="11165217" cy="0"/>
            </a:xfrm>
          </p:grpSpPr>
          <p:cxnSp>
            <p:nvCxnSpPr>
              <p:cNvPr id="19" name="直接连接符 18"/>
              <p:cNvCxnSpPr/>
              <p:nvPr/>
            </p:nvCxnSpPr>
            <p:spPr>
              <a:xfrm>
                <a:off x="646412" y="2307771"/>
                <a:ext cx="4438372" cy="0"/>
              </a:xfrm>
              <a:prstGeom prst="line">
                <a:avLst/>
              </a:prstGeom>
              <a:ln w="22225">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373257" y="2307771"/>
                <a:ext cx="4438372" cy="0"/>
              </a:xfrm>
              <a:prstGeom prst="line">
                <a:avLst/>
              </a:prstGeom>
              <a:ln w="22225">
                <a:solidFill>
                  <a:srgbClr val="840300"/>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5379099" y="2368042"/>
              <a:ext cx="1433801" cy="313333"/>
              <a:chOff x="5221689" y="1909763"/>
              <a:chExt cx="1767706" cy="386302"/>
            </a:xfrm>
            <a:solidFill>
              <a:srgbClr val="B41A1A"/>
            </a:solidFill>
          </p:grpSpPr>
          <p:sp>
            <p:nvSpPr>
              <p:cNvPr id="13" name="星形: 五角 12"/>
              <p:cNvSpPr/>
              <p:nvPr/>
            </p:nvSpPr>
            <p:spPr>
              <a:xfrm>
                <a:off x="5912391" y="1909763"/>
                <a:ext cx="386302" cy="386302"/>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星形: 五角 13"/>
              <p:cNvSpPr/>
              <p:nvPr/>
            </p:nvSpPr>
            <p:spPr>
              <a:xfrm>
                <a:off x="5545087" y="1971676"/>
                <a:ext cx="262477" cy="262477"/>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星形: 五角 14"/>
              <p:cNvSpPr/>
              <p:nvPr/>
            </p:nvSpPr>
            <p:spPr>
              <a:xfrm>
                <a:off x="5221689" y="2008192"/>
                <a:ext cx="189445" cy="189445"/>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flipH="1">
                <a:off x="6403520" y="1971676"/>
                <a:ext cx="585875" cy="262477"/>
                <a:chOff x="5374089" y="2124076"/>
                <a:chExt cx="585875" cy="262477"/>
              </a:xfrm>
              <a:grpFill/>
            </p:grpSpPr>
            <p:sp>
              <p:nvSpPr>
                <p:cNvPr id="17" name="星形: 五角 16"/>
                <p:cNvSpPr/>
                <p:nvPr/>
              </p:nvSpPr>
              <p:spPr>
                <a:xfrm>
                  <a:off x="5697487" y="2124076"/>
                  <a:ext cx="262477" cy="262477"/>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星形: 五角 17"/>
                <p:cNvSpPr/>
                <p:nvPr/>
              </p:nvSpPr>
              <p:spPr>
                <a:xfrm>
                  <a:off x="5374089" y="2160592"/>
                  <a:ext cx="189445" cy="189445"/>
                </a:xfrm>
                <a:prstGeom prst="star5">
                  <a:avLst>
                    <a:gd name="adj" fmla="val 23338"/>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2" name="矩形 11"/>
            <p:cNvSpPr/>
            <p:nvPr/>
          </p:nvSpPr>
          <p:spPr>
            <a:xfrm>
              <a:off x="1467300" y="2870956"/>
              <a:ext cx="9338766" cy="2540952"/>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Noto Sans S Chinese Regular" panose="020B0500000000000000" pitchFamily="34" charset="-122"/>
                  <a:ea typeface="Noto Sans S Chinese Regular" panose="020B0500000000000000" pitchFamily="34" charset="-122"/>
                </a:rPr>
                <a:t> 中国共产党立志千秋伟业，百年正是风华正茂。回顾历史，我们豪情万丈；展望未来，我们心潮澎湃。中国共产党今天取得的辉煌，为明天取得更大的辉煌提供了前提，创造了条件，奠定了基础。不忘初心、牢记使命、永远奋斗，中国共产党一定会在执政百年即中华人民共和国成立一百年时，谱写新的篇章，创造出新的更大辉煌。历史在人民的探索和奋斗中造就了中国共产党，中国共产党团结和带领人民创造了历史的辉煌。学习重温中国共产党百年历史，我们应该坚定中国共产党历史自信，同时，坚定中国人民和中华民族未来自信。</a:t>
              </a:r>
              <a:endParaRPr lang="zh-CN" altLang="en-US" dirty="0">
                <a:latin typeface="微软雅黑" panose="020B0503020204020204" pitchFamily="34" charset="-122"/>
                <a:ea typeface="微软雅黑" panose="020B0503020204020204" pitchFamily="34" charset="-122"/>
              </a:endParaRPr>
            </a:p>
          </p:txBody>
        </p:sp>
      </p:grpSp>
    </p:spTree>
  </p:cSld>
  <p:clrMapOvr>
    <a:masterClrMapping/>
  </p:clrMapOvr>
  <p:transition>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 y="0"/>
            <a:ext cx="12192001" cy="6858000"/>
          </a:xfrm>
          <a:prstGeom prst="rect">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52404" y="138321"/>
            <a:ext cx="11898321" cy="6714889"/>
            <a:chOff x="152405" y="138321"/>
            <a:chExt cx="11898320" cy="6714889"/>
          </a:xfrm>
        </p:grpSpPr>
        <p:sp>
          <p:nvSpPr>
            <p:cNvPr id="12" name="任意多边形: 形状 11"/>
            <p:cNvSpPr/>
            <p:nvPr/>
          </p:nvSpPr>
          <p:spPr>
            <a:xfrm>
              <a:off x="152405" y="138321"/>
              <a:ext cx="11898320" cy="6588000"/>
            </a:xfrm>
            <a:custGeom>
              <a:avLst/>
              <a:gdLst>
                <a:gd name="connsiteX0" fmla="*/ 0 w 4416874"/>
                <a:gd name="connsiteY0" fmla="*/ 0 h 6533334"/>
                <a:gd name="connsiteX1" fmla="*/ 4416875 w 4416874"/>
                <a:gd name="connsiteY1" fmla="*/ 0 h 6533334"/>
                <a:gd name="connsiteX2" fmla="*/ 4416875 w 4416874"/>
                <a:gd name="connsiteY2" fmla="*/ 6533334 h 6533334"/>
                <a:gd name="connsiteX3" fmla="*/ 0 w 4416874"/>
                <a:gd name="connsiteY3" fmla="*/ 6533334 h 6533334"/>
              </a:gdLst>
              <a:ahLst/>
              <a:cxnLst>
                <a:cxn ang="0">
                  <a:pos x="connsiteX0" y="connsiteY0"/>
                </a:cxn>
                <a:cxn ang="0">
                  <a:pos x="connsiteX1" y="connsiteY1"/>
                </a:cxn>
                <a:cxn ang="0">
                  <a:pos x="connsiteX2" y="connsiteY2"/>
                </a:cxn>
                <a:cxn ang="0">
                  <a:pos x="connsiteX3" y="connsiteY3"/>
                </a:cxn>
              </a:cxnLst>
              <a:rect l="l" t="t" r="r" b="b"/>
              <a:pathLst>
                <a:path w="4416874" h="6533334">
                  <a:moveTo>
                    <a:pt x="0" y="0"/>
                  </a:moveTo>
                  <a:lnTo>
                    <a:pt x="4416875" y="0"/>
                  </a:lnTo>
                  <a:lnTo>
                    <a:pt x="4416875" y="6533334"/>
                  </a:lnTo>
                  <a:lnTo>
                    <a:pt x="0" y="6533334"/>
                  </a:lnTo>
                  <a:close/>
                </a:path>
              </a:pathLst>
            </a:custGeom>
            <a:solidFill>
              <a:srgbClr val="FFF5F5"/>
            </a:solidFill>
            <a:ln w="5379" cap="flat">
              <a:noFill/>
              <a:prstDash val="solid"/>
              <a:miter/>
            </a:ln>
          </p:spPr>
          <p:txBody>
            <a:bodyPr rtlCol="0" anchor="ctr"/>
            <a:lstStyle/>
            <a:p>
              <a:endParaRPr lang="zh-CN" altLang="en-US"/>
            </a:p>
          </p:txBody>
        </p:sp>
        <p:sp>
          <p:nvSpPr>
            <p:cNvPr id="8" name="任意多边形: 形状 7"/>
            <p:cNvSpPr/>
            <p:nvPr/>
          </p:nvSpPr>
          <p:spPr>
            <a:xfrm>
              <a:off x="152405" y="6481493"/>
              <a:ext cx="11898319" cy="311958"/>
            </a:xfrm>
            <a:custGeom>
              <a:avLst/>
              <a:gdLst>
                <a:gd name="connsiteX0" fmla="*/ 0 w 4573721"/>
                <a:gd name="connsiteY0" fmla="*/ 0 h 240110"/>
                <a:gd name="connsiteX1" fmla="*/ 4573722 w 4573721"/>
                <a:gd name="connsiteY1" fmla="*/ 0 h 240110"/>
                <a:gd name="connsiteX2" fmla="*/ 4573722 w 4573721"/>
                <a:gd name="connsiteY2" fmla="*/ 240111 h 240110"/>
                <a:gd name="connsiteX3" fmla="*/ 0 w 4573721"/>
                <a:gd name="connsiteY3" fmla="*/ 240111 h 240110"/>
              </a:gdLst>
              <a:ahLst/>
              <a:cxnLst>
                <a:cxn ang="0">
                  <a:pos x="connsiteX0" y="connsiteY0"/>
                </a:cxn>
                <a:cxn ang="0">
                  <a:pos x="connsiteX1" y="connsiteY1"/>
                </a:cxn>
                <a:cxn ang="0">
                  <a:pos x="connsiteX2" y="connsiteY2"/>
                </a:cxn>
                <a:cxn ang="0">
                  <a:pos x="connsiteX3" y="connsiteY3"/>
                </a:cxn>
              </a:cxnLst>
              <a:rect l="l" t="t" r="r" b="b"/>
              <a:pathLst>
                <a:path w="4573721" h="240110">
                  <a:moveTo>
                    <a:pt x="0" y="0"/>
                  </a:moveTo>
                  <a:lnTo>
                    <a:pt x="4573722" y="0"/>
                  </a:lnTo>
                  <a:lnTo>
                    <a:pt x="4573722" y="240111"/>
                  </a:lnTo>
                  <a:lnTo>
                    <a:pt x="0" y="240111"/>
                  </a:lnTo>
                  <a:close/>
                </a:path>
              </a:pathLst>
            </a:custGeom>
            <a:solidFill>
              <a:srgbClr val="840300"/>
            </a:solidFill>
            <a:ln w="5379" cap="flat">
              <a:noFill/>
              <a:prstDash val="solid"/>
              <a:miter/>
            </a:ln>
          </p:spPr>
          <p:txBody>
            <a:bodyPr rtlCol="0" anchor="ctr"/>
            <a:lstStyle/>
            <a:p>
              <a:endParaRPr lang="zh-CN" altLang="en-US"/>
            </a:p>
          </p:txBody>
        </p:sp>
        <p:pic>
          <p:nvPicPr>
            <p:cNvPr id="9" name="图片 8"/>
            <p:cNvPicPr>
              <a:picLocks noChangeAspect="1"/>
            </p:cNvPicPr>
            <p:nvPr/>
          </p:nvPicPr>
          <p:blipFill>
            <a:blip r:embed="rId1"/>
            <a:stretch>
              <a:fillRect/>
            </a:stretch>
          </p:blipFill>
          <p:spPr>
            <a:xfrm>
              <a:off x="2908301" y="4949370"/>
              <a:ext cx="6375397" cy="1595016"/>
            </a:xfrm>
            <a:custGeom>
              <a:avLst/>
              <a:gdLst>
                <a:gd name="connsiteX0" fmla="*/ -756 w 4573721"/>
                <a:gd name="connsiteY0" fmla="*/ 809 h 1227662"/>
                <a:gd name="connsiteX1" fmla="*/ 4572966 w 4573721"/>
                <a:gd name="connsiteY1" fmla="*/ 809 h 1227662"/>
                <a:gd name="connsiteX2" fmla="*/ 4572966 w 4573721"/>
                <a:gd name="connsiteY2" fmla="*/ 1228471 h 1227662"/>
                <a:gd name="connsiteX3" fmla="*/ -756 w 4573721"/>
                <a:gd name="connsiteY3" fmla="*/ 1228471 h 1227662"/>
              </a:gdLst>
              <a:ahLst/>
              <a:cxnLst>
                <a:cxn ang="0">
                  <a:pos x="connsiteX0" y="connsiteY0"/>
                </a:cxn>
                <a:cxn ang="0">
                  <a:pos x="connsiteX1" y="connsiteY1"/>
                </a:cxn>
                <a:cxn ang="0">
                  <a:pos x="connsiteX2" y="connsiteY2"/>
                </a:cxn>
                <a:cxn ang="0">
                  <a:pos x="connsiteX3" y="connsiteY3"/>
                </a:cxn>
              </a:cxnLst>
              <a:rect l="l" t="t" r="r" b="b"/>
              <a:pathLst>
                <a:path w="4573721" h="1227662">
                  <a:moveTo>
                    <a:pt x="-756" y="809"/>
                  </a:moveTo>
                  <a:lnTo>
                    <a:pt x="4572966" y="809"/>
                  </a:lnTo>
                  <a:lnTo>
                    <a:pt x="4572966" y="1228471"/>
                  </a:lnTo>
                  <a:lnTo>
                    <a:pt x="-756" y="1228471"/>
                  </a:lnTo>
                  <a:close/>
                </a:path>
              </a:pathLst>
            </a:custGeom>
          </p:spPr>
        </p:pic>
        <p:sp>
          <p:nvSpPr>
            <p:cNvPr id="7" name="任意多边形: 形状 6"/>
            <p:cNvSpPr/>
            <p:nvPr/>
          </p:nvSpPr>
          <p:spPr>
            <a:xfrm>
              <a:off x="5941377" y="6481493"/>
              <a:ext cx="309244" cy="371717"/>
            </a:xfrm>
            <a:custGeom>
              <a:avLst/>
              <a:gdLst>
                <a:gd name="connsiteX0" fmla="*/ 154622 w 309244"/>
                <a:gd name="connsiteY0" fmla="*/ 0 h 371717"/>
                <a:gd name="connsiteX1" fmla="*/ 309244 w 309244"/>
                <a:gd name="connsiteY1" fmla="*/ 154622 h 371717"/>
                <a:gd name="connsiteX2" fmla="*/ 309244 w 309244"/>
                <a:gd name="connsiteY2" fmla="*/ 371717 h 371717"/>
                <a:gd name="connsiteX3" fmla="*/ 0 w 309244"/>
                <a:gd name="connsiteY3" fmla="*/ 371717 h 371717"/>
                <a:gd name="connsiteX4" fmla="*/ 0 w 309244"/>
                <a:gd name="connsiteY4" fmla="*/ 154622 h 371717"/>
                <a:gd name="connsiteX5" fmla="*/ 154622 w 309244"/>
                <a:gd name="connsiteY5" fmla="*/ 0 h 37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244" h="371717">
                  <a:moveTo>
                    <a:pt x="154622" y="0"/>
                  </a:moveTo>
                  <a:cubicBezTo>
                    <a:pt x="240017" y="0"/>
                    <a:pt x="309244" y="69227"/>
                    <a:pt x="309244" y="154622"/>
                  </a:cubicBezTo>
                  <a:lnTo>
                    <a:pt x="309244" y="371717"/>
                  </a:lnTo>
                  <a:lnTo>
                    <a:pt x="0" y="371717"/>
                  </a:lnTo>
                  <a:lnTo>
                    <a:pt x="0" y="154622"/>
                  </a:lnTo>
                  <a:cubicBezTo>
                    <a:pt x="0" y="69227"/>
                    <a:pt x="69227" y="0"/>
                    <a:pt x="154622"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31" name="组合 30"/>
          <p:cNvGrpSpPr/>
          <p:nvPr/>
        </p:nvGrpSpPr>
        <p:grpSpPr>
          <a:xfrm>
            <a:off x="2165180" y="1162961"/>
            <a:ext cx="7898841" cy="3214362"/>
            <a:chOff x="2165180" y="1143911"/>
            <a:chExt cx="7898841" cy="3214362"/>
          </a:xfrm>
        </p:grpSpPr>
        <p:grpSp>
          <p:nvGrpSpPr>
            <p:cNvPr id="26" name="组合 25"/>
            <p:cNvGrpSpPr/>
            <p:nvPr/>
          </p:nvGrpSpPr>
          <p:grpSpPr>
            <a:xfrm>
              <a:off x="2165180" y="1143911"/>
              <a:ext cx="7898841" cy="2661011"/>
              <a:chOff x="2165180" y="1277261"/>
              <a:chExt cx="7898841" cy="2661011"/>
            </a:xfrm>
          </p:grpSpPr>
          <p:grpSp>
            <p:nvGrpSpPr>
              <p:cNvPr id="22" name="组合 21"/>
              <p:cNvGrpSpPr/>
              <p:nvPr/>
            </p:nvGrpSpPr>
            <p:grpSpPr>
              <a:xfrm>
                <a:off x="2165180" y="1277261"/>
                <a:ext cx="7898841" cy="536119"/>
                <a:chOff x="2162996" y="1820631"/>
                <a:chExt cx="7898841" cy="536119"/>
              </a:xfrm>
            </p:grpSpPr>
            <p:grpSp>
              <p:nvGrpSpPr>
                <p:cNvPr id="5" name="组合 4"/>
                <p:cNvGrpSpPr/>
                <p:nvPr/>
              </p:nvGrpSpPr>
              <p:grpSpPr>
                <a:xfrm>
                  <a:off x="2162996" y="2121801"/>
                  <a:ext cx="7898841" cy="0"/>
                  <a:chOff x="2221990" y="2121801"/>
                  <a:chExt cx="7898841" cy="0"/>
                </a:xfrm>
              </p:grpSpPr>
              <p:cxnSp>
                <p:nvCxnSpPr>
                  <p:cNvPr id="3" name="直接连接符 2"/>
                  <p:cNvCxnSpPr/>
                  <p:nvPr/>
                </p:nvCxnSpPr>
                <p:spPr>
                  <a:xfrm>
                    <a:off x="2221990" y="2121801"/>
                    <a:ext cx="2499298"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622431" y="2121801"/>
                    <a:ext cx="2498400" cy="0"/>
                  </a:xfrm>
                  <a:prstGeom prst="line">
                    <a:avLst/>
                  </a:prstGeom>
                  <a:ln w="19050">
                    <a:solidFill>
                      <a:srgbClr val="840300"/>
                    </a:solidFill>
                  </a:ln>
                </p:spPr>
                <p:style>
                  <a:lnRef idx="1">
                    <a:schemeClr val="accent1"/>
                  </a:lnRef>
                  <a:fillRef idx="0">
                    <a:schemeClr val="accent1"/>
                  </a:fillRef>
                  <a:effectRef idx="0">
                    <a:schemeClr val="accent1"/>
                  </a:effectRef>
                  <a:fontRef idx="minor">
                    <a:schemeClr val="tx1"/>
                  </a:fontRef>
                </p:style>
              </p:cxnSp>
            </p:grpSp>
            <p:sp>
              <p:nvSpPr>
                <p:cNvPr id="6" name="星形: 五角 5"/>
                <p:cNvSpPr/>
                <p:nvPr/>
              </p:nvSpPr>
              <p:spPr>
                <a:xfrm>
                  <a:off x="5834290" y="1820631"/>
                  <a:ext cx="536119" cy="536119"/>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星形: 五角 15"/>
                <p:cNvSpPr/>
                <p:nvPr/>
              </p:nvSpPr>
              <p:spPr>
                <a:xfrm>
                  <a:off x="6440900" y="1908630"/>
                  <a:ext cx="374334" cy="374334"/>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p:cNvSpPr/>
                <p:nvPr/>
              </p:nvSpPr>
              <p:spPr>
                <a:xfrm>
                  <a:off x="6898425" y="1948389"/>
                  <a:ext cx="294816" cy="294816"/>
                </a:xfrm>
                <a:prstGeom prst="star5">
                  <a:avLst>
                    <a:gd name="adj" fmla="val 21610"/>
                    <a:gd name="hf" fmla="val 105146"/>
                    <a:gd name="vf" fmla="val 110557"/>
                  </a:avLst>
                </a:prstGeom>
                <a:solidFill>
                  <a:srgbClr val="840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flipH="1">
                  <a:off x="5013290" y="1905594"/>
                  <a:ext cx="752341" cy="374334"/>
                  <a:chOff x="6593300" y="2061030"/>
                  <a:chExt cx="752341" cy="374334"/>
                </a:xfrm>
                <a:solidFill>
                  <a:srgbClr val="840300"/>
                </a:solidFill>
              </p:grpSpPr>
              <p:sp>
                <p:nvSpPr>
                  <p:cNvPr id="19" name="星形: 五角 18"/>
                  <p:cNvSpPr/>
                  <p:nvPr/>
                </p:nvSpPr>
                <p:spPr>
                  <a:xfrm>
                    <a:off x="6593300" y="2061030"/>
                    <a:ext cx="374334" cy="374334"/>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星形: 五角 19"/>
                  <p:cNvSpPr/>
                  <p:nvPr/>
                </p:nvSpPr>
                <p:spPr>
                  <a:xfrm>
                    <a:off x="7050825" y="2100789"/>
                    <a:ext cx="294816" cy="294816"/>
                  </a:xfrm>
                  <a:prstGeom prst="star5">
                    <a:avLst>
                      <a:gd name="adj" fmla="val 2161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4" name="文本框 23"/>
              <p:cNvSpPr txBox="1"/>
              <p:nvPr/>
            </p:nvSpPr>
            <p:spPr>
              <a:xfrm>
                <a:off x="2165180" y="2127650"/>
                <a:ext cx="7878706" cy="1169551"/>
              </a:xfrm>
              <a:prstGeom prst="rect">
                <a:avLst/>
              </a:prstGeom>
              <a:noFill/>
            </p:spPr>
            <p:txBody>
              <a:bodyPr wrap="square" rtlCol="0">
                <a:spAutoFit/>
              </a:bodyPr>
              <a:lstStyle/>
              <a:p>
                <a:pPr algn="dist"/>
                <a:r>
                  <a:rPr lang="zh-CN" altLang="en-US" sz="7000" b="1" dirty="0">
                    <a:solidFill>
                      <a:srgbClr val="840300"/>
                    </a:solidFill>
                    <a:latin typeface="微软雅黑" panose="020B0503020204020204" pitchFamily="34" charset="-122"/>
                    <a:ea typeface="微软雅黑" panose="020B0503020204020204" pitchFamily="34" charset="-122"/>
                  </a:rPr>
                  <a:t>感谢欣赏  请您指正</a:t>
                </a:r>
                <a:endParaRPr lang="zh-CN" altLang="en-US" sz="7000" b="1" dirty="0">
                  <a:solidFill>
                    <a:srgbClr val="840300"/>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2629637" y="3476607"/>
                <a:ext cx="6949792" cy="461665"/>
              </a:xfrm>
              <a:prstGeom prst="rect">
                <a:avLst/>
              </a:prstGeom>
              <a:noFill/>
            </p:spPr>
            <p:txBody>
              <a:bodyPr wrap="square" rtlCol="0">
                <a:spAutoFit/>
              </a:bodyPr>
              <a:lstStyle/>
              <a:p>
                <a:pPr algn="dist"/>
                <a:r>
                  <a:rPr lang="zh-CN" altLang="en-US" sz="2400" b="1" dirty="0">
                    <a:latin typeface="微软雅黑" panose="020B0503020204020204" pitchFamily="34" charset="-122"/>
                    <a:ea typeface="微软雅黑" panose="020B0503020204020204" pitchFamily="34" charset="-122"/>
                  </a:rPr>
                  <a:t>红色正党风百年中国共产党党史学习教育大会</a:t>
                </a:r>
                <a:endParaRPr lang="zh-CN" altLang="en-US" sz="2400" b="1" dirty="0">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3888983" y="4004330"/>
              <a:ext cx="4766067" cy="353943"/>
              <a:chOff x="3844533" y="4004330"/>
              <a:chExt cx="4766067" cy="353943"/>
            </a:xfrm>
          </p:grpSpPr>
          <p:sp>
            <p:nvSpPr>
              <p:cNvPr id="27" name="文本框 26"/>
              <p:cNvSpPr txBox="1"/>
              <p:nvPr/>
            </p:nvSpPr>
            <p:spPr>
              <a:xfrm>
                <a:off x="3844533" y="4004330"/>
                <a:ext cx="2096843" cy="352425"/>
              </a:xfrm>
              <a:prstGeom prst="rect">
                <a:avLst/>
              </a:prstGeom>
              <a:noFill/>
            </p:spPr>
            <p:txBody>
              <a:bodyPr wrap="square" rtlCol="0">
                <a:spAutoFit/>
              </a:bodyPr>
              <a:lstStyle/>
              <a:p>
                <a:pPr algn="ctr"/>
                <a:r>
                  <a:rPr lang="zh-CN" altLang="en-US" sz="1700" b="1" dirty="0">
                    <a:solidFill>
                      <a:srgbClr val="840300"/>
                    </a:solidFill>
                    <a:latin typeface="微软雅黑" panose="020B0503020204020204" pitchFamily="34" charset="-122"/>
                    <a:ea typeface="微软雅黑" panose="020B0503020204020204" pitchFamily="34" charset="-122"/>
                  </a:rPr>
                  <a:t>汇报人：</a:t>
                </a:r>
                <a:r>
                  <a:rPr lang="en-US" altLang="zh-CN" sz="1700" b="1" dirty="0">
                    <a:solidFill>
                      <a:srgbClr val="840300"/>
                    </a:solidFill>
                    <a:latin typeface="微软雅黑" panose="020B0503020204020204" pitchFamily="34" charset="-122"/>
                    <a:ea typeface="微软雅黑" panose="020B0503020204020204" pitchFamily="34" charset="-122"/>
                  </a:rPr>
                  <a:t>XXXX</a:t>
                </a:r>
                <a:endParaRPr lang="en-US" altLang="zh-CN" sz="1700" b="1" dirty="0">
                  <a:solidFill>
                    <a:srgbClr val="840300"/>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6232893" y="4004330"/>
                <a:ext cx="2377707" cy="353943"/>
              </a:xfrm>
              <a:prstGeom prst="rect">
                <a:avLst/>
              </a:prstGeom>
              <a:noFill/>
            </p:spPr>
            <p:txBody>
              <a:bodyPr wrap="square" rtlCol="0">
                <a:spAutoFit/>
              </a:bodyPr>
              <a:lstStyle/>
              <a:p>
                <a:pPr algn="ctr"/>
                <a:r>
                  <a:rPr lang="zh-CN" altLang="en-US" sz="1700" b="1" dirty="0">
                    <a:solidFill>
                      <a:srgbClr val="840300"/>
                    </a:solidFill>
                    <a:latin typeface="微软雅黑" panose="020B0503020204020204" pitchFamily="34" charset="-122"/>
                    <a:ea typeface="微软雅黑" panose="020B0503020204020204" pitchFamily="34" charset="-122"/>
                  </a:rPr>
                  <a:t>汇报时间：</a:t>
                </a:r>
                <a:r>
                  <a:rPr lang="en-US" altLang="zh-CN" sz="1700" b="1" dirty="0">
                    <a:solidFill>
                      <a:srgbClr val="840300"/>
                    </a:solidFill>
                    <a:latin typeface="微软雅黑" panose="020B0503020204020204" pitchFamily="34" charset="-122"/>
                    <a:ea typeface="微软雅黑" panose="020B0503020204020204" pitchFamily="34" charset="-122"/>
                  </a:rPr>
                  <a:t>20XX.X</a:t>
                </a:r>
                <a:endParaRPr lang="zh-CN" altLang="en-US" sz="1700" b="1" dirty="0">
                  <a:solidFill>
                    <a:srgbClr val="840300"/>
                  </a:solidFill>
                  <a:latin typeface="微软雅黑" panose="020B0503020204020204" pitchFamily="34" charset="-122"/>
                  <a:ea typeface="微软雅黑" panose="020B0503020204020204" pitchFamily="34" charset="-122"/>
                </a:endParaRPr>
              </a:p>
            </p:txBody>
          </p:sp>
        </p:grpSp>
      </p:grpSp>
    </p:spTree>
  </p:cSld>
  <p:clrMapOvr>
    <a:masterClrMapping/>
  </p:clrMapOvr>
  <p:transition>
    <p:push di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5728</Words>
  <Application>WPS 演示</Application>
  <PresentationFormat>宽屏</PresentationFormat>
  <Paragraphs>262</Paragraphs>
  <Slides>23</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23</vt:i4>
      </vt:variant>
    </vt:vector>
  </HeadingPairs>
  <TitlesOfParts>
    <vt:vector size="43" baseType="lpstr">
      <vt:lpstr>Arial</vt:lpstr>
      <vt:lpstr>宋体</vt:lpstr>
      <vt:lpstr>Wingdings</vt:lpstr>
      <vt:lpstr>微软雅黑</vt:lpstr>
      <vt:lpstr>Noto Sans S Chinese Black</vt:lpstr>
      <vt:lpstr>Noto Sans S Chinese Bold</vt:lpstr>
      <vt:lpstr>Noto Sans S Chinese Regular</vt:lpstr>
      <vt:lpstr>Noto Sans S Chinese Medium</vt:lpstr>
      <vt:lpstr>Impact</vt:lpstr>
      <vt:lpstr>汉仪铁线黑-65简</vt:lpstr>
      <vt:lpstr>黑体</vt:lpstr>
      <vt:lpstr>等线</vt:lpstr>
      <vt:lpstr>Arial Unicode MS</vt:lpstr>
      <vt:lpstr>等线 Light</vt:lpstr>
      <vt:lpstr>Calibri</vt:lpstr>
      <vt:lpstr>Calibri</vt:lpstr>
      <vt:lpstr>思源黑体 CN Medium</vt:lpstr>
      <vt:lpstr>胡晓波男神体</vt:lpstr>
      <vt:lpstr>Noto Sans S Chinese DemiLight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089</dc:title>
  <dc:creator/>
  <cp:lastModifiedBy>涵莜儿</cp:lastModifiedBy>
  <cp:revision>56</cp:revision>
  <dcterms:created xsi:type="dcterms:W3CDTF">2021-04-22T02:41:00Z</dcterms:created>
  <dcterms:modified xsi:type="dcterms:W3CDTF">2025-05-11T06:02:56Z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F850CBABFBA6455DB67BDE61FFDB7670</vt:lpwstr>
  </property>
</Properties>
</file>