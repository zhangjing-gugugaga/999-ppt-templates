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B3589"/>
    <a:srgbClr val="337795"/>
    <a:srgbClr val="478897"/>
    <a:srgbClr val="68B1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3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92" y="25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A9DEE-22EB-40E6-AF95-D2D71D55D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512AB-A6C5-4C72-B246-0722775CBD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A512AB-A6C5-4C72-B246-0722775CBD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AE3A8-E035-4841-9105-643F0D854A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B033B-9914-44B6-9CAD-A51519A8BF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4"/>
          <p:cNvPicPr>
            <a:picLocks noChangeAspect="1"/>
          </p:cNvPicPr>
          <p:nvPr/>
        </p:nvPicPr>
        <p:blipFill>
          <a:blip r:embed="rId1">
            <a:alphaModFix amt="77000"/>
          </a:blip>
          <a:stretch>
            <a:fillRect/>
          </a:stretch>
        </p:blipFill>
        <p:spPr>
          <a:xfrm>
            <a:off x="1401847" y="1524000"/>
            <a:ext cx="2448243" cy="34700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占位符 6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976229" y="1524038"/>
            <a:ext cx="2448243" cy="34700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占位符 17"/>
          <p:cNvPicPr>
            <a:picLocks noChangeAspect="1"/>
          </p:cNvPicPr>
          <p:nvPr/>
        </p:nvPicPr>
        <p:blipFill>
          <a:blip r:embed="rId1">
            <a:alphaModFix amt="56000"/>
          </a:blip>
          <a:stretch>
            <a:fillRect/>
          </a:stretch>
        </p:blipFill>
        <p:spPr>
          <a:xfrm>
            <a:off x="5153199" y="1531386"/>
            <a:ext cx="2448243" cy="34700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30"/>
          <p:cNvSpPr>
            <a:spLocks noChangeArrowheads="1"/>
          </p:cNvSpPr>
          <p:nvPr/>
        </p:nvSpPr>
        <p:spPr bwMode="auto">
          <a:xfrm>
            <a:off x="1199213" y="5303861"/>
            <a:ext cx="2511195" cy="370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852" tIns="45926" rIns="91852" bIns="45926">
            <a:spAutoFit/>
          </a:bodyPr>
          <a:lstStyle/>
          <a:p>
            <a:pPr algn="just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45737" y="129340"/>
            <a:ext cx="3055705" cy="1476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charset="0"/>
                <a:ea typeface="inpin heiti" charset="0"/>
                <a:sym typeface="inpin heiti" panose="00000500000000000000" pitchFamily="2" charset="-122"/>
              </a:rPr>
              <a:t>R</a:t>
            </a:r>
            <a:r>
              <a:rPr lang="en-US" altLang="zh-CN" sz="3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charset="0"/>
                <a:ea typeface="inpin heiti" charset="0"/>
                <a:sym typeface="inpin heiti" panose="00000500000000000000" pitchFamily="2" charset="-122"/>
              </a:rPr>
              <a:t>EDUCE SEDENTARY TIME </a:t>
            </a:r>
            <a:endParaRPr lang="zh-CN" altLang="en-US" sz="30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6096000" y="-718492"/>
            <a:ext cx="0" cy="37701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5973380" y="-909000"/>
            <a:ext cx="0" cy="28979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A_库_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31338">
            <a:off x="7489434" y="421567"/>
            <a:ext cx="983614" cy="891911"/>
          </a:xfrm>
          <a:prstGeom prst="rect">
            <a:avLst/>
          </a:prstGeom>
        </p:spPr>
      </p:pic>
      <p:pic>
        <p:nvPicPr>
          <p:cNvPr id="12" name="PA_库_图片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68662" flipH="1">
            <a:off x="3621122" y="421567"/>
            <a:ext cx="983614" cy="89191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244729" y="75363"/>
            <a:ext cx="3055705" cy="5530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3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S</a:t>
            </a:r>
            <a:r>
              <a:rPr lang="en-US" altLang="zh-CN" sz="3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ub</a:t>
            </a:r>
            <a:r>
              <a:rPr lang="zh-CN" altLang="en-US" sz="3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-</a:t>
            </a:r>
            <a:r>
              <a:rPr lang="en-US" altLang="zh-CN" sz="3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topic</a:t>
            </a:r>
            <a:endParaRPr lang="zh-CN" altLang="en-US" sz="30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12843" y="628437"/>
            <a:ext cx="3564408" cy="5873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Model:</a:t>
            </a:r>
            <a:r>
              <a:rPr lang="en-US" altLang="zh-CN" sz="28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M1,M2,M3</a:t>
            </a:r>
            <a:endParaRPr lang="zh-CN" altLang="en-US" sz="28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42588" y="5303892"/>
            <a:ext cx="3055705" cy="8299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Q</a:t>
            </a:r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3</a:t>
            </a:r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: How to change for office workers?</a:t>
            </a:r>
            <a:endParaRPr lang="zh-CN" altLang="en-US" sz="24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74276" y="5212703"/>
            <a:ext cx="3055705" cy="8299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Q2: Why is movement important?</a:t>
            </a:r>
            <a:endParaRPr lang="zh-CN" altLang="en-US" sz="24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6924" y="5212744"/>
            <a:ext cx="3055705" cy="8299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Q</a:t>
            </a:r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cs typeface="Arial" panose="020B0604020202020204" pitchFamily="34" charset="0"/>
                <a:sym typeface="inpin heiti" panose="00000500000000000000" pitchFamily="2" charset="-122"/>
              </a:rPr>
              <a:t>1</a:t>
            </a:r>
            <a:r>
              <a:rPr lang="en-US" altLang="zh-CN" sz="24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: What can extend life?</a:t>
            </a:r>
            <a:endParaRPr lang="zh-CN" altLang="en-US" sz="24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01832" y="2296938"/>
            <a:ext cx="2448242" cy="1924050"/>
          </a:xfrm>
          <a:prstGeom prst="rect">
            <a:avLst/>
          </a:prstGeom>
          <a:noFill/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softEdge rad="0"/>
          </a:effectLst>
        </p:spPr>
        <p:txBody>
          <a:bodyPr vert="horz" wrap="square" rtlCol="0">
            <a:noAutofit/>
          </a:bodyPr>
          <a:p>
            <a:pPr algn="ctr"/>
            <a:r>
              <a:rPr lang="en-US" altLang="zh-CN" sz="2000" b="1" dirty="0">
                <a:solidFill>
                  <a:srgbClr val="A9D18E"/>
                </a:solidFill>
                <a:latin typeface="inpin heiti" charset="0"/>
                <a:ea typeface="inpin heiti" charset="0"/>
                <a:sym typeface="inpin heiti" panose="00000500000000000000" pitchFamily="2" charset="-122"/>
              </a:rPr>
              <a:t>A1: Sitting less than three hours a day might extend life by two years.</a:t>
            </a:r>
            <a:endParaRPr lang="zh-CN" altLang="en-US" sz="2000" b="1">
              <a:solidFill>
                <a:srgbClr val="A9D18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76260" y="2029927"/>
            <a:ext cx="2448182" cy="132207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00B0F0"/>
                </a:solidFill>
                <a:latin typeface="inpin heiti" charset="0"/>
                <a:ea typeface="inpin heiti" charset="0"/>
                <a:sym typeface="inpin heiti" panose="00000500000000000000" pitchFamily="2" charset="-122"/>
              </a:rPr>
              <a:t>A</a:t>
            </a:r>
            <a:r>
              <a:rPr lang="zh-CN" altLang="en-US" sz="2000" b="1" dirty="0">
                <a:solidFill>
                  <a:srgbClr val="00B0F0"/>
                </a:solidFill>
                <a:latin typeface="inpin heiti" charset="0"/>
                <a:ea typeface="inpin heiti" charset="0"/>
                <a:cs typeface="Arial" panose="020B0604020202020204" pitchFamily="34" charset="0"/>
                <a:sym typeface="inpin heiti" panose="00000500000000000000" pitchFamily="2" charset="-122"/>
              </a:rPr>
              <a:t>3</a:t>
            </a:r>
            <a:r>
              <a:rPr lang="zh-CN" altLang="en-US" sz="2000" b="1" dirty="0">
                <a:solidFill>
                  <a:srgbClr val="00B0F0"/>
                </a:solidFill>
                <a:latin typeface="inpin heiti" charset="0"/>
                <a:ea typeface="inpin heiti" charset="0"/>
                <a:sym typeface="inpin heiti" panose="00000500000000000000" pitchFamily="2" charset="-122"/>
              </a:rPr>
              <a:t>: Get up often, walk at lunch, and visit colleagues in person instead of emailing.</a:t>
            </a:r>
            <a:endParaRPr lang="zh-CN" altLang="en-US" sz="2000" b="1">
              <a:solidFill>
                <a:srgbClr val="00B0F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30792" y="1797749"/>
            <a:ext cx="2470649" cy="55308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algn="ctr"/>
            <a:r>
              <a:rPr lang="en-US" altLang="zh-CN" sz="2000" b="1" dirty="0">
                <a:solidFill>
                  <a:srgbClr val="A9D18E"/>
                </a:solidFill>
                <a:latin typeface="Cooper Black" panose="0208090404030B020404" charset="0"/>
                <a:ea typeface="Cooper Black" panose="0208090404030B020404" charset="0"/>
                <a:cs typeface="Cooper Black" panose="0208090404030B020404" charset="0"/>
                <a:sym typeface="inpin heiti" panose="00000500000000000000" pitchFamily="2" charset="-122"/>
              </a:rPr>
              <a:t>A2: The human body is designed to move, and sedentary behavior matters even with daily exercise; 23.5 </a:t>
            </a:r>
            <a:r>
              <a:rPr lang="zh-CN" altLang="en-US" sz="2000" b="1" dirty="0">
                <a:solidFill>
                  <a:srgbClr val="A9D18E"/>
                </a:solidFill>
                <a:latin typeface="Cooper Black" panose="0208090404030B020404" charset="0"/>
                <a:ea typeface="Cooper Black" panose="0208090404030B020404" charset="0"/>
                <a:cs typeface="Cooper Black" panose="0208090404030B020404" charset="0"/>
                <a:sym typeface="inpin heiti" panose="00000500000000000000" pitchFamily="2" charset="-122"/>
              </a:rPr>
              <a:t>- </a:t>
            </a:r>
            <a:r>
              <a:rPr lang="en-US" altLang="zh-CN" sz="2000" b="1" dirty="0">
                <a:solidFill>
                  <a:srgbClr val="A9D18E"/>
                </a:solidFill>
                <a:latin typeface="Cooper Black" panose="0208090404030B020404" charset="0"/>
                <a:ea typeface="Cooper Black" panose="0208090404030B020404" charset="0"/>
                <a:cs typeface="Cooper Black" panose="0208090404030B020404" charset="0"/>
                <a:sym typeface="inpin heiti" panose="00000500000000000000" pitchFamily="2" charset="-122"/>
              </a:rPr>
              <a:t>hour activities affect health too.</a:t>
            </a:r>
            <a:endParaRPr lang="zh-CN" altLang="en-US" sz="2000" b="1">
              <a:solidFill>
                <a:srgbClr val="A9D18E"/>
              </a:solidFill>
              <a:latin typeface="Cooper Black" panose="0208090404030B020404" charset="0"/>
              <a:ea typeface="Cooper Black" panose="0208090404030B020404" charset="0"/>
              <a:cs typeface="Cooper Black" panose="0208090404030B020404" charset="0"/>
              <a:sym typeface="inpin heiti" panose="000005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642628" y="429935"/>
            <a:ext cx="305570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sz="2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charset="0"/>
                <a:ea typeface="inpin heiti" charset="0"/>
                <a:sym typeface="inpin heiti" panose="00000500000000000000" pitchFamily="2" charset="-122"/>
              </a:rPr>
              <a:t>w</a:t>
            </a:r>
            <a:r>
              <a:rPr lang="en-US" altLang="zh-CN" sz="2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charset="0"/>
                <a:ea typeface="inpin heiti" charset="0"/>
                <a:sym typeface="inpin heiti" panose="00000500000000000000" pitchFamily="2" charset="-122"/>
              </a:rPr>
              <a:t>ww.</a:t>
            </a:r>
            <a:r>
              <a:rPr lang="en-US" altLang="zh-CN" sz="2000" dirty="0">
                <a:gradFill>
                  <a:gsLst>
                    <a:gs pos="0">
                      <a:srgbClr val="0B3589"/>
                    </a:gs>
                    <a:gs pos="29000">
                      <a:srgbClr val="337795"/>
                    </a:gs>
                    <a:gs pos="100000">
                      <a:srgbClr val="68B198"/>
                    </a:gs>
                    <a:gs pos="59000">
                      <a:srgbClr val="478897"/>
                    </a:gs>
                  </a:gsLst>
                  <a:lin ang="5400000" scaled="1"/>
                </a:gradFill>
                <a:latin typeface="inpin heiti" charset="0"/>
                <a:ea typeface="inpin heiti" charset="0"/>
                <a:cs typeface="Arial" panose="020B0604020202020204" pitchFamily="34" charset="0"/>
                <a:sym typeface="inpin heiti" panose="00000500000000000000" pitchFamily="2" charset="-122"/>
              </a:rPr>
              <a:t>deepseek.com</a:t>
            </a:r>
            <a:endParaRPr lang="zh-CN" altLang="en-US" sz="20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75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7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7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7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7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6" grpId="0"/>
      <p:bldP spid="17" grpId="0"/>
      <p:bldP spid="19" grpId="0"/>
      <p:bldP spid="20" grpId="0"/>
      <p:bldP spid="21" grpId="0"/>
      <p:bldP spid="22" grpId="0"/>
      <p:bldP spid="25" grpId="0"/>
      <p:bldP spid="26" grpId="0"/>
      <p:bldP spid="27" grpId="0"/>
    </p:bldLst>
  </p:timing>
</p:sld>
</file>

<file path=ppt/tags/tag1.xml><?xml version="1.0" encoding="utf-8"?>
<p:tagLst xmlns:p="http://schemas.openxmlformats.org/presentationml/2006/main">
  <p:tag name="PA" val="v4.0.0"/>
</p:tagLst>
</file>

<file path=ppt/tags/tag2.xml><?xml version="1.0" encoding="utf-8"?>
<p:tagLst xmlns:p="http://schemas.openxmlformats.org/presentationml/2006/main">
  <p:tag name="PA" val="v4.0.0"/>
</p:tagLst>
</file>

<file path=ppt/tags/tag3.xml><?xml version="1.0" encoding="utf-8"?>
<p:tagLst xmlns:p="http://schemas.openxmlformats.org/presentationml/2006/main">
  <p:tag name="ISPRING_ULTRA_SCORM_COURSE_ID" val="0944141F-A3E2-4AF2-94CA-1F32412020D7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时尚创意1"/>
  <p:tag name="ISPRING_SCORM_PASSING_SCORE" val="100.000000"/>
  <p:tag name="ISPRING_OUTPUT_FOLDER" val="G:\第十三批\541103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WPS Office WWO_wpscloud_20250326182431-11448cd808</Application>
  <PresentationFormat>宽屏</PresentationFormat>
  <Paragraphs>20</Paragraphs>
  <Slides>1</Slides>
  <Notes>24</Notes>
  <HiddenSlides>0</HiddenSlides>
  <MMClips>1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inpin heiti</vt:lpstr>
      <vt:lpstr>汉仪书宋二KW</vt:lpstr>
      <vt:lpstr>Calibri</vt:lpstr>
      <vt:lpstr>Nexa Bold</vt:lpstr>
      <vt:lpstr>Hiragino Sans GB W3</vt:lpstr>
      <vt:lpstr>Roboto Thin</vt:lpstr>
      <vt:lpstr>Roboto</vt:lpstr>
      <vt:lpstr>微软雅黑</vt:lpstr>
      <vt:lpstr>Segoe UI</vt:lpstr>
      <vt:lpstr>Roboto Condensed Light</vt:lpstr>
      <vt:lpstr>書體坊多寶塔顏體 繁U</vt:lpstr>
      <vt:lpstr>等线</vt:lpstr>
      <vt:lpstr>inpin heiti</vt:lpstr>
      <vt:lpstr>Broadway</vt:lpstr>
      <vt:lpstr>Freestyle Script</vt:lpstr>
      <vt:lpstr>方正行楷简体</vt:lpstr>
      <vt:lpstr>Cooper Black</vt:lpstr>
      <vt:lpstr>Office 主题​​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时尚创意1</dc:title>
  <dc:creator>Administrator</dc:creator>
  <cp:lastModifiedBy>贾 杨</cp:lastModifiedBy>
  <dcterms:created xsi:type="dcterms:W3CDTF">2025-06-06T15:07:02Z</dcterms:created>
  <dcterms:modified xsi:type="dcterms:W3CDTF">2025-06-06T15:07:02Z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1450B3F306E20362CBEF4268AF0275B4_42</vt:lpwstr>
  </property>
  <property fmtid="{D5CDD505-2E9C-101B-9397-08002B2CF9AE}" pid="3" name="KSOProductBuildVer">
    <vt:lpwstr>2052-0.0.0.0</vt:lpwstr>
  </property>
</Properties>
</file>